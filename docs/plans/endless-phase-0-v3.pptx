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8" r:id="rId39"/>
    <p:sldId id="284" r:id="rId35"/>
    <p:sldId id="289" r:id="rId40"/>
    <p:sldId id="290" r:id="rId41"/>
    <p:sldId id="285" r:id="rId36"/>
    <p:sldId id="291" r:id="rId42"/>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874519"/>
            <a:ext cx="10058400" cy="365760"/>
          </a:xfrm>
          <a:prstGeom prst="rect">
            <a:avLst/>
          </a:prstGeom>
          <a:noFill/>
        </p:spPr>
        <p:txBody>
          <a:bodyPr wrap="square" lIns="0" rIns="0" tIns="0" bIns="0">
            <a:spAutoFit/>
          </a:bodyPr>
          <a:lstStyle/>
          <a:p>
            <a:pPr algn="l">
              <a:lnSpc>
                <a:spcPct val="100000"/>
              </a:lnSpc>
            </a:pPr>
            <a:r>
              <a:rPr sz="1300" b="1">
                <a:solidFill>
                  <a:srgbClr val="ED7100"/>
                </a:solidFill>
                <a:latin typeface="Segoe UI"/>
              </a:rPr>
              <a:t>ENDLESS</a:t>
            </a:r>
          </a:p>
        </p:txBody>
      </p:sp>
      <p:sp>
        <p:nvSpPr>
          <p:cNvPr id="4" name="TextBox 3"/>
          <p:cNvSpPr txBox="1"/>
          <p:nvPr/>
        </p:nvSpPr>
        <p:spPr>
          <a:xfrm>
            <a:off x="1005840" y="2286000"/>
            <a:ext cx="10241280" cy="1097280"/>
          </a:xfrm>
          <a:prstGeom prst="rect">
            <a:avLst/>
          </a:prstGeom>
          <a:noFill/>
        </p:spPr>
        <p:txBody>
          <a:bodyPr wrap="square" lIns="0" rIns="0" tIns="0" bIns="0">
            <a:spAutoFit/>
          </a:bodyPr>
          <a:lstStyle/>
          <a:p>
            <a:pPr algn="l">
              <a:lnSpc>
                <a:spcPct val="100000"/>
              </a:lnSpc>
            </a:pPr>
            <a:r>
              <a:rPr sz="4600" b="1">
                <a:solidFill>
                  <a:srgbClr val="FFFFFF"/>
                </a:solidFill>
                <a:latin typeface="Segoe UI"/>
              </a:rPr>
              <a:t>Phase 0 — Validate the Loop</a:t>
            </a:r>
          </a:p>
        </p:txBody>
      </p:sp>
      <p:sp>
        <p:nvSpPr>
          <p:cNvPr id="5" name="TextBox 4"/>
          <p:cNvSpPr txBox="1"/>
          <p:nvPr/>
        </p:nvSpPr>
        <p:spPr>
          <a:xfrm>
            <a:off x="1005840" y="3474720"/>
            <a:ext cx="9326880" cy="822960"/>
          </a:xfrm>
          <a:prstGeom prst="rect">
            <a:avLst/>
          </a:prstGeom>
          <a:noFill/>
        </p:spPr>
        <p:txBody>
          <a:bodyPr wrap="square" lIns="0" rIns="0" tIns="0" bIns="0">
            <a:spAutoFit/>
          </a:bodyPr>
          <a:lstStyle/>
          <a:p>
            <a:pPr algn="l">
              <a:lnSpc>
                <a:spcPct val="120000"/>
              </a:lnSpc>
            </a:pPr>
            <a:r>
              <a:rPr sz="1700" b="0">
                <a:solidFill>
                  <a:srgbClr val="94A3B8"/>
                </a:solidFill>
                <a:latin typeface="Segoe UI"/>
              </a:rPr>
              <a:t>The smallest system that can tell a real unsolved need from a search failure — how the plan works, how the board works, and how it gets built on AWS.</a:t>
            </a:r>
          </a:p>
        </p:txBody>
      </p:sp>
      <p:pic>
        <p:nvPicPr>
          <p:cNvPr id="6" name="Picture 5" descr="lambda.png"/>
          <p:cNvPicPr>
            <a:picLocks noChangeAspect="1"/>
          </p:cNvPicPr>
          <p:nvPr/>
        </p:nvPicPr>
        <p:blipFill>
          <a:blip r:embed="rId2"/>
          <a:stretch>
            <a:fillRect/>
          </a:stretch>
        </p:blipFill>
        <p:spPr>
          <a:xfrm>
            <a:off x="1005840" y="4663440"/>
            <a:ext cx="502920" cy="502920"/>
          </a:xfrm>
          <a:prstGeom prst="rect">
            <a:avLst/>
          </a:prstGeom>
        </p:spPr>
      </p:pic>
      <p:pic>
        <p:nvPicPr>
          <p:cNvPr id="7" name="Picture 6" descr="dynamodb.png"/>
          <p:cNvPicPr>
            <a:picLocks noChangeAspect="1"/>
          </p:cNvPicPr>
          <p:nvPr/>
        </p:nvPicPr>
        <p:blipFill>
          <a:blip r:embed="rId3"/>
          <a:stretch>
            <a:fillRect/>
          </a:stretch>
        </p:blipFill>
        <p:spPr>
          <a:xfrm>
            <a:off x="1664208" y="4663440"/>
            <a:ext cx="502920" cy="502920"/>
          </a:xfrm>
          <a:prstGeom prst="rect">
            <a:avLst/>
          </a:prstGeom>
        </p:spPr>
      </p:pic>
      <p:pic>
        <p:nvPicPr>
          <p:cNvPr id="8" name="Picture 7" descr="bedrock.png"/>
          <p:cNvPicPr>
            <a:picLocks noChangeAspect="1"/>
          </p:cNvPicPr>
          <p:nvPr/>
        </p:nvPicPr>
        <p:blipFill>
          <a:blip r:embed="rId4"/>
          <a:stretch>
            <a:fillRect/>
          </a:stretch>
        </p:blipFill>
        <p:spPr>
          <a:xfrm>
            <a:off x="2322576" y="4663440"/>
            <a:ext cx="502920" cy="502920"/>
          </a:xfrm>
          <a:prstGeom prst="rect">
            <a:avLst/>
          </a:prstGeom>
        </p:spPr>
      </p:pic>
      <p:pic>
        <p:nvPicPr>
          <p:cNvPr id="9" name="Picture 8" descr="s3.png"/>
          <p:cNvPicPr>
            <a:picLocks noChangeAspect="1"/>
          </p:cNvPicPr>
          <p:nvPr/>
        </p:nvPicPr>
        <p:blipFill>
          <a:blip r:embed="rId5"/>
          <a:stretch>
            <a:fillRect/>
          </a:stretch>
        </p:blipFill>
        <p:spPr>
          <a:xfrm>
            <a:off x="2980944" y="4663440"/>
            <a:ext cx="502920" cy="502920"/>
          </a:xfrm>
          <a:prstGeom prst="rect">
            <a:avLst/>
          </a:prstGeom>
        </p:spPr>
      </p:pic>
      <p:pic>
        <p:nvPicPr>
          <p:cNvPr id="10" name="Picture 9" descr="cloudwatch.png"/>
          <p:cNvPicPr>
            <a:picLocks noChangeAspect="1"/>
          </p:cNvPicPr>
          <p:nvPr/>
        </p:nvPicPr>
        <p:blipFill>
          <a:blip r:embed="rId6"/>
          <a:stretch>
            <a:fillRect/>
          </a:stretch>
        </p:blipFill>
        <p:spPr>
          <a:xfrm>
            <a:off x="3639312" y="4663440"/>
            <a:ext cx="502920" cy="502920"/>
          </a:xfrm>
          <a:prstGeom prst="rect">
            <a:avLst/>
          </a:prstGeom>
        </p:spPr>
      </p:pic>
      <p:sp>
        <p:nvSpPr>
          <p:cNvPr id="11" name="TextBox 10"/>
          <p:cNvSpPr txBox="1"/>
          <p:nvPr/>
        </p:nvSpPr>
        <p:spPr>
          <a:xfrm>
            <a:off x="1005840" y="5852160"/>
            <a:ext cx="10058400" cy="274320"/>
          </a:xfrm>
          <a:prstGeom prst="rect">
            <a:avLst/>
          </a:prstGeom>
          <a:noFill/>
        </p:spPr>
        <p:txBody>
          <a:bodyPr wrap="square" lIns="0" rIns="0" tIns="0" bIns="0">
            <a:spAutoFit/>
          </a:bodyPr>
          <a:lstStyle/>
          <a:p>
            <a:pPr algn="l">
              <a:lnSpc>
                <a:spcPct val="100000"/>
              </a:lnSpc>
            </a:pPr>
            <a:r>
              <a:rPr sz="1150" b="0">
                <a:solidFill>
                  <a:srgbClr val="64748B"/>
                </a:solidFill>
                <a:latin typeface="Segoe UI"/>
              </a:rPr>
              <a:t>Endlessandothers/Endlessproject   ·   8 September 2026   ·   14 issues   ·   about 7 weeks   ·   under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CONTEXT</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Endless is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A shared universe of small tools that AI agents discover and call.</a:t>
            </a:r>
          </a:p>
        </p:txBody>
      </p:sp>
      <p:sp>
        <p:nvSpPr>
          <p:cNvPr id="6" name="TextBox 5"/>
          <p:cNvSpPr txBox="1"/>
          <p:nvPr/>
        </p:nvSpPr>
        <p:spPr>
          <a:xfrm>
            <a:off x="777240" y="2350008"/>
            <a:ext cx="10515600" cy="3108960"/>
          </a:xfrm>
          <a:prstGeom prst="rect">
            <a:avLst/>
          </a:prstGeom>
          <a:noFill/>
        </p:spPr>
        <p:txBody>
          <a:bodyPr wrap="square" lIns="0" rIns="0" tIns="0" bIns="0">
            <a:spAutoFit/>
          </a:bodyPr>
          <a:lstStyle/>
          <a:p>
            <a:pPr>
              <a:lnSpc>
                <a:spcPct val="115000"/>
              </a:lnSpc>
              <a:spcAft>
                <a:spcPts val="1000"/>
              </a:spcAft>
            </a:pPr>
            <a:r>
              <a:rPr sz="1500" b="1">
                <a:solidFill>
                  <a:srgbClr val="0F172A"/>
                </a:solidFill>
                <a:latin typeface="Segoe UI"/>
              </a:rPr>
              <a:t>The inversion.</a:t>
            </a:r>
            <a:r>
              <a:rPr sz="1500">
                <a:solidFill>
                  <a:srgbClr val="475569"/>
                </a:solidFill>
                <a:latin typeface="Segoe UI"/>
              </a:rPr>
              <a:t>  Most tool marketplaces are static directories: you publish and hope. Endless logs every agent search that finds nothing, so normal usage generates demand signal for free. Creators stop guessing what to build and read what agents repeatedly failed to find.</a:t>
            </a:r>
          </a:p>
          <a:p>
            <a:pPr>
              <a:lnSpc>
                <a:spcPct val="115000"/>
              </a:lnSpc>
              <a:spcAft>
                <a:spcPts val="1000"/>
              </a:spcAft>
            </a:pPr>
            <a:r>
              <a:rPr sz="1500" b="1">
                <a:solidFill>
                  <a:srgbClr val="0F172A"/>
                </a:solidFill>
                <a:latin typeface="Segoe UI"/>
              </a:rPr>
              <a:t>Phantom layer.</a:t>
            </a:r>
            <a:r>
              <a:rPr sz="1500">
                <a:solidFill>
                  <a:srgbClr val="475569"/>
                </a:solidFill>
                <a:latin typeface="Segoe UI"/>
              </a:rPr>
              <a:t>  The machine substrate — registry, semantic search, gap logging, gravity scoring, routing, sandboxed execution. Ranking here is earned through usage and cannot be purchased.</a:t>
            </a:r>
          </a:p>
          <a:p>
            <a:pPr>
              <a:lnSpc>
                <a:spcPct val="115000"/>
              </a:lnSpc>
              <a:spcAft>
                <a:spcPts val="1000"/>
              </a:spcAft>
            </a:pPr>
            <a:r>
              <a:rPr sz="1500" b="1">
                <a:solidFill>
                  <a:srgbClr val="0F172A"/>
                </a:solidFill>
                <a:latin typeface="Segoe UI"/>
              </a:rPr>
              <a:t>Visual layer.</a:t>
            </a:r>
            <a:r>
              <a:rPr sz="1500">
                <a:solidFill>
                  <a:srgbClr val="475569"/>
                </a:solidFill>
                <a:latin typeface="Segoe UI"/>
              </a:rPr>
              <a:t>  A navigable 3D world where tools render as celestial bodies sized by their real standing. Sponsorship and paid placement live here only, and it never writes ranking back.</a:t>
            </a:r>
          </a:p>
        </p:txBody>
      </p:sp>
      <p:sp>
        <p:nvSpPr>
          <p:cNvPr id="7" name="Rounded Rectangle 6"/>
          <p:cNvSpPr/>
          <p:nvPr/>
        </p:nvSpPr>
        <p:spPr>
          <a:xfrm>
            <a:off x="777240" y="5257800"/>
            <a:ext cx="10515600" cy="868680"/>
          </a:xfrm>
          <a:prstGeom prst="roundRect">
            <a:avLst/>
          </a:prstGeom>
          <a:solidFill>
            <a:srgbClr val="FFF7ED"/>
          </a:solidFill>
          <a:ln w="15875">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5440680"/>
            <a:ext cx="9966960" cy="594359"/>
          </a:xfrm>
          <a:prstGeom prst="rect">
            <a:avLst/>
          </a:prstGeom>
          <a:noFill/>
        </p:spPr>
        <p:txBody>
          <a:bodyPr wrap="square" lIns="0" rIns="0" tIns="0" bIns="0">
            <a:spAutoFit/>
          </a:bodyPr>
          <a:lstStyle/>
          <a:p>
            <a:pPr algn="l">
              <a:lnSpc>
                <a:spcPct val="115000"/>
              </a:lnSpc>
            </a:pPr>
            <a:r>
              <a:rPr sz="1400" b="1">
                <a:solidFill>
                  <a:srgbClr val="7C2D12"/>
                </a:solidFill>
                <a:latin typeface="Segoe UI"/>
              </a:rPr>
              <a:t>Money buys what humans see. Merit decides what agents use. Collapsing the two would destroy the reason an agent can be trusted to pick well.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PURPOSE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Phase 0 exists to answer one question</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783080"/>
            <a:ext cx="10515600" cy="11887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2075688"/>
            <a:ext cx="9875520" cy="731520"/>
          </a:xfrm>
          <a:prstGeom prst="rect">
            <a:avLst/>
          </a:prstGeom>
          <a:noFill/>
        </p:spPr>
        <p:txBody>
          <a:bodyPr wrap="square" lIns="0" rIns="0" tIns="0" bIns="0">
            <a:spAutoFit/>
          </a:bodyPr>
          <a:lstStyle/>
          <a:p>
            <a:pPr algn="l">
              <a:lnSpc>
                <a:spcPct val="110000"/>
              </a:lnSpc>
            </a:pPr>
            <a:r>
              <a:rPr sz="2400" b="1">
                <a:solidFill>
                  <a:srgbClr val="FFFFFF"/>
                </a:solidFill>
                <a:latin typeface="Segoe UI"/>
              </a:rPr>
              <a:t>Is a logged gap real evidence of an unsolved need, or just a search failure?</a:t>
            </a:r>
          </a:p>
        </p:txBody>
      </p:sp>
      <p:sp>
        <p:nvSpPr>
          <p:cNvPr id="7" name="TextBox 6"/>
          <p:cNvSpPr txBox="1"/>
          <p:nvPr/>
        </p:nvSpPr>
        <p:spPr>
          <a:xfrm>
            <a:off x="777240" y="3246120"/>
            <a:ext cx="10515600" cy="2743200"/>
          </a:xfrm>
          <a:prstGeom prst="rect">
            <a:avLst/>
          </a:prstGeom>
          <a:noFill/>
        </p:spPr>
        <p:txBody>
          <a:bodyPr wrap="square" lIns="0" rIns="0" tIns="0" bIns="0">
            <a:spAutoFit/>
          </a:bodyPr>
          <a:lstStyle/>
          <a:p>
            <a:pPr>
              <a:lnSpc>
                <a:spcPct val="115000"/>
              </a:lnSpc>
              <a:spcAft>
                <a:spcPts val="1000"/>
              </a:spcAft>
            </a:pPr>
            <a:r>
              <a:rPr sz="1500" b="1">
                <a:solidFill>
                  <a:srgbClr val="0F172A"/>
                </a:solidFill>
                <a:latin typeface="Segoe UI"/>
              </a:rPr>
              <a:t>Why it decides everything.</a:t>
            </a:r>
            <a:r>
              <a:rPr sz="1500">
                <a:solidFill>
                  <a:srgbClr val="475569"/>
                </a:solidFill>
                <a:latin typeface="Segoe UI"/>
              </a:rPr>
              <a:t>  The whole pitch is that gap logs are a usage-verified map of real unsolved problems. If the signal is noisy, creators get a roadmap of nothing and the value proposition collapses.</a:t>
            </a:r>
          </a:p>
          <a:p>
            <a:pPr>
              <a:lnSpc>
                <a:spcPct val="115000"/>
              </a:lnSpc>
              <a:spcAft>
                <a:spcPts val="1000"/>
              </a:spcAft>
            </a:pPr>
            <a:r>
              <a:rPr sz="1500" b="1">
                <a:solidFill>
                  <a:srgbClr val="0F172A"/>
                </a:solidFill>
                <a:latin typeface="Segoe UI"/>
              </a:rPr>
              <a:t>PROJECT.md already flags it.</a:t>
            </a:r>
            <a:r>
              <a:rPr sz="1500">
                <a:solidFill>
                  <a:srgbClr val="475569"/>
                </a:solidFill>
                <a:latin typeface="Segoe UI"/>
              </a:rPr>
              <a:t>  Telling 'no tool exists' from 'the agent searched badly' is named as genuinely unsolved. Search quality must be strong before gap logging means anything.</a:t>
            </a:r>
          </a:p>
          <a:p>
            <a:pPr>
              <a:lnSpc>
                <a:spcPct val="115000"/>
              </a:lnSpc>
              <a:spcAft>
                <a:spcPts val="1000"/>
              </a:spcAft>
            </a:pPr>
            <a:r>
              <a:rPr sz="1500" b="1">
                <a:solidFill>
                  <a:srgbClr val="0F172A"/>
                </a:solidFill>
                <a:latin typeface="Segoe UI"/>
              </a:rPr>
              <a:t>So the gate is measured, not asserted.</a:t>
            </a:r>
            <a:r>
              <a:rPr sz="1500">
                <a:solidFill>
                  <a:srgbClr val="475569"/>
                </a:solidFill>
                <a:latin typeface="Segoe UI"/>
              </a:rPr>
              <a:t>  No gap counts as evidence until a blind-written eval set clears both a recall floor and a gap-detection floor.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SCOPE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is in Phase 0, and what is deliberately not</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783080"/>
          <a:ext cx="10515600" cy="2066543"/>
        </p:xfrm>
        <a:graphic>
          <a:graphicData uri="http://schemas.openxmlformats.org/drawingml/2006/table">
            <a:tbl>
              <a:tblPr firstRow="1" bandRow="1">
                <a:tableStyleId>{5C22544A-7EE6-4342-B048-85BDC9FD1C3A}</a:tableStyleId>
              </a:tblPr>
              <a:tblGrid>
                <a:gridCol w="4937760"/>
                <a:gridCol w="5577840"/>
              </a:tblGrid>
              <a:tr h="295220">
                <a:tc>
                  <a:txBody>
                    <a:bodyPr/>
                    <a:lstStyle/>
                    <a:p>
                      <a:r>
                        <a:rPr sz="1200" b="1">
                          <a:solidFill>
                            <a:srgbClr val="FFFFFF"/>
                          </a:solidFill>
                          <a:latin typeface="Segoe UI"/>
                        </a:rPr>
                        <a:t>In scope</a:t>
                      </a:r>
                    </a:p>
                  </a:txBody>
                  <a:tcPr>
                    <a:solidFill>
                      <a:srgbClr val="0F172A"/>
                    </a:solidFill>
                  </a:tcPr>
                </a:tc>
                <a:tc>
                  <a:txBody>
                    <a:bodyPr/>
                    <a:lstStyle/>
                    <a:p>
                      <a:r>
                        <a:rPr sz="1200" b="1">
                          <a:solidFill>
                            <a:srgbClr val="FFFFFF"/>
                          </a:solidFill>
                          <a:latin typeface="Segoe UI"/>
                        </a:rPr>
                        <a:t>Out of scope — and why</a:t>
                      </a:r>
                    </a:p>
                  </a:txBody>
                  <a:tcPr>
                    <a:solidFill>
                      <a:srgbClr val="0F172A"/>
                    </a:solidFill>
                  </a:tcPr>
                </a:tc>
              </a:tr>
              <a:tr h="295220">
                <a:tc>
                  <a:txBody>
                    <a:bodyPr/>
                    <a:lstStyle/>
                    <a:p>
                      <a:r>
                        <a:rPr sz="1200">
                          <a:solidFill>
                            <a:srgbClr val="475569"/>
                          </a:solidFill>
                          <a:latin typeface="Segoe UI"/>
                        </a:rPr>
                        <a:t>Tool registry with immutable versions</a:t>
                      </a:r>
                    </a:p>
                  </a:txBody>
                  <a:tcPr>
                    <a:solidFill>
                      <a:srgbClr val="FFFFFF"/>
                    </a:solidFill>
                  </a:tcPr>
                </a:tc>
                <a:tc>
                  <a:txBody>
                    <a:bodyPr/>
                    <a:lstStyle/>
                    <a:p>
                      <a:r>
                        <a:rPr sz="1200">
                          <a:solidFill>
                            <a:srgbClr val="475569"/>
                          </a:solidFill>
                          <a:latin typeface="Segoe UI"/>
                        </a:rPr>
                        <a:t>Sandboxed execution — Phase 0 never runs a tool</a:t>
                      </a:r>
                    </a:p>
                  </a:txBody>
                  <a:tcPr>
                    <a:solidFill>
                      <a:srgbClr val="FFFFFF"/>
                    </a:solidFill>
                  </a:tcPr>
                </a:tc>
              </a:tr>
              <a:tr h="295220">
                <a:tc>
                  <a:txBody>
                    <a:bodyPr/>
                    <a:lstStyle/>
                    <a:p>
                      <a:r>
                        <a:rPr sz="1200">
                          <a:solidFill>
                            <a:srgbClr val="475569"/>
                          </a:solidFill>
                          <a:latin typeface="Segoe UI"/>
                        </a:rPr>
                        <a:t>Semantic search over registered tools</a:t>
                      </a:r>
                    </a:p>
                  </a:txBody>
                  <a:tcPr>
                    <a:solidFill>
                      <a:srgbClr val="F8FAFC"/>
                    </a:solidFill>
                  </a:tcPr>
                </a:tc>
                <a:tc>
                  <a:txBody>
                    <a:bodyPr/>
                    <a:lstStyle/>
                    <a:p>
                      <a:r>
                        <a:rPr sz="1200">
                          <a:solidFill>
                            <a:srgbClr val="475569"/>
                          </a:solidFill>
                          <a:latin typeface="Segoe UI"/>
                        </a:rPr>
                        <a:t>Gravity scoring, mass and brightness — Phase 2</a:t>
                      </a:r>
                    </a:p>
                  </a:txBody>
                  <a:tcPr>
                    <a:solidFill>
                      <a:srgbClr val="F8FAFC"/>
                    </a:solidFill>
                  </a:tcPr>
                </a:tc>
              </a:tr>
              <a:tr h="295220">
                <a:tc>
                  <a:txBody>
                    <a:bodyPr/>
                    <a:lstStyle/>
                    <a:p>
                      <a:r>
                        <a:rPr sz="1200">
                          <a:solidFill>
                            <a:srgbClr val="475569"/>
                          </a:solidFill>
                          <a:latin typeface="Segoe UI"/>
                        </a:rPr>
                        <a:t>Append-only, provenance-tagged event log</a:t>
                      </a:r>
                    </a:p>
                  </a:txBody>
                  <a:tcPr>
                    <a:solidFill>
                      <a:srgbClr val="FFFFFF"/>
                    </a:solidFill>
                  </a:tcPr>
                </a:tc>
                <a:tc>
                  <a:txBody>
                    <a:bodyPr/>
                    <a:lstStyle/>
                    <a:p>
                      <a:r>
                        <a:rPr sz="1200">
                          <a:solidFill>
                            <a:srgbClr val="475569"/>
                          </a:solidFill>
                          <a:latin typeface="Segoe UI"/>
                        </a:rPr>
                        <a:t>Mini LLMs, heartbeats, routing — Phase 3</a:t>
                      </a:r>
                    </a:p>
                  </a:txBody>
                  <a:tcPr>
                    <a:solidFill>
                      <a:srgbClr val="FFFFFF"/>
                    </a:solidFill>
                  </a:tcPr>
                </a:tc>
              </a:tr>
              <a:tr h="295220">
                <a:tc>
                  <a:txBody>
                    <a:bodyPr/>
                    <a:lstStyle/>
                    <a:p>
                      <a:r>
                        <a:rPr sz="1200">
                          <a:solidFill>
                            <a:srgbClr val="475569"/>
                          </a:solidFill>
                          <a:latin typeface="Segoe UI"/>
                        </a:rPr>
                        <a:t>Gap detection and gap log</a:t>
                      </a:r>
                    </a:p>
                  </a:txBody>
                  <a:tcPr>
                    <a:solidFill>
                      <a:srgbClr val="F8FAFC"/>
                    </a:solidFill>
                  </a:tcPr>
                </a:tc>
                <a:tc>
                  <a:txBody>
                    <a:bodyPr/>
                    <a:lstStyle/>
                    <a:p>
                      <a:r>
                        <a:rPr sz="1200">
                          <a:solidFill>
                            <a:srgbClr val="475569"/>
                          </a:solidFill>
                          <a:latin typeface="Segoe UI"/>
                        </a:rPr>
                        <a:t>The 3D visual layer — Phase 4</a:t>
                      </a:r>
                    </a:p>
                  </a:txBody>
                  <a:tcPr>
                    <a:solidFill>
                      <a:srgbClr val="F8FAFC"/>
                    </a:solidFill>
                  </a:tcPr>
                </a:tc>
              </a:tr>
              <a:tr h="295220">
                <a:tc>
                  <a:txBody>
                    <a:bodyPr/>
                    <a:lstStyle/>
                    <a:p>
                      <a:r>
                        <a:rPr sz="1200">
                          <a:solidFill>
                            <a:srgbClr val="475569"/>
                          </a:solidFill>
                          <a:latin typeface="Segoe UI"/>
                        </a:rPr>
                        <a:t>15-20 seeded tools wrapping public APIs</a:t>
                      </a:r>
                    </a:p>
                  </a:txBody>
                  <a:tcPr>
                    <a:solidFill>
                      <a:srgbClr val="FFFFFF"/>
                    </a:solidFill>
                  </a:tcPr>
                </a:tc>
                <a:tc>
                  <a:txBody>
                    <a:bodyPr/>
                    <a:lstStyle/>
                    <a:p>
                      <a:r>
                        <a:rPr sz="1200">
                          <a:solidFill>
                            <a:srgbClr val="475569"/>
                          </a:solidFill>
                          <a:latin typeface="Segoe UI"/>
                        </a:rPr>
                        <a:t>Billing, payouts, sponsorship — Phase 6</a:t>
                      </a:r>
                    </a:p>
                  </a:txBody>
                  <a:tcPr>
                    <a:solidFill>
                      <a:srgbClr val="FFFFFF"/>
                    </a:solidFill>
                  </a:tcPr>
                </a:tc>
              </a:tr>
              <a:tr h="295223">
                <a:tc>
                  <a:txBody>
                    <a:bodyPr/>
                    <a:lstStyle/>
                    <a:p>
                      <a:r>
                        <a:rPr sz="1200">
                          <a:solidFill>
                            <a:srgbClr val="475569"/>
                          </a:solidFill>
                          <a:latin typeface="Segoe UI"/>
                        </a:rPr>
                        <a:t>Labelled eval set and recall@k harness</a:t>
                      </a:r>
                    </a:p>
                  </a:txBody>
                  <a:tcPr>
                    <a:solidFill>
                      <a:srgbClr val="F8FAFC"/>
                    </a:solidFill>
                  </a:tcPr>
                </a:tc>
                <a:tc>
                  <a:txBody>
                    <a:bodyPr/>
                    <a:lstStyle/>
                    <a:p>
                      <a:r>
                        <a:rPr sz="1200">
                          <a:solidFill>
                            <a:srgbClr val="475569"/>
                          </a:solidFill>
                          <a:latin typeface="Segoe UI"/>
                        </a:rPr>
                        <a:t>Any user interface — CLI only for now</a:t>
                      </a:r>
                    </a:p>
                  </a:txBody>
                  <a:tcPr>
                    <a:solidFill>
                      <a:srgbClr val="F8FAFC"/>
                    </a:solidFill>
                  </a:tcPr>
                </a:tc>
              </a:tr>
            </a:tbl>
          </a:graphicData>
        </a:graphic>
      </p:graphicFrame>
      <p:sp>
        <p:nvSpPr>
          <p:cNvPr id="6" name="TextBox 5"/>
          <p:cNvSpPr txBox="1"/>
          <p:nvPr/>
        </p:nvSpPr>
        <p:spPr>
          <a:xfrm>
            <a:off x="777240" y="4069080"/>
            <a:ext cx="10515600" cy="1280160"/>
          </a:xfrm>
          <a:prstGeom prst="rect">
            <a:avLst/>
          </a:prstGeom>
          <a:noFill/>
        </p:spPr>
        <p:txBody>
          <a:bodyPr wrap="square" lIns="0" rIns="0" tIns="0" bIns="0">
            <a:spAutoFit/>
          </a:bodyPr>
          <a:lstStyle/>
          <a:p>
            <a:pPr algn="l">
              <a:lnSpc>
                <a:spcPct val="125000"/>
              </a:lnSpc>
            </a:pPr>
            <a:r>
              <a:rPr sz="1400" b="0">
                <a:solidFill>
                  <a:srgbClr val="475569"/>
                </a:solidFill>
                <a:latin typeface="Segoe UI"/>
              </a:rPr>
              <a:t>PROJECT.md names scope as the biggest risk: the full vision is five products at once. Phases 0-2 need no 3D and no LLM routing, which is why this plan stops hard at the edge of Phase 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41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468880"/>
            <a:ext cx="10058400" cy="320040"/>
          </a:xfrm>
          <a:prstGeom prst="rect">
            <a:avLst/>
          </a:prstGeom>
          <a:noFill/>
        </p:spPr>
        <p:txBody>
          <a:bodyPr wrap="square" lIns="0" rIns="0" tIns="0" bIns="0">
            <a:spAutoFit/>
          </a:bodyPr>
          <a:lstStyle/>
          <a:p>
            <a:pPr algn="l">
              <a:lnSpc>
                <a:spcPct val="100000"/>
              </a:lnSpc>
            </a:pPr>
            <a:r>
              <a:rPr sz="1300" b="1">
                <a:solidFill>
                  <a:srgbClr val="4162FF"/>
                </a:solidFill>
                <a:latin typeface="Segoe UI"/>
              </a:rPr>
              <a:t>PART ONE</a:t>
            </a:r>
          </a:p>
        </p:txBody>
      </p:sp>
      <p:sp>
        <p:nvSpPr>
          <p:cNvPr id="4" name="TextBox 3"/>
          <p:cNvSpPr txBox="1"/>
          <p:nvPr/>
        </p:nvSpPr>
        <p:spPr>
          <a:xfrm>
            <a:off x="1005840" y="2880360"/>
            <a:ext cx="10241280" cy="822960"/>
          </a:xfrm>
          <a:prstGeom prst="rect">
            <a:avLst/>
          </a:prstGeom>
          <a:noFill/>
        </p:spPr>
        <p:txBody>
          <a:bodyPr wrap="square" lIns="0" rIns="0" tIns="0" bIns="0">
            <a:spAutoFit/>
          </a:bodyPr>
          <a:lstStyle/>
          <a:p>
            <a:pPr algn="l">
              <a:lnSpc>
                <a:spcPct val="100000"/>
              </a:lnSpc>
            </a:pPr>
            <a:r>
              <a:rPr sz="4000" b="1">
                <a:solidFill>
                  <a:srgbClr val="FFFFFF"/>
                </a:solidFill>
                <a:latin typeface="Segoe UI"/>
              </a:rPr>
              <a:t>The Miro board</a:t>
            </a:r>
          </a:p>
        </p:txBody>
      </p:sp>
      <p:sp>
        <p:nvSpPr>
          <p:cNvPr id="5" name="TextBox 4"/>
          <p:cNvSpPr txBox="1"/>
          <p:nvPr/>
        </p:nvSpPr>
        <p:spPr>
          <a:xfrm>
            <a:off x="1005840" y="3931920"/>
            <a:ext cx="8961120" cy="822960"/>
          </a:xfrm>
          <a:prstGeom prst="rect">
            <a:avLst/>
          </a:prstGeom>
          <a:noFill/>
        </p:spPr>
        <p:txBody>
          <a:bodyPr wrap="square" lIns="0" rIns="0" tIns="0" bIns="0">
            <a:spAutoFit/>
          </a:bodyPr>
          <a:lstStyle/>
          <a:p>
            <a:pPr algn="l">
              <a:lnSpc>
                <a:spcPct val="120000"/>
              </a:lnSpc>
            </a:pPr>
            <a:r>
              <a:rPr sz="1600" b="0">
                <a:solidFill>
                  <a:srgbClr val="94A3B8"/>
                </a:solidFill>
                <a:latin typeface="Segoe UI"/>
              </a:rPr>
              <a:t>One canvas, three regions: the architecture, the schedule and the dependency graph. How to read and edit each.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BOARD</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How the board is laid out</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miro.com/app/board/uXjVHpGFCos=</a:t>
            </a:r>
          </a:p>
        </p:txBody>
      </p:sp>
      <p:graphicFrame>
        <p:nvGraphicFramePr>
          <p:cNvPr id="6" name="Table 5"/>
          <p:cNvGraphicFramePr>
            <a:graphicFrameLocks noGrp="1"/>
          </p:cNvGraphicFramePr>
          <p:nvPr/>
        </p:nvGraphicFramePr>
        <p:xfrm>
          <a:off x="777240" y="2350008"/>
          <a:ext cx="10515600" cy="1188720"/>
        </p:xfrm>
        <a:graphic>
          <a:graphicData uri="http://schemas.openxmlformats.org/drawingml/2006/table">
            <a:tbl>
              <a:tblPr firstRow="1" bandRow="1">
                <a:tableStyleId>{5C22544A-7EE6-4342-B048-85BDC9FD1C3A}</a:tableStyleId>
              </a:tblPr>
              <a:tblGrid>
                <a:gridCol w="2468880"/>
                <a:gridCol w="4754880"/>
                <a:gridCol w="3291840"/>
              </a:tblGrid>
              <a:tr h="297180">
                <a:tc>
                  <a:txBody>
                    <a:bodyPr/>
                    <a:lstStyle/>
                    <a:p>
                      <a:r>
                        <a:rPr sz="1150" b="1">
                          <a:solidFill>
                            <a:srgbClr val="FFFFFF"/>
                          </a:solidFill>
                          <a:latin typeface="Segoe UI"/>
                        </a:rPr>
                        <a:t>Region</a:t>
                      </a:r>
                    </a:p>
                  </a:txBody>
                  <a:tcPr>
                    <a:solidFill>
                      <a:srgbClr val="0F172A"/>
                    </a:solidFill>
                  </a:tcPr>
                </a:tc>
                <a:tc>
                  <a:txBody>
                    <a:bodyPr/>
                    <a:lstStyle/>
                    <a:p>
                      <a:r>
                        <a:rPr sz="1150" b="1">
                          <a:solidFill>
                            <a:srgbClr val="FFFFFF"/>
                          </a:solidFill>
                          <a:latin typeface="Segoe UI"/>
                        </a:rPr>
                        <a:t>What it is</a:t>
                      </a:r>
                    </a:p>
                  </a:txBody>
                  <a:tcPr>
                    <a:solidFill>
                      <a:srgbClr val="0F172A"/>
                    </a:solidFill>
                  </a:tcPr>
                </a:tc>
                <a:tc>
                  <a:txBody>
                    <a:bodyPr/>
                    <a:lstStyle/>
                    <a:p>
                      <a:r>
                        <a:rPr sz="1150" b="1">
                          <a:solidFill>
                            <a:srgbClr val="FFFFFF"/>
                          </a:solidFill>
                          <a:latin typeface="Segoe UI"/>
                        </a:rPr>
                        <a:t>How you edit it</a:t>
                      </a:r>
                    </a:p>
                  </a:txBody>
                  <a:tcPr>
                    <a:solidFill>
                      <a:srgbClr val="0F172A"/>
                    </a:solidFill>
                  </a:tcPr>
                </a:tc>
              </a:tr>
              <a:tr h="297180">
                <a:tc>
                  <a:txBody>
                    <a:bodyPr/>
                    <a:lstStyle/>
                    <a:p>
                      <a:r>
                        <a:rPr sz="1150">
                          <a:solidFill>
                            <a:srgbClr val="475569"/>
                          </a:solidFill>
                          <a:latin typeface="Segoe UI"/>
                        </a:rPr>
                        <a:t>Architecture frame</a:t>
                      </a:r>
                    </a:p>
                  </a:txBody>
                  <a:tcPr>
                    <a:solidFill>
                      <a:srgbClr val="FFFFFF"/>
                    </a:solidFill>
                  </a:tcPr>
                </a:tc>
                <a:tc>
                  <a:txBody>
                    <a:bodyPr/>
                    <a:lstStyle/>
                    <a:p>
                      <a:r>
                        <a:rPr sz="1150">
                          <a:solidFill>
                            <a:srgbClr val="475569"/>
                          </a:solidFill>
                          <a:latin typeface="Segoe UI"/>
                        </a:rPr>
                        <a:t>A titled Miro frame, 2000 x 1350 px</a:t>
                      </a:r>
                    </a:p>
                  </a:txBody>
                  <a:tcPr>
                    <a:solidFill>
                      <a:srgbClr val="FFFFFF"/>
                    </a:solidFill>
                  </a:tcPr>
                </a:tc>
                <a:tc>
                  <a:txBody>
                    <a:bodyPr/>
                    <a:lstStyle/>
                    <a:p>
                      <a:r>
                        <a:rPr sz="1150">
                          <a:solidFill>
                            <a:srgbClr val="475569"/>
                          </a:solidFill>
                          <a:latin typeface="Segoe UI"/>
                        </a:rPr>
                        <a:t>Drag boxes; the frame moves them together</a:t>
                      </a:r>
                    </a:p>
                  </a:txBody>
                  <a:tcPr>
                    <a:solidFill>
                      <a:srgbClr val="FFFFFF"/>
                    </a:solidFill>
                  </a:tcPr>
                </a:tc>
              </a:tr>
              <a:tr h="297180">
                <a:tc>
                  <a:txBody>
                    <a:bodyPr/>
                    <a:lstStyle/>
                    <a:p>
                      <a:r>
                        <a:rPr sz="1150">
                          <a:solidFill>
                            <a:srgbClr val="475569"/>
                          </a:solidFill>
                          <a:latin typeface="Segoe UI"/>
                        </a:rPr>
                        <a:t>Timeline</a:t>
                      </a:r>
                    </a:p>
                  </a:txBody>
                  <a:tcPr>
                    <a:solidFill>
                      <a:srgbClr val="F8FAFC"/>
                    </a:solidFill>
                  </a:tcPr>
                </a:tc>
                <a:tc>
                  <a:txBody>
                    <a:bodyPr/>
                    <a:lstStyle/>
                    <a:p>
                      <a:r>
                        <a:rPr sz="1150">
                          <a:solidFill>
                            <a:srgbClr val="475569"/>
                          </a:solidFill>
                          <a:latin typeface="Segoe UI"/>
                        </a:rPr>
                        <a:t>A native Miro timeline widget, not a picture</a:t>
                      </a:r>
                    </a:p>
                  </a:txBody>
                  <a:tcPr>
                    <a:solidFill>
                      <a:srgbClr val="F8FAFC"/>
                    </a:solidFill>
                  </a:tcPr>
                </a:tc>
                <a:tc>
                  <a:txBody>
                    <a:bodyPr/>
                    <a:lstStyle/>
                    <a:p>
                      <a:r>
                        <a:rPr sz="1150">
                          <a:solidFill>
                            <a:srgbClr val="475569"/>
                          </a:solidFill>
                          <a:latin typeface="Segoe UI"/>
                        </a:rPr>
                        <a:t>Drag bars to reschedule; edit cells</a:t>
                      </a:r>
                    </a:p>
                  </a:txBody>
                  <a:tcPr>
                    <a:solidFill>
                      <a:srgbClr val="F8FAFC"/>
                    </a:solidFill>
                  </a:tcPr>
                </a:tc>
              </a:tr>
              <a:tr h="297180">
                <a:tc>
                  <a:txBody>
                    <a:bodyPr/>
                    <a:lstStyle/>
                    <a:p>
                      <a:r>
                        <a:rPr sz="1150">
                          <a:solidFill>
                            <a:srgbClr val="475569"/>
                          </a:solidFill>
                          <a:latin typeface="Segoe UI"/>
                        </a:rPr>
                        <a:t>Dependency graph</a:t>
                      </a:r>
                    </a:p>
                  </a:txBody>
                  <a:tcPr>
                    <a:solidFill>
                      <a:srgbClr val="FFFFFF"/>
                    </a:solidFill>
                  </a:tcPr>
                </a:tc>
                <a:tc>
                  <a:txBody>
                    <a:bodyPr/>
                    <a:lstStyle/>
                    <a:p>
                      <a:r>
                        <a:rPr sz="1150">
                          <a:solidFill>
                            <a:srgbClr val="475569"/>
                          </a:solidFill>
                          <a:latin typeface="Segoe UI"/>
                        </a:rPr>
                        <a:t>A diagram widget generated from Mermaid</a:t>
                      </a:r>
                    </a:p>
                  </a:txBody>
                  <a:tcPr>
                    <a:solidFill>
                      <a:srgbClr val="FFFFFF"/>
                    </a:solidFill>
                  </a:tcPr>
                </a:tc>
                <a:tc>
                  <a:txBody>
                    <a:bodyPr/>
                    <a:lstStyle/>
                    <a:p>
                      <a:r>
                        <a:rPr sz="1150">
                          <a:solidFill>
                            <a:srgbClr val="475569"/>
                          </a:solidFill>
                          <a:latin typeface="Segoe UI"/>
                        </a:rPr>
                        <a:t>Edit the source and regenerate</a:t>
                      </a:r>
                    </a:p>
                  </a:txBody>
                  <a:tcPr>
                    <a:solidFill>
                      <a:srgbClr val="FFFFFF"/>
                    </a:solidFill>
                  </a:tcPr>
                </a:tc>
              </a:tr>
            </a:tbl>
          </a:graphicData>
        </a:graphic>
      </p:graphicFrame>
      <p:sp>
        <p:nvSpPr>
          <p:cNvPr id="7" name="TextBox 6"/>
          <p:cNvSpPr txBox="1"/>
          <p:nvPr/>
        </p:nvSpPr>
        <p:spPr>
          <a:xfrm>
            <a:off x="777240" y="3767328"/>
            <a:ext cx="10515600" cy="292608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Everything sits on one infinite canvas.</a:t>
            </a:r>
            <a:r>
              <a:rPr sz="1400">
                <a:solidFill>
                  <a:srgbClr val="475569"/>
                </a:solidFill>
                <a:latin typeface="Segoe UI"/>
              </a:rPr>
              <a:t>  There is no slide order. The architecture is at the top; the schedule and dependency graph sit below it, side by side.</a:t>
            </a:r>
          </a:p>
          <a:p>
            <a:pPr>
              <a:lnSpc>
                <a:spcPct val="115000"/>
              </a:lnSpc>
              <a:spcAft>
                <a:spcPts val="1000"/>
              </a:spcAft>
            </a:pPr>
            <a:r>
              <a:rPr sz="1400" b="1">
                <a:solidFill>
                  <a:srgbClr val="0F172A"/>
                </a:solidFill>
                <a:latin typeface="Segoe UI"/>
              </a:rPr>
              <a:t>The frame is the unit that matters.</a:t>
            </a:r>
            <a:r>
              <a:rPr sz="1400">
                <a:solidFill>
                  <a:srgbClr val="475569"/>
                </a:solidFill>
                <a:latin typeface="Segoe UI"/>
              </a:rPr>
              <a:t>  Anything inside the architecture frame has coordinates relative to the frame's top-left corner, so moving the frame moves the whole diagram intact.</a:t>
            </a:r>
          </a:p>
          <a:p>
            <a:pPr>
              <a:lnSpc>
                <a:spcPct val="115000"/>
              </a:lnSpc>
              <a:spcAft>
                <a:spcPts val="1000"/>
              </a:spcAft>
            </a:pPr>
            <a:r>
              <a:rPr sz="1400" b="1">
                <a:solidFill>
                  <a:srgbClr val="0F172A"/>
                </a:solidFill>
                <a:latin typeface="Segoe UI"/>
              </a:rPr>
              <a:t>Any widget can be deep-linked.</a:t>
            </a:r>
            <a:r>
              <a:rPr sz="1400">
                <a:solidFill>
                  <a:srgbClr val="475569"/>
                </a:solidFill>
                <a:latin typeface="Segoe UI"/>
              </a:rPr>
              <a:t>  Append ?moveToWidget=&lt;id&gt; to the board URL and opening it pans straight to that widget — useful for pointing a collaborator at one specific box.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BOARD</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Reading the architecture frame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6035040" cy="384048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Icons are real AWS assets.</a:t>
            </a:r>
            <a:r>
              <a:rPr sz="1400">
                <a:solidFill>
                  <a:srgbClr val="475569"/>
                </a:solidFill>
                <a:latin typeface="Segoe UI"/>
              </a:rPr>
              <a:t>  Each service carries its official icon as a badge on its top-left corner, taken from AWS Labs' own icon repository — not an approximation.</a:t>
            </a:r>
          </a:p>
          <a:p>
            <a:pPr>
              <a:lnSpc>
                <a:spcPct val="115000"/>
              </a:lnSpc>
              <a:spcAft>
                <a:spcPts val="1000"/>
              </a:spcAft>
            </a:pPr>
            <a:r>
              <a:rPr sz="1400" b="1">
                <a:solidFill>
                  <a:srgbClr val="0F172A"/>
                </a:solidFill>
                <a:latin typeface="Segoe UI"/>
              </a:rPr>
              <a:t>Dashed rectangles are zones.</a:t>
            </a:r>
            <a:r>
              <a:rPr sz="1400">
                <a:solidFill>
                  <a:srgbClr val="475569"/>
                </a:solidFill>
                <a:latin typeface="Segoe UI"/>
              </a:rPr>
              <a:t>  They group services by AWS category and carry the free-tier limit in the label, so the constraint is visible where the decision gets made.</a:t>
            </a:r>
          </a:p>
          <a:p>
            <a:pPr>
              <a:lnSpc>
                <a:spcPct val="115000"/>
              </a:lnSpc>
              <a:spcAft>
                <a:spcPts val="1000"/>
              </a:spcAft>
            </a:pPr>
            <a:r>
              <a:rPr sz="1400" b="1">
                <a:solidFill>
                  <a:srgbClr val="0F172A"/>
                </a:solidFill>
                <a:latin typeface="Segoe UI"/>
              </a:rPr>
              <a:t>Fill colour encodes layer.</a:t>
            </a:r>
            <a:r>
              <a:rPr sz="1400">
                <a:solidFill>
                  <a:srgbClr val="475569"/>
                </a:solidFill>
                <a:latin typeface="Segoe UI"/>
              </a:rPr>
              <a:t>  Amber is compute, blue is storage, green is the one paid component, grey is supporting.</a:t>
            </a:r>
          </a:p>
          <a:p>
            <a:pPr>
              <a:lnSpc>
                <a:spcPct val="115000"/>
              </a:lnSpc>
              <a:spcAft>
                <a:spcPts val="1000"/>
              </a:spcAft>
            </a:pPr>
            <a:r>
              <a:rPr sz="1400" b="1">
                <a:solidFill>
                  <a:srgbClr val="0F172A"/>
                </a:solidFill>
                <a:latin typeface="Segoe UI"/>
              </a:rPr>
              <a:t>Connector labels are the contract.</a:t>
            </a:r>
            <a:r>
              <a:rPr sz="1400">
                <a:solidFill>
                  <a:srgbClr val="475569"/>
                </a:solidFill>
                <a:latin typeface="Segoe UI"/>
              </a:rPr>
              <a:t>  Each arrow says what crosses it — 'write new version', 'log gap below threshold T' — rather than just pointing.</a:t>
            </a:r>
          </a:p>
        </p:txBody>
      </p:sp>
      <p:sp>
        <p:nvSpPr>
          <p:cNvPr id="6" name="Rounded Rectangle 5"/>
          <p:cNvSpPr/>
          <p:nvPr/>
        </p:nvSpPr>
        <p:spPr>
          <a:xfrm>
            <a:off x="7086600" y="1828800"/>
            <a:ext cx="4206240" cy="749808"/>
          </a:xfrm>
          <a:prstGeom prst="roundRect">
            <a:avLst/>
          </a:prstGeom>
          <a:solidFill>
            <a:srgbClr val="FFFFFF"/>
          </a:solidFill>
          <a:ln w="19050">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lambda.png"/>
          <p:cNvPicPr>
            <a:picLocks noChangeAspect="1"/>
          </p:cNvPicPr>
          <p:nvPr/>
        </p:nvPicPr>
        <p:blipFill>
          <a:blip r:embed="rId2"/>
          <a:stretch>
            <a:fillRect/>
          </a:stretch>
        </p:blipFill>
        <p:spPr>
          <a:xfrm>
            <a:off x="7214616" y="1965960"/>
            <a:ext cx="420624" cy="420624"/>
          </a:xfrm>
          <a:prstGeom prst="rect">
            <a:avLst/>
          </a:prstGeom>
        </p:spPr>
      </p:pic>
      <p:sp>
        <p:nvSpPr>
          <p:cNvPr id="8" name="TextBox 7"/>
          <p:cNvSpPr txBox="1"/>
          <p:nvPr/>
        </p:nvSpPr>
        <p:spPr>
          <a:xfrm>
            <a:off x="7781544" y="1965960"/>
            <a:ext cx="340156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registry-fn</a:t>
            </a:r>
          </a:p>
        </p:txBody>
      </p:sp>
      <p:sp>
        <p:nvSpPr>
          <p:cNvPr id="9" name="TextBox 8"/>
          <p:cNvSpPr txBox="1"/>
          <p:nvPr/>
        </p:nvSpPr>
        <p:spPr>
          <a:xfrm>
            <a:off x="7781544" y="2231136"/>
            <a:ext cx="340156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tool CRUD, immutable versions</a:t>
            </a:r>
          </a:p>
        </p:txBody>
      </p:sp>
      <p:sp>
        <p:nvSpPr>
          <p:cNvPr id="10" name="Rounded Rectangle 9"/>
          <p:cNvSpPr/>
          <p:nvPr/>
        </p:nvSpPr>
        <p:spPr>
          <a:xfrm>
            <a:off x="7086600" y="2670048"/>
            <a:ext cx="4206240" cy="749808"/>
          </a:xfrm>
          <a:prstGeom prst="roundRect">
            <a:avLst/>
          </a:prstGeom>
          <a:solidFill>
            <a:srgbClr val="FFFFFF"/>
          </a:solidFill>
          <a:ln w="19050">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ambda.png"/>
          <p:cNvPicPr>
            <a:picLocks noChangeAspect="1"/>
          </p:cNvPicPr>
          <p:nvPr/>
        </p:nvPicPr>
        <p:blipFill>
          <a:blip r:embed="rId2"/>
          <a:stretch>
            <a:fillRect/>
          </a:stretch>
        </p:blipFill>
        <p:spPr>
          <a:xfrm>
            <a:off x="7214616" y="2807208"/>
            <a:ext cx="420624" cy="420624"/>
          </a:xfrm>
          <a:prstGeom prst="rect">
            <a:avLst/>
          </a:prstGeom>
        </p:spPr>
      </p:pic>
      <p:sp>
        <p:nvSpPr>
          <p:cNvPr id="12" name="TextBox 11"/>
          <p:cNvSpPr txBox="1"/>
          <p:nvPr/>
        </p:nvSpPr>
        <p:spPr>
          <a:xfrm>
            <a:off x="7781544" y="2807208"/>
            <a:ext cx="340156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search-fn</a:t>
            </a:r>
          </a:p>
        </p:txBody>
      </p:sp>
      <p:sp>
        <p:nvSpPr>
          <p:cNvPr id="13" name="TextBox 12"/>
          <p:cNvSpPr txBox="1"/>
          <p:nvPr/>
        </p:nvSpPr>
        <p:spPr>
          <a:xfrm>
            <a:off x="7781544" y="3072384"/>
            <a:ext cx="340156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embed, cosine rank, gap check</a:t>
            </a:r>
          </a:p>
        </p:txBody>
      </p:sp>
      <p:sp>
        <p:nvSpPr>
          <p:cNvPr id="14" name="Rounded Rectangle 13"/>
          <p:cNvSpPr/>
          <p:nvPr/>
        </p:nvSpPr>
        <p:spPr>
          <a:xfrm>
            <a:off x="7086600" y="3511296"/>
            <a:ext cx="4206240" cy="749808"/>
          </a:xfrm>
          <a:prstGeom prst="roundRect">
            <a:avLst/>
          </a:prstGeom>
          <a:solidFill>
            <a:srgbClr val="FFFFFF"/>
          </a:solidFill>
          <a:ln w="19050">
            <a:solidFill>
              <a:srgbClr val="C925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dynamodb.png"/>
          <p:cNvPicPr>
            <a:picLocks noChangeAspect="1"/>
          </p:cNvPicPr>
          <p:nvPr/>
        </p:nvPicPr>
        <p:blipFill>
          <a:blip r:embed="rId3"/>
          <a:stretch>
            <a:fillRect/>
          </a:stretch>
        </p:blipFill>
        <p:spPr>
          <a:xfrm>
            <a:off x="7214616" y="3648456"/>
            <a:ext cx="420624" cy="420624"/>
          </a:xfrm>
          <a:prstGeom prst="rect">
            <a:avLst/>
          </a:prstGeom>
        </p:spPr>
      </p:pic>
      <p:sp>
        <p:nvSpPr>
          <p:cNvPr id="16" name="TextBox 15"/>
          <p:cNvSpPr txBox="1"/>
          <p:nvPr/>
        </p:nvSpPr>
        <p:spPr>
          <a:xfrm>
            <a:off x="7781544" y="3648456"/>
            <a:ext cx="340156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events</a:t>
            </a:r>
          </a:p>
        </p:txBody>
      </p:sp>
      <p:sp>
        <p:nvSpPr>
          <p:cNvPr id="17" name="TextBox 16"/>
          <p:cNvSpPr txBox="1"/>
          <p:nvPr/>
        </p:nvSpPr>
        <p:spPr>
          <a:xfrm>
            <a:off x="7781544" y="3913632"/>
            <a:ext cx="340156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append-only, provenance-tagged</a:t>
            </a:r>
          </a:p>
        </p:txBody>
      </p:sp>
      <p:sp>
        <p:nvSpPr>
          <p:cNvPr id="18" name="Rounded Rectangle 17"/>
          <p:cNvSpPr/>
          <p:nvPr/>
        </p:nvSpPr>
        <p:spPr>
          <a:xfrm>
            <a:off x="7086600" y="4352544"/>
            <a:ext cx="4206240" cy="749808"/>
          </a:xfrm>
          <a:prstGeom prst="roundRect">
            <a:avLst/>
          </a:prstGeom>
          <a:solidFill>
            <a:srgbClr val="FFFFFF"/>
          </a:solidFill>
          <a:ln w="19050">
            <a:solidFill>
              <a:srgbClr val="01A8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edrock.png"/>
          <p:cNvPicPr>
            <a:picLocks noChangeAspect="1"/>
          </p:cNvPicPr>
          <p:nvPr/>
        </p:nvPicPr>
        <p:blipFill>
          <a:blip r:embed="rId4"/>
          <a:stretch>
            <a:fillRect/>
          </a:stretch>
        </p:blipFill>
        <p:spPr>
          <a:xfrm>
            <a:off x="7214616" y="4489704"/>
            <a:ext cx="420624" cy="420624"/>
          </a:xfrm>
          <a:prstGeom prst="rect">
            <a:avLst/>
          </a:prstGeom>
        </p:spPr>
      </p:pic>
      <p:sp>
        <p:nvSpPr>
          <p:cNvPr id="20" name="TextBox 19"/>
          <p:cNvSpPr txBox="1"/>
          <p:nvPr/>
        </p:nvSpPr>
        <p:spPr>
          <a:xfrm>
            <a:off x="7781544" y="4489704"/>
            <a:ext cx="340156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Bedrock</a:t>
            </a:r>
          </a:p>
        </p:txBody>
      </p:sp>
      <p:sp>
        <p:nvSpPr>
          <p:cNvPr id="21" name="TextBox 20"/>
          <p:cNvSpPr txBox="1"/>
          <p:nvPr/>
        </p:nvSpPr>
        <p:spPr>
          <a:xfrm>
            <a:off x="7781544" y="4754880"/>
            <a:ext cx="340156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Titan Embeddings V2 — only paid</a:t>
            </a:r>
          </a:p>
        </p:txBody>
      </p:sp>
      <p:sp>
        <p:nvSpPr>
          <p:cNvPr id="22" name="TextBox 21"/>
          <p:cNvSpPr txBox="1"/>
          <p:nvPr/>
        </p:nvSpPr>
        <p:spPr>
          <a:xfrm>
            <a:off x="7086600" y="5184648"/>
            <a:ext cx="4206240" cy="274320"/>
          </a:xfrm>
          <a:prstGeom prst="rect">
            <a:avLst/>
          </a:prstGeom>
          <a:noFill/>
        </p:spPr>
        <p:txBody>
          <a:bodyPr wrap="square" lIns="0" rIns="0" tIns="0" bIns="0">
            <a:spAutoFit/>
          </a:bodyPr>
          <a:lstStyle/>
          <a:p>
            <a:pPr algn="l">
              <a:lnSpc>
                <a:spcPct val="100000"/>
              </a:lnSpc>
            </a:pPr>
            <a:r>
              <a:rPr sz="1050" b="0">
                <a:solidFill>
                  <a:srgbClr val="94A3B8"/>
                </a:solidFill>
                <a:latin typeface="Segoe UI"/>
              </a:rPr>
              <a:t>The badge convention used on the 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BOARD</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timeline is a live widget, not a picture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265176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It is a Miro table in timeline layout.</a:t>
            </a:r>
            <a:r>
              <a:rPr sz="1400">
                <a:solidFill>
                  <a:srgbClr val="475569"/>
                </a:solidFill>
                <a:latin typeface="Segoe UI"/>
              </a:rPr>
              <a:t>  The same twelve issues are rows. Switch the widget to table or kanban and it is the same data in a different shape.</a:t>
            </a:r>
          </a:p>
          <a:p>
            <a:pPr>
              <a:lnSpc>
                <a:spcPct val="115000"/>
              </a:lnSpc>
              <a:spcAft>
                <a:spcPts val="1000"/>
              </a:spcAft>
            </a:pPr>
            <a:r>
              <a:rPr sz="1400" b="1">
                <a:solidFill>
                  <a:srgbClr val="0F172A"/>
                </a:solidFill>
                <a:latin typeface="Segoe UI"/>
              </a:rPr>
              <a:t>Columns carry meaning, not just text.</a:t>
            </a:r>
            <a:r>
              <a:rPr sz="1400">
                <a:solidFill>
                  <a:srgbClr val="475569"/>
                </a:solidFill>
                <a:latin typeface="Segoe UI"/>
              </a:rPr>
              <a:t>  Start Date and End Date drive the bars, Status drives colour, Priority marks the critical path. Those names are fixed — the widget binds to them by name.</a:t>
            </a:r>
          </a:p>
          <a:p>
            <a:pPr>
              <a:lnSpc>
                <a:spcPct val="115000"/>
              </a:lnSpc>
              <a:spcAft>
                <a:spcPts val="1000"/>
              </a:spcAft>
            </a:pPr>
            <a:r>
              <a:rPr sz="1400" b="1">
                <a:solidFill>
                  <a:srgbClr val="0F172A"/>
                </a:solidFill>
                <a:latin typeface="Segoe UI"/>
              </a:rPr>
              <a:t>Drag a bar and the data changes.</a:t>
            </a:r>
            <a:r>
              <a:rPr sz="1400">
                <a:solidFill>
                  <a:srgbClr val="475569"/>
                </a:solidFill>
                <a:latin typeface="Segoe UI"/>
              </a:rPr>
              <a:t>  Rescheduling on the canvas edits the underlying dates. It is the schedule, not a rendering of one.</a:t>
            </a:r>
          </a:p>
          <a:p>
            <a:pPr>
              <a:lnSpc>
                <a:spcPct val="115000"/>
              </a:lnSpc>
              <a:spcAft>
                <a:spcPts val="1000"/>
              </a:spcAft>
            </a:pPr>
            <a:r>
              <a:rPr sz="1400" b="1">
                <a:solidFill>
                  <a:srgbClr val="0F172A"/>
                </a:solidFill>
                <a:latin typeface="Segoe UI"/>
              </a:rPr>
              <a:t>Which means it will drift from the repo.</a:t>
            </a:r>
            <a:r>
              <a:rPr sz="1400">
                <a:solidFill>
                  <a:srgbClr val="475569"/>
                </a:solidFill>
                <a:latin typeface="Segoe UI"/>
              </a:rPr>
              <a:t>  The plan document holds a Mermaid Gantt with the same dates. Pick one as authoritative — I suggest the board for dates, the repo for scope.</a:t>
            </a:r>
          </a:p>
        </p:txBody>
      </p:sp>
      <p:graphicFrame>
        <p:nvGraphicFramePr>
          <p:cNvPr id="6" name="Table 5"/>
          <p:cNvGraphicFramePr>
            <a:graphicFrameLocks noGrp="1"/>
          </p:cNvGraphicFramePr>
          <p:nvPr/>
        </p:nvGraphicFramePr>
        <p:xfrm>
          <a:off x="777240" y="4526280"/>
          <a:ext cx="10515600" cy="1773936"/>
        </p:xfrm>
        <a:graphic>
          <a:graphicData uri="http://schemas.openxmlformats.org/drawingml/2006/table">
            <a:tbl>
              <a:tblPr firstRow="1" bandRow="1">
                <a:tableStyleId>{5C22544A-7EE6-4342-B048-85BDC9FD1C3A}</a:tableStyleId>
              </a:tblPr>
              <a:tblGrid>
                <a:gridCol w="2926080"/>
                <a:gridCol w="1828800"/>
                <a:gridCol w="5760720"/>
              </a:tblGrid>
              <a:tr h="295656">
                <a:tc>
                  <a:txBody>
                    <a:bodyPr/>
                    <a:lstStyle/>
                    <a:p>
                      <a:r>
                        <a:rPr sz="1100" b="1">
                          <a:solidFill>
                            <a:srgbClr val="FFFFFF"/>
                          </a:solidFill>
                          <a:latin typeface="Segoe UI"/>
                        </a:rPr>
                        <a:t>Column</a:t>
                      </a:r>
                    </a:p>
                  </a:txBody>
                  <a:tcPr>
                    <a:solidFill>
                      <a:srgbClr val="0F172A"/>
                    </a:solidFill>
                  </a:tcPr>
                </a:tc>
                <a:tc>
                  <a:txBody>
                    <a:bodyPr/>
                    <a:lstStyle/>
                    <a:p>
                      <a:r>
                        <a:rPr sz="1100" b="1">
                          <a:solidFill>
                            <a:srgbClr val="FFFFFF"/>
                          </a:solidFill>
                          <a:latin typeface="Segoe UI"/>
                        </a:rPr>
                        <a:t>Type</a:t>
                      </a:r>
                    </a:p>
                  </a:txBody>
                  <a:tcPr>
                    <a:solidFill>
                      <a:srgbClr val="0F172A"/>
                    </a:solidFill>
                  </a:tcPr>
                </a:tc>
                <a:tc>
                  <a:txBody>
                    <a:bodyPr/>
                    <a:lstStyle/>
                    <a:p>
                      <a:r>
                        <a:rPr sz="1100" b="1">
                          <a:solidFill>
                            <a:srgbClr val="FFFFFF"/>
                          </a:solidFill>
                          <a:latin typeface="Segoe UI"/>
                        </a:rPr>
                        <a:t>What it drives</a:t>
                      </a:r>
                    </a:p>
                  </a:txBody>
                  <a:tcPr>
                    <a:solidFill>
                      <a:srgbClr val="0F172A"/>
                    </a:solidFill>
                  </a:tcPr>
                </a:tc>
              </a:tr>
              <a:tr h="295656">
                <a:tc>
                  <a:txBody>
                    <a:bodyPr/>
                    <a:lstStyle/>
                    <a:p>
                      <a:r>
                        <a:rPr sz="1100">
                          <a:solidFill>
                            <a:srgbClr val="475569"/>
                          </a:solidFill>
                          <a:latin typeface="Segoe UI"/>
                        </a:rPr>
                        <a:t>Title</a:t>
                      </a:r>
                    </a:p>
                  </a:txBody>
                  <a:tcPr>
                    <a:solidFill>
                      <a:srgbClr val="FFFFFF"/>
                    </a:solidFill>
                  </a:tcPr>
                </a:tc>
                <a:tc>
                  <a:txBody>
                    <a:bodyPr/>
                    <a:lstStyle/>
                    <a:p>
                      <a:r>
                        <a:rPr sz="1100">
                          <a:solidFill>
                            <a:srgbClr val="475569"/>
                          </a:solidFill>
                          <a:latin typeface="Segoe UI"/>
                        </a:rPr>
                        <a:t>text</a:t>
                      </a:r>
                    </a:p>
                  </a:txBody>
                  <a:tcPr>
                    <a:solidFill>
                      <a:srgbClr val="FFFFFF"/>
                    </a:solidFill>
                  </a:tcPr>
                </a:tc>
                <a:tc>
                  <a:txBody>
                    <a:bodyPr/>
                    <a:lstStyle/>
                    <a:p>
                      <a:r>
                        <a:rPr sz="1100">
                          <a:solidFill>
                            <a:srgbClr val="475569"/>
                          </a:solidFill>
                          <a:latin typeface="Segoe UI"/>
                        </a:rPr>
                        <a:t>The bar label</a:t>
                      </a:r>
                    </a:p>
                  </a:txBody>
                  <a:tcPr>
                    <a:solidFill>
                      <a:srgbClr val="FFFFFF"/>
                    </a:solidFill>
                  </a:tcPr>
                </a:tc>
              </a:tr>
              <a:tr h="295656">
                <a:tc>
                  <a:txBody>
                    <a:bodyPr/>
                    <a:lstStyle/>
                    <a:p>
                      <a:r>
                        <a:rPr sz="1100">
                          <a:solidFill>
                            <a:srgbClr val="475569"/>
                          </a:solidFill>
                          <a:latin typeface="Segoe UI"/>
                        </a:rPr>
                        <a:t>Start Date / End Date</a:t>
                      </a:r>
                    </a:p>
                  </a:txBody>
                  <a:tcPr>
                    <a:solidFill>
                      <a:srgbClr val="F8FAFC"/>
                    </a:solidFill>
                  </a:tcPr>
                </a:tc>
                <a:tc>
                  <a:txBody>
                    <a:bodyPr/>
                    <a:lstStyle/>
                    <a:p>
                      <a:r>
                        <a:rPr sz="1100">
                          <a:solidFill>
                            <a:srgbClr val="475569"/>
                          </a:solidFill>
                          <a:latin typeface="Segoe UI"/>
                        </a:rPr>
                        <a:t>date</a:t>
                      </a:r>
                    </a:p>
                  </a:txBody>
                  <a:tcPr>
                    <a:solidFill>
                      <a:srgbClr val="F8FAFC"/>
                    </a:solidFill>
                  </a:tcPr>
                </a:tc>
                <a:tc>
                  <a:txBody>
                    <a:bodyPr/>
                    <a:lstStyle/>
                    <a:p>
                      <a:r>
                        <a:rPr sz="1100">
                          <a:solidFill>
                            <a:srgbClr val="475569"/>
                          </a:solidFill>
                          <a:latin typeface="Segoe UI"/>
                        </a:rPr>
                        <a:t>Bar position and length</a:t>
                      </a:r>
                    </a:p>
                  </a:txBody>
                  <a:tcPr>
                    <a:solidFill>
                      <a:srgbClr val="F8FAFC"/>
                    </a:solidFill>
                  </a:tcPr>
                </a:tc>
              </a:tr>
              <a:tr h="295656">
                <a:tc>
                  <a:txBody>
                    <a:bodyPr/>
                    <a:lstStyle/>
                    <a:p>
                      <a:r>
                        <a:rPr sz="1100">
                          <a:solidFill>
                            <a:srgbClr val="475569"/>
                          </a:solidFill>
                          <a:latin typeface="Segoe UI"/>
                        </a:rPr>
                        <a:t>Status</a:t>
                      </a:r>
                    </a:p>
                  </a:txBody>
                  <a:tcPr>
                    <a:solidFill>
                      <a:srgbClr val="FFFFFF"/>
                    </a:solidFill>
                  </a:tcPr>
                </a:tc>
                <a:tc>
                  <a:txBody>
                    <a:bodyPr/>
                    <a:lstStyle/>
                    <a:p>
                      <a:r>
                        <a:rPr sz="1100">
                          <a:solidFill>
                            <a:srgbClr val="475569"/>
                          </a:solidFill>
                          <a:latin typeface="Segoe UI"/>
                        </a:rPr>
                        <a:t>select</a:t>
                      </a:r>
                    </a:p>
                  </a:txBody>
                  <a:tcPr>
                    <a:solidFill>
                      <a:srgbClr val="FFFFFF"/>
                    </a:solidFill>
                  </a:tcPr>
                </a:tc>
                <a:tc>
                  <a:txBody>
                    <a:bodyPr/>
                    <a:lstStyle/>
                    <a:p>
                      <a:r>
                        <a:rPr sz="1100">
                          <a:solidFill>
                            <a:srgbClr val="475569"/>
                          </a:solidFill>
                          <a:latin typeface="Segoe UI"/>
                        </a:rPr>
                        <a:t>Bar colour: Todo, In progress, Done</a:t>
                      </a:r>
                    </a:p>
                  </a:txBody>
                  <a:tcPr>
                    <a:solidFill>
                      <a:srgbClr val="FFFFFF"/>
                    </a:solidFill>
                  </a:tcPr>
                </a:tc>
              </a:tr>
              <a:tr h="295656">
                <a:tc>
                  <a:txBody>
                    <a:bodyPr/>
                    <a:lstStyle/>
                    <a:p>
                      <a:r>
                        <a:rPr sz="1100">
                          <a:solidFill>
                            <a:srgbClr val="475569"/>
                          </a:solidFill>
                          <a:latin typeface="Segoe UI"/>
                        </a:rPr>
                        <a:t>Priority</a:t>
                      </a:r>
                    </a:p>
                  </a:txBody>
                  <a:tcPr>
                    <a:solidFill>
                      <a:srgbClr val="F8FAFC"/>
                    </a:solidFill>
                  </a:tcPr>
                </a:tc>
                <a:tc>
                  <a:txBody>
                    <a:bodyPr/>
                    <a:lstStyle/>
                    <a:p>
                      <a:r>
                        <a:rPr sz="1100">
                          <a:solidFill>
                            <a:srgbClr val="475569"/>
                          </a:solidFill>
                          <a:latin typeface="Segoe UI"/>
                        </a:rPr>
                        <a:t>select</a:t>
                      </a:r>
                    </a:p>
                  </a:txBody>
                  <a:tcPr>
                    <a:solidFill>
                      <a:srgbClr val="F8FAFC"/>
                    </a:solidFill>
                  </a:tcPr>
                </a:tc>
                <a:tc>
                  <a:txBody>
                    <a:bodyPr/>
                    <a:lstStyle/>
                    <a:p>
                      <a:r>
                        <a:rPr sz="1100">
                          <a:solidFill>
                            <a:srgbClr val="475569"/>
                          </a:solidFill>
                          <a:latin typeface="Segoe UI"/>
                        </a:rPr>
                        <a:t>Critical path versus Normal</a:t>
                      </a:r>
                    </a:p>
                  </a:txBody>
                  <a:tcPr>
                    <a:solidFill>
                      <a:srgbClr val="F8FAFC"/>
                    </a:solidFill>
                  </a:tcPr>
                </a:tc>
              </a:tr>
              <a:tr h="295656">
                <a:tc>
                  <a:txBody>
                    <a:bodyPr/>
                    <a:lstStyle/>
                    <a:p>
                      <a:r>
                        <a:rPr sz="1100">
                          <a:solidFill>
                            <a:srgbClr val="475569"/>
                          </a:solidFill>
                          <a:latin typeface="Segoe UI"/>
                        </a:rPr>
                        <a:t>Estimate</a:t>
                      </a:r>
                    </a:p>
                  </a:txBody>
                  <a:tcPr>
                    <a:solidFill>
                      <a:srgbClr val="FFFFFF"/>
                    </a:solidFill>
                  </a:tcPr>
                </a:tc>
                <a:tc>
                  <a:txBody>
                    <a:bodyPr/>
                    <a:lstStyle/>
                    <a:p>
                      <a:r>
                        <a:rPr sz="1100">
                          <a:solidFill>
                            <a:srgbClr val="475569"/>
                          </a:solidFill>
                          <a:latin typeface="Segoe UI"/>
                        </a:rPr>
                        <a:t>number</a:t>
                      </a:r>
                    </a:p>
                  </a:txBody>
                  <a:tcPr>
                    <a:solidFill>
                      <a:srgbClr val="FFFFFF"/>
                    </a:solidFill>
                  </a:tcPr>
                </a:tc>
                <a:tc>
                  <a:txBody>
                    <a:bodyPr/>
                    <a:lstStyle/>
                    <a:p>
                      <a:r>
                        <a:rPr sz="1100">
                          <a:solidFill>
                            <a:srgbClr val="475569"/>
                          </a:solidFill>
                          <a:latin typeface="Segoe UI"/>
                        </a:rPr>
                        <a:t>Days of effort</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BOARD</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dependency graph is generated, not drawn</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219456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It is a diagram widget backed by Mermaid source.</a:t>
            </a:r>
            <a:r>
              <a:rPr sz="1400">
                <a:solidFill>
                  <a:srgbClr val="475569"/>
                </a:solidFill>
                <a:latin typeface="Segoe UI"/>
              </a:rPr>
              <a:t>  The board stores the Mermaid text, so the graph is edited as code rather than by dragging boxes around.</a:t>
            </a:r>
          </a:p>
          <a:p>
            <a:pPr>
              <a:lnSpc>
                <a:spcPct val="115000"/>
              </a:lnSpc>
              <a:spcAft>
                <a:spcPts val="1000"/>
              </a:spcAft>
            </a:pPr>
            <a:r>
              <a:rPr sz="1400" b="1">
                <a:solidFill>
                  <a:srgbClr val="0F172A"/>
                </a:solidFill>
                <a:latin typeface="Segoe UI"/>
              </a:rPr>
              <a:t>Green is the critical path.</a:t>
            </a:r>
            <a:r>
              <a:rPr sz="1400">
                <a:solidFill>
                  <a:srgbClr val="475569"/>
                </a:solidFill>
                <a:latin typeface="Segoe UI"/>
              </a:rPr>
              <a:t>  #1, #3, #4, #6, #10, #12 — the chain that sets the length of the phase.</a:t>
            </a:r>
          </a:p>
          <a:p>
            <a:pPr>
              <a:lnSpc>
                <a:spcPct val="115000"/>
              </a:lnSpc>
              <a:spcAft>
                <a:spcPts val="1000"/>
              </a:spcAft>
            </a:pPr>
            <a:r>
              <a:rPr sz="1400" b="1">
                <a:solidFill>
                  <a:srgbClr val="0F172A"/>
                </a:solidFill>
                <a:latin typeface="Segoe UI"/>
              </a:rPr>
              <a:t>Editing means editing the source.</a:t>
            </a:r>
            <a:r>
              <a:rPr sz="1400">
                <a:solidFill>
                  <a:srgbClr val="475569"/>
                </a:solidFill>
                <a:latin typeface="Segoe UI"/>
              </a:rPr>
              <a:t>  Hand-moving nodes fights the renderer. Change the Mermaid and regenerate.</a:t>
            </a:r>
          </a:p>
        </p:txBody>
      </p:sp>
      <p:sp>
        <p:nvSpPr>
          <p:cNvPr id="6" name="Rounded Rectangle 5"/>
          <p:cNvSpPr/>
          <p:nvPr/>
        </p:nvSpPr>
        <p:spPr>
          <a:xfrm>
            <a:off x="777240" y="3931920"/>
            <a:ext cx="10515600" cy="1728216"/>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8408" y="4069080"/>
            <a:ext cx="1014984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THE SOURCE BEHIND THE GRAPH (ABRIDGED)</a:t>
            </a:r>
          </a:p>
        </p:txBody>
      </p:sp>
      <p:sp>
        <p:nvSpPr>
          <p:cNvPr id="8" name="TextBox 7"/>
          <p:cNvSpPr txBox="1"/>
          <p:nvPr/>
        </p:nvSpPr>
        <p:spPr>
          <a:xfrm>
            <a:off x="978408" y="4343400"/>
            <a:ext cx="10149840" cy="1453896"/>
          </a:xfrm>
          <a:prstGeom prst="rect">
            <a:avLst/>
          </a:prstGeom>
          <a:noFill/>
        </p:spPr>
        <p:txBody>
          <a:bodyPr wrap="square" lIns="0" rIns="0" tIns="0" bIns="0">
            <a:spAutoFit/>
          </a:bodyPr>
          <a:lstStyle/>
          <a:p>
            <a:pPr>
              <a:lnSpc>
                <a:spcPct val="100000"/>
              </a:lnSpc>
              <a:spcAft>
                <a:spcPts val="200"/>
              </a:spcAft>
            </a:pPr>
            <a:r>
              <a:rPr sz="1150">
                <a:solidFill>
                  <a:srgbClr val="E2E8F0"/>
                </a:solidFill>
                <a:latin typeface="Consolas"/>
              </a:rPr>
              <a:t>flowchart TD</a:t>
            </a:r>
          </a:p>
          <a:p>
            <a:pPr>
              <a:lnSpc>
                <a:spcPct val="100000"/>
              </a:lnSpc>
              <a:spcAft>
                <a:spcPts val="200"/>
              </a:spcAft>
            </a:pPr>
            <a:r>
              <a:rPr sz="1150">
                <a:solidFill>
                  <a:srgbClr val="E2E8F0"/>
                </a:solidFill>
                <a:latin typeface="Consolas"/>
              </a:rPr>
              <a:t>    classDef crit fill:#adf0c7,stroke:#087429</a:t>
            </a:r>
          </a:p>
          <a:p>
            <a:pPr>
              <a:lnSpc>
                <a:spcPct val="100000"/>
              </a:lnSpc>
              <a:spcAft>
                <a:spcPts val="200"/>
              </a:spcAft>
            </a:pPr>
            <a:r>
              <a:rPr sz="1150">
                <a:solidFill>
                  <a:srgbClr val="E2E8F0"/>
                </a:solidFill>
                <a:latin typeface="Consolas"/>
              </a:rPr>
              <a:t>    I1[#1 Scaffold] --&gt; I3[#3 CDK] --&gt; I4[#4 Registry]</a:t>
            </a:r>
          </a:p>
          <a:p>
            <a:pPr>
              <a:lnSpc>
                <a:spcPct val="100000"/>
              </a:lnSpc>
              <a:spcAft>
                <a:spcPts val="200"/>
              </a:spcAft>
            </a:pPr>
            <a:r>
              <a:rPr sz="1150">
                <a:solidFill>
                  <a:srgbClr val="E2E8F0"/>
                </a:solidFill>
                <a:latin typeface="Consolas"/>
              </a:rPr>
              <a:t>    I4 --&gt; I6[#6 Search] --&gt; I10[#10 Eval] --&gt; I12[#12 Findings]</a:t>
            </a:r>
          </a:p>
          <a:p>
            <a:pPr>
              <a:lnSpc>
                <a:spcPct val="100000"/>
              </a:lnSpc>
              <a:spcAft>
                <a:spcPts val="200"/>
              </a:spcAft>
            </a:pPr>
            <a:r>
              <a:rPr sz="1150">
                <a:solidFill>
                  <a:srgbClr val="E2E8F0"/>
                </a:solidFill>
                <a:latin typeface="Consolas"/>
              </a:rPr>
              <a:t>    I4 --&gt; I9[#9 Seed tools] --&gt; I10</a:t>
            </a:r>
          </a:p>
          <a:p>
            <a:pPr>
              <a:lnSpc>
                <a:spcPct val="100000"/>
              </a:lnSpc>
              <a:spcAft>
                <a:spcPts val="200"/>
              </a:spcAft>
            </a:pPr>
            <a:r>
              <a:rPr sz="1150">
                <a:solidFill>
                  <a:srgbClr val="E2E8F0"/>
                </a:solidFill>
                <a:latin typeface="Consolas"/>
              </a:rPr>
              <a:t>    class I1,I3,I4,I6,I10,I12 crit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468880"/>
            <a:ext cx="10058400" cy="320040"/>
          </a:xfrm>
          <a:prstGeom prst="rect">
            <a:avLst/>
          </a:prstGeom>
          <a:noFill/>
        </p:spPr>
        <p:txBody>
          <a:bodyPr wrap="square" lIns="0" rIns="0" tIns="0" bIns="0">
            <a:spAutoFit/>
          </a:bodyPr>
          <a:lstStyle/>
          <a:p>
            <a:pPr algn="l">
              <a:lnSpc>
                <a:spcPct val="100000"/>
              </a:lnSpc>
            </a:pPr>
            <a:r>
              <a:rPr sz="1300" b="1">
                <a:solidFill>
                  <a:srgbClr val="ED7100"/>
                </a:solidFill>
                <a:latin typeface="Segoe UI"/>
              </a:rPr>
              <a:t>PART TWO</a:t>
            </a:r>
          </a:p>
        </p:txBody>
      </p:sp>
      <p:sp>
        <p:nvSpPr>
          <p:cNvPr id="4" name="TextBox 3"/>
          <p:cNvSpPr txBox="1"/>
          <p:nvPr/>
        </p:nvSpPr>
        <p:spPr>
          <a:xfrm>
            <a:off x="1005840" y="2880360"/>
            <a:ext cx="10241280" cy="822960"/>
          </a:xfrm>
          <a:prstGeom prst="rect">
            <a:avLst/>
          </a:prstGeom>
          <a:noFill/>
        </p:spPr>
        <p:txBody>
          <a:bodyPr wrap="square" lIns="0" rIns="0" tIns="0" bIns="0">
            <a:spAutoFit/>
          </a:bodyPr>
          <a:lstStyle/>
          <a:p>
            <a:pPr algn="l">
              <a:lnSpc>
                <a:spcPct val="100000"/>
              </a:lnSpc>
            </a:pPr>
            <a:r>
              <a:rPr sz="4000" b="1">
                <a:solidFill>
                  <a:srgbClr val="FFFFFF"/>
                </a:solidFill>
                <a:latin typeface="Segoe UI"/>
              </a:rPr>
              <a:t>The architecture</a:t>
            </a:r>
          </a:p>
        </p:txBody>
      </p:sp>
      <p:sp>
        <p:nvSpPr>
          <p:cNvPr id="5" name="TextBox 4"/>
          <p:cNvSpPr txBox="1"/>
          <p:nvPr/>
        </p:nvSpPr>
        <p:spPr>
          <a:xfrm>
            <a:off x="1005840" y="3931920"/>
            <a:ext cx="8961120" cy="822960"/>
          </a:xfrm>
          <a:prstGeom prst="rect">
            <a:avLst/>
          </a:prstGeom>
          <a:noFill/>
        </p:spPr>
        <p:txBody>
          <a:bodyPr wrap="square" lIns="0" rIns="0" tIns="0" bIns="0">
            <a:spAutoFit/>
          </a:bodyPr>
          <a:lstStyle/>
          <a:p>
            <a:pPr algn="l">
              <a:lnSpc>
                <a:spcPct val="120000"/>
              </a:lnSpc>
            </a:pPr>
            <a:r>
              <a:rPr sz="1600" b="0">
                <a:solidFill>
                  <a:srgbClr val="94A3B8"/>
                </a:solidFill>
                <a:latin typeface="Segoe UI"/>
              </a:rPr>
              <a:t>What runs, what it costs, and which decisions were deliberate.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ARCHITECTURE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AWS free-tier architecture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Every box sits inside an always-free monthly limit, except the green one.</a:t>
            </a:r>
          </a:p>
        </p:txBody>
      </p:sp>
      <p:sp>
        <p:nvSpPr>
          <p:cNvPr id="6" name="Rounded Rectangle 5"/>
          <p:cNvSpPr/>
          <p:nvPr/>
        </p:nvSpPr>
        <p:spPr>
          <a:xfrm>
            <a:off x="777240" y="3310128"/>
            <a:ext cx="1828800" cy="777240"/>
          </a:xfrm>
          <a:prstGeom prst="roundRect">
            <a:avLst/>
          </a:prstGeom>
          <a:solidFill>
            <a:srgbClr val="FFFFFF"/>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client.png"/>
          <p:cNvPicPr>
            <a:picLocks noChangeAspect="1"/>
          </p:cNvPicPr>
          <p:nvPr/>
        </p:nvPicPr>
        <p:blipFill>
          <a:blip r:embed="rId2"/>
          <a:stretch>
            <a:fillRect/>
          </a:stretch>
        </p:blipFill>
        <p:spPr>
          <a:xfrm>
            <a:off x="905256" y="3447288"/>
            <a:ext cx="420624" cy="420624"/>
          </a:xfrm>
          <a:prstGeom prst="rect">
            <a:avLst/>
          </a:prstGeom>
        </p:spPr>
      </p:pic>
      <p:sp>
        <p:nvSpPr>
          <p:cNvPr id="8" name="TextBox 7"/>
          <p:cNvSpPr txBox="1"/>
          <p:nvPr/>
        </p:nvSpPr>
        <p:spPr>
          <a:xfrm>
            <a:off x="1472184" y="3447288"/>
            <a:ext cx="102412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Agent / CLI</a:t>
            </a:r>
          </a:p>
        </p:txBody>
      </p:sp>
      <p:sp>
        <p:nvSpPr>
          <p:cNvPr id="9" name="TextBox 8"/>
          <p:cNvSpPr txBox="1"/>
          <p:nvPr/>
        </p:nvSpPr>
        <p:spPr>
          <a:xfrm>
            <a:off x="1472184" y="3712464"/>
            <a:ext cx="102412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the caller</a:t>
            </a:r>
          </a:p>
        </p:txBody>
      </p:sp>
      <p:sp>
        <p:nvSpPr>
          <p:cNvPr id="10" name="Right Arrow 9"/>
          <p:cNvSpPr/>
          <p:nvPr/>
        </p:nvSpPr>
        <p:spPr>
          <a:xfrm>
            <a:off x="2743200" y="3630168"/>
            <a:ext cx="365760" cy="256032"/>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6120" y="2304288"/>
            <a:ext cx="3291840" cy="228600"/>
          </a:xfrm>
          <a:prstGeom prst="rect">
            <a:avLst/>
          </a:prstGeom>
          <a:noFill/>
        </p:spPr>
        <p:txBody>
          <a:bodyPr wrap="square" lIns="0" rIns="0" tIns="0" bIns="0">
            <a:spAutoFit/>
          </a:bodyPr>
          <a:lstStyle/>
          <a:p>
            <a:pPr algn="l">
              <a:lnSpc>
                <a:spcPct val="100000"/>
              </a:lnSpc>
            </a:pPr>
            <a:r>
              <a:rPr sz="950" b="1">
                <a:solidFill>
                  <a:srgbClr val="ED7100"/>
                </a:solidFill>
                <a:latin typeface="Segoe UI"/>
              </a:rPr>
              <a:t>COMPUTE — LAMBDA FUNCTION URLS</a:t>
            </a:r>
          </a:p>
        </p:txBody>
      </p:sp>
      <p:sp>
        <p:nvSpPr>
          <p:cNvPr id="12" name="Rounded Rectangle 11"/>
          <p:cNvSpPr/>
          <p:nvPr/>
        </p:nvSpPr>
        <p:spPr>
          <a:xfrm>
            <a:off x="3200400" y="2578608"/>
            <a:ext cx="3017520" cy="749808"/>
          </a:xfrm>
          <a:prstGeom prst="roundRect">
            <a:avLst/>
          </a:prstGeom>
          <a:solidFill>
            <a:srgbClr val="FFFFFF"/>
          </a:solidFill>
          <a:ln w="19050">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ambda.png"/>
          <p:cNvPicPr>
            <a:picLocks noChangeAspect="1"/>
          </p:cNvPicPr>
          <p:nvPr/>
        </p:nvPicPr>
        <p:blipFill>
          <a:blip r:embed="rId3"/>
          <a:stretch>
            <a:fillRect/>
          </a:stretch>
        </p:blipFill>
        <p:spPr>
          <a:xfrm>
            <a:off x="3328416" y="2715768"/>
            <a:ext cx="420624" cy="420624"/>
          </a:xfrm>
          <a:prstGeom prst="rect">
            <a:avLst/>
          </a:prstGeom>
        </p:spPr>
      </p:pic>
      <p:sp>
        <p:nvSpPr>
          <p:cNvPr id="14" name="TextBox 13"/>
          <p:cNvSpPr txBox="1"/>
          <p:nvPr/>
        </p:nvSpPr>
        <p:spPr>
          <a:xfrm>
            <a:off x="3895344" y="2715768"/>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registry-fn</a:t>
            </a:r>
          </a:p>
        </p:txBody>
      </p:sp>
      <p:sp>
        <p:nvSpPr>
          <p:cNvPr id="15" name="TextBox 14"/>
          <p:cNvSpPr txBox="1"/>
          <p:nvPr/>
        </p:nvSpPr>
        <p:spPr>
          <a:xfrm>
            <a:off x="3895344" y="2980944"/>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tool CRUD, immutable versions</a:t>
            </a:r>
          </a:p>
        </p:txBody>
      </p:sp>
      <p:sp>
        <p:nvSpPr>
          <p:cNvPr id="16" name="Rounded Rectangle 15"/>
          <p:cNvSpPr/>
          <p:nvPr/>
        </p:nvSpPr>
        <p:spPr>
          <a:xfrm>
            <a:off x="3200400" y="3419856"/>
            <a:ext cx="3017520" cy="749808"/>
          </a:xfrm>
          <a:prstGeom prst="roundRect">
            <a:avLst/>
          </a:prstGeom>
          <a:solidFill>
            <a:srgbClr val="FFFFFF"/>
          </a:solidFill>
          <a:ln w="19050">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ambda.png"/>
          <p:cNvPicPr>
            <a:picLocks noChangeAspect="1"/>
          </p:cNvPicPr>
          <p:nvPr/>
        </p:nvPicPr>
        <p:blipFill>
          <a:blip r:embed="rId3"/>
          <a:stretch>
            <a:fillRect/>
          </a:stretch>
        </p:blipFill>
        <p:spPr>
          <a:xfrm>
            <a:off x="3328416" y="3557016"/>
            <a:ext cx="420624" cy="420624"/>
          </a:xfrm>
          <a:prstGeom prst="rect">
            <a:avLst/>
          </a:prstGeom>
        </p:spPr>
      </p:pic>
      <p:sp>
        <p:nvSpPr>
          <p:cNvPr id="18" name="TextBox 17"/>
          <p:cNvSpPr txBox="1"/>
          <p:nvPr/>
        </p:nvSpPr>
        <p:spPr>
          <a:xfrm>
            <a:off x="3895344" y="3557016"/>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search-fn</a:t>
            </a:r>
          </a:p>
        </p:txBody>
      </p:sp>
      <p:sp>
        <p:nvSpPr>
          <p:cNvPr id="19" name="TextBox 18"/>
          <p:cNvSpPr txBox="1"/>
          <p:nvPr/>
        </p:nvSpPr>
        <p:spPr>
          <a:xfrm>
            <a:off x="3895344" y="3822192"/>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embed, cosine rank, gap check</a:t>
            </a:r>
          </a:p>
        </p:txBody>
      </p:sp>
      <p:sp>
        <p:nvSpPr>
          <p:cNvPr id="20" name="Rounded Rectangle 19"/>
          <p:cNvSpPr/>
          <p:nvPr/>
        </p:nvSpPr>
        <p:spPr>
          <a:xfrm>
            <a:off x="3200400" y="4261104"/>
            <a:ext cx="3017520" cy="749808"/>
          </a:xfrm>
          <a:prstGeom prst="roundRect">
            <a:avLst/>
          </a:prstGeom>
          <a:solidFill>
            <a:srgbClr val="FFFFFF"/>
          </a:solidFill>
          <a:ln w="19050">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ambda.png"/>
          <p:cNvPicPr>
            <a:picLocks noChangeAspect="1"/>
          </p:cNvPicPr>
          <p:nvPr/>
        </p:nvPicPr>
        <p:blipFill>
          <a:blip r:embed="rId3"/>
          <a:stretch>
            <a:fillRect/>
          </a:stretch>
        </p:blipFill>
        <p:spPr>
          <a:xfrm>
            <a:off x="3328416" y="4398264"/>
            <a:ext cx="420624" cy="420624"/>
          </a:xfrm>
          <a:prstGeom prst="rect">
            <a:avLst/>
          </a:prstGeom>
        </p:spPr>
      </p:pic>
      <p:sp>
        <p:nvSpPr>
          <p:cNvPr id="22" name="TextBox 21"/>
          <p:cNvSpPr txBox="1"/>
          <p:nvPr/>
        </p:nvSpPr>
        <p:spPr>
          <a:xfrm>
            <a:off x="3895344" y="4398264"/>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events-fn</a:t>
            </a:r>
          </a:p>
        </p:txBody>
      </p:sp>
      <p:sp>
        <p:nvSpPr>
          <p:cNvPr id="23" name="TextBox 22"/>
          <p:cNvSpPr txBox="1"/>
          <p:nvPr/>
        </p:nvSpPr>
        <p:spPr>
          <a:xfrm>
            <a:off x="3895344" y="4663440"/>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append-only writer</a:t>
            </a:r>
          </a:p>
        </p:txBody>
      </p:sp>
      <p:sp>
        <p:nvSpPr>
          <p:cNvPr id="24" name="Right Arrow 23"/>
          <p:cNvSpPr/>
          <p:nvPr/>
        </p:nvSpPr>
        <p:spPr>
          <a:xfrm>
            <a:off x="6355080" y="3630168"/>
            <a:ext cx="365760" cy="256032"/>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20" y="2304288"/>
            <a:ext cx="3291840" cy="228600"/>
          </a:xfrm>
          <a:prstGeom prst="rect">
            <a:avLst/>
          </a:prstGeom>
          <a:noFill/>
        </p:spPr>
        <p:txBody>
          <a:bodyPr wrap="square" lIns="0" rIns="0" tIns="0" bIns="0">
            <a:spAutoFit/>
          </a:bodyPr>
          <a:lstStyle/>
          <a:p>
            <a:pPr algn="l">
              <a:lnSpc>
                <a:spcPct val="100000"/>
              </a:lnSpc>
            </a:pPr>
            <a:r>
              <a:rPr sz="950" b="1">
                <a:solidFill>
                  <a:srgbClr val="C925D1"/>
                </a:solidFill>
                <a:latin typeface="Segoe UI"/>
              </a:rPr>
              <a:t>STORAGE — DYNAMODB (PROVISIONED)</a:t>
            </a:r>
          </a:p>
        </p:txBody>
      </p:sp>
      <p:sp>
        <p:nvSpPr>
          <p:cNvPr id="26" name="Rounded Rectangle 25"/>
          <p:cNvSpPr/>
          <p:nvPr/>
        </p:nvSpPr>
        <p:spPr>
          <a:xfrm>
            <a:off x="6858000" y="2578608"/>
            <a:ext cx="3017520" cy="749808"/>
          </a:xfrm>
          <a:prstGeom prst="roundRect">
            <a:avLst/>
          </a:prstGeom>
          <a:solidFill>
            <a:srgbClr val="FFFFFF"/>
          </a:solidFill>
          <a:ln w="19050">
            <a:solidFill>
              <a:srgbClr val="C925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dynamodb.png"/>
          <p:cNvPicPr>
            <a:picLocks noChangeAspect="1"/>
          </p:cNvPicPr>
          <p:nvPr/>
        </p:nvPicPr>
        <p:blipFill>
          <a:blip r:embed="rId4"/>
          <a:stretch>
            <a:fillRect/>
          </a:stretch>
        </p:blipFill>
        <p:spPr>
          <a:xfrm>
            <a:off x="6986016" y="2715768"/>
            <a:ext cx="420624" cy="420624"/>
          </a:xfrm>
          <a:prstGeom prst="rect">
            <a:avLst/>
          </a:prstGeom>
        </p:spPr>
      </p:pic>
      <p:sp>
        <p:nvSpPr>
          <p:cNvPr id="28" name="TextBox 27"/>
          <p:cNvSpPr txBox="1"/>
          <p:nvPr/>
        </p:nvSpPr>
        <p:spPr>
          <a:xfrm>
            <a:off x="7552944" y="2715768"/>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tools</a:t>
            </a:r>
          </a:p>
        </p:txBody>
      </p:sp>
      <p:sp>
        <p:nvSpPr>
          <p:cNvPr id="29" name="TextBox 28"/>
          <p:cNvSpPr txBox="1"/>
          <p:nvPr/>
        </p:nvSpPr>
        <p:spPr>
          <a:xfrm>
            <a:off x="7552944" y="2980944"/>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PK tool_id / SK version</a:t>
            </a:r>
          </a:p>
        </p:txBody>
      </p:sp>
      <p:sp>
        <p:nvSpPr>
          <p:cNvPr id="30" name="Rounded Rectangle 29"/>
          <p:cNvSpPr/>
          <p:nvPr/>
        </p:nvSpPr>
        <p:spPr>
          <a:xfrm>
            <a:off x="6858000" y="3419856"/>
            <a:ext cx="3017520" cy="749808"/>
          </a:xfrm>
          <a:prstGeom prst="roundRect">
            <a:avLst/>
          </a:prstGeom>
          <a:solidFill>
            <a:srgbClr val="FFFFFF"/>
          </a:solidFill>
          <a:ln w="19050">
            <a:solidFill>
              <a:srgbClr val="C925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dynamodb.png"/>
          <p:cNvPicPr>
            <a:picLocks noChangeAspect="1"/>
          </p:cNvPicPr>
          <p:nvPr/>
        </p:nvPicPr>
        <p:blipFill>
          <a:blip r:embed="rId4"/>
          <a:stretch>
            <a:fillRect/>
          </a:stretch>
        </p:blipFill>
        <p:spPr>
          <a:xfrm>
            <a:off x="6986016" y="3557016"/>
            <a:ext cx="420624" cy="420624"/>
          </a:xfrm>
          <a:prstGeom prst="rect">
            <a:avLst/>
          </a:prstGeom>
        </p:spPr>
      </p:pic>
      <p:sp>
        <p:nvSpPr>
          <p:cNvPr id="32" name="TextBox 31"/>
          <p:cNvSpPr txBox="1"/>
          <p:nvPr/>
        </p:nvSpPr>
        <p:spPr>
          <a:xfrm>
            <a:off x="7552944" y="3557016"/>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events</a:t>
            </a:r>
          </a:p>
        </p:txBody>
      </p:sp>
      <p:sp>
        <p:nvSpPr>
          <p:cNvPr id="33" name="TextBox 32"/>
          <p:cNvSpPr txBox="1"/>
          <p:nvPr/>
        </p:nvSpPr>
        <p:spPr>
          <a:xfrm>
            <a:off x="7552944" y="3822192"/>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append-only, provenance</a:t>
            </a:r>
          </a:p>
        </p:txBody>
      </p:sp>
      <p:sp>
        <p:nvSpPr>
          <p:cNvPr id="34" name="Rounded Rectangle 33"/>
          <p:cNvSpPr/>
          <p:nvPr/>
        </p:nvSpPr>
        <p:spPr>
          <a:xfrm>
            <a:off x="6858000" y="4261104"/>
            <a:ext cx="3017520" cy="749808"/>
          </a:xfrm>
          <a:prstGeom prst="roundRect">
            <a:avLst/>
          </a:prstGeom>
          <a:solidFill>
            <a:srgbClr val="FFFFFF"/>
          </a:solidFill>
          <a:ln w="19050">
            <a:solidFill>
              <a:srgbClr val="C925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dynamodb.png"/>
          <p:cNvPicPr>
            <a:picLocks noChangeAspect="1"/>
          </p:cNvPicPr>
          <p:nvPr/>
        </p:nvPicPr>
        <p:blipFill>
          <a:blip r:embed="rId4"/>
          <a:stretch>
            <a:fillRect/>
          </a:stretch>
        </p:blipFill>
        <p:spPr>
          <a:xfrm>
            <a:off x="6986016" y="4398264"/>
            <a:ext cx="420624" cy="420624"/>
          </a:xfrm>
          <a:prstGeom prst="rect">
            <a:avLst/>
          </a:prstGeom>
        </p:spPr>
      </p:pic>
      <p:sp>
        <p:nvSpPr>
          <p:cNvPr id="36" name="TextBox 35"/>
          <p:cNvSpPr txBox="1"/>
          <p:nvPr/>
        </p:nvSpPr>
        <p:spPr>
          <a:xfrm>
            <a:off x="7552944" y="4398264"/>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gaps</a:t>
            </a:r>
          </a:p>
        </p:txBody>
      </p:sp>
      <p:sp>
        <p:nvSpPr>
          <p:cNvPr id="37" name="TextBox 36"/>
          <p:cNvSpPr txBox="1"/>
          <p:nvPr/>
        </p:nvSpPr>
        <p:spPr>
          <a:xfrm>
            <a:off x="7552944" y="4663440"/>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append-only, provenance</a:t>
            </a:r>
          </a:p>
        </p:txBody>
      </p:sp>
      <p:sp>
        <p:nvSpPr>
          <p:cNvPr id="38" name="Rounded Rectangle 37"/>
          <p:cNvSpPr/>
          <p:nvPr/>
        </p:nvSpPr>
        <p:spPr>
          <a:xfrm>
            <a:off x="10012680" y="3419856"/>
            <a:ext cx="1828800" cy="749808"/>
          </a:xfrm>
          <a:prstGeom prst="roundRect">
            <a:avLst/>
          </a:prstGeom>
          <a:solidFill>
            <a:srgbClr val="FFFFFF"/>
          </a:solidFill>
          <a:ln w="19050">
            <a:solidFill>
              <a:srgbClr val="01A8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bedrock.png"/>
          <p:cNvPicPr>
            <a:picLocks noChangeAspect="1"/>
          </p:cNvPicPr>
          <p:nvPr/>
        </p:nvPicPr>
        <p:blipFill>
          <a:blip r:embed="rId5"/>
          <a:stretch>
            <a:fillRect/>
          </a:stretch>
        </p:blipFill>
        <p:spPr>
          <a:xfrm>
            <a:off x="10140696" y="3557016"/>
            <a:ext cx="420624" cy="420624"/>
          </a:xfrm>
          <a:prstGeom prst="rect">
            <a:avLst/>
          </a:prstGeom>
        </p:spPr>
      </p:pic>
      <p:sp>
        <p:nvSpPr>
          <p:cNvPr id="40" name="TextBox 39"/>
          <p:cNvSpPr txBox="1"/>
          <p:nvPr/>
        </p:nvSpPr>
        <p:spPr>
          <a:xfrm>
            <a:off x="10707624" y="3557016"/>
            <a:ext cx="102412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Bedrock</a:t>
            </a:r>
          </a:p>
        </p:txBody>
      </p:sp>
      <p:sp>
        <p:nvSpPr>
          <p:cNvPr id="41" name="TextBox 40"/>
          <p:cNvSpPr txBox="1"/>
          <p:nvPr/>
        </p:nvSpPr>
        <p:spPr>
          <a:xfrm>
            <a:off x="10707624" y="3822192"/>
            <a:ext cx="102412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Titan Embed V2</a:t>
            </a:r>
          </a:p>
        </p:txBody>
      </p:sp>
      <p:sp>
        <p:nvSpPr>
          <p:cNvPr id="42" name="TextBox 41"/>
          <p:cNvSpPr txBox="1"/>
          <p:nvPr/>
        </p:nvSpPr>
        <p:spPr>
          <a:xfrm>
            <a:off x="10012680" y="4224528"/>
            <a:ext cx="1920240" cy="274320"/>
          </a:xfrm>
          <a:prstGeom prst="rect">
            <a:avLst/>
          </a:prstGeom>
          <a:noFill/>
        </p:spPr>
        <p:txBody>
          <a:bodyPr wrap="square" lIns="0" rIns="0" tIns="0" bIns="0">
            <a:spAutoFit/>
          </a:bodyPr>
          <a:lstStyle/>
          <a:p>
            <a:pPr algn="l">
              <a:lnSpc>
                <a:spcPct val="100000"/>
              </a:lnSpc>
            </a:pPr>
            <a:r>
              <a:rPr sz="900" b="1">
                <a:solidFill>
                  <a:srgbClr val="01A88D"/>
                </a:solidFill>
                <a:latin typeface="Segoe UI"/>
              </a:rPr>
              <a:t>ONLY PAID COMPONENT</a:t>
            </a:r>
          </a:p>
        </p:txBody>
      </p:sp>
      <p:sp>
        <p:nvSpPr>
          <p:cNvPr id="43" name="Rounded Rectangle 42"/>
          <p:cNvSpPr/>
          <p:nvPr/>
        </p:nvSpPr>
        <p:spPr>
          <a:xfrm>
            <a:off x="3200400" y="5184648"/>
            <a:ext cx="3017520" cy="731520"/>
          </a:xfrm>
          <a:prstGeom prst="roundRect">
            <a:avLst/>
          </a:prstGeom>
          <a:solidFill>
            <a:srgbClr val="FFFFFF"/>
          </a:solidFill>
          <a:ln w="19050">
            <a:solidFill>
              <a:srgbClr val="7AA11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s3.png"/>
          <p:cNvPicPr>
            <a:picLocks noChangeAspect="1"/>
          </p:cNvPicPr>
          <p:nvPr/>
        </p:nvPicPr>
        <p:blipFill>
          <a:blip r:embed="rId6"/>
          <a:stretch>
            <a:fillRect/>
          </a:stretch>
        </p:blipFill>
        <p:spPr>
          <a:xfrm>
            <a:off x="3328416" y="5321808"/>
            <a:ext cx="420624" cy="420624"/>
          </a:xfrm>
          <a:prstGeom prst="rect">
            <a:avLst/>
          </a:prstGeom>
        </p:spPr>
      </p:pic>
      <p:sp>
        <p:nvSpPr>
          <p:cNvPr id="45" name="TextBox 44"/>
          <p:cNvSpPr txBox="1"/>
          <p:nvPr/>
        </p:nvSpPr>
        <p:spPr>
          <a:xfrm>
            <a:off x="3895344" y="5321808"/>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S3</a:t>
            </a:r>
          </a:p>
        </p:txBody>
      </p:sp>
      <p:sp>
        <p:nvSpPr>
          <p:cNvPr id="46" name="TextBox 45"/>
          <p:cNvSpPr txBox="1"/>
          <p:nvPr/>
        </p:nvSpPr>
        <p:spPr>
          <a:xfrm>
            <a:off x="3895344" y="5586984"/>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vector snapshots, warm start</a:t>
            </a:r>
          </a:p>
        </p:txBody>
      </p:sp>
      <p:sp>
        <p:nvSpPr>
          <p:cNvPr id="47" name="Rounded Rectangle 46"/>
          <p:cNvSpPr/>
          <p:nvPr/>
        </p:nvSpPr>
        <p:spPr>
          <a:xfrm>
            <a:off x="6858000" y="5184648"/>
            <a:ext cx="3017520" cy="731520"/>
          </a:xfrm>
          <a:prstGeom prst="roundRect">
            <a:avLst/>
          </a:prstGeom>
          <a:solidFill>
            <a:srgbClr val="FFFFFF"/>
          </a:solidFill>
          <a:ln w="19050">
            <a:solidFill>
              <a:srgbClr val="E7157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cloudwatch.png"/>
          <p:cNvPicPr>
            <a:picLocks noChangeAspect="1"/>
          </p:cNvPicPr>
          <p:nvPr/>
        </p:nvPicPr>
        <p:blipFill>
          <a:blip r:embed="rId7"/>
          <a:stretch>
            <a:fillRect/>
          </a:stretch>
        </p:blipFill>
        <p:spPr>
          <a:xfrm>
            <a:off x="6986016" y="5321808"/>
            <a:ext cx="420624" cy="420624"/>
          </a:xfrm>
          <a:prstGeom prst="rect">
            <a:avLst/>
          </a:prstGeom>
        </p:spPr>
      </p:pic>
      <p:sp>
        <p:nvSpPr>
          <p:cNvPr id="49" name="TextBox 48"/>
          <p:cNvSpPr txBox="1"/>
          <p:nvPr/>
        </p:nvSpPr>
        <p:spPr>
          <a:xfrm>
            <a:off x="7552944" y="5321808"/>
            <a:ext cx="2212848" cy="256032"/>
          </a:xfrm>
          <a:prstGeom prst="rect">
            <a:avLst/>
          </a:prstGeom>
          <a:noFill/>
        </p:spPr>
        <p:txBody>
          <a:bodyPr wrap="square" lIns="0" rIns="0" tIns="0" bIns="0">
            <a:spAutoFit/>
          </a:bodyPr>
          <a:lstStyle/>
          <a:p>
            <a:pPr algn="l">
              <a:lnSpc>
                <a:spcPct val="100000"/>
              </a:lnSpc>
            </a:pPr>
            <a:r>
              <a:rPr sz="1250" b="1">
                <a:solidFill>
                  <a:srgbClr val="0F172A"/>
                </a:solidFill>
                <a:latin typeface="Segoe UI"/>
              </a:rPr>
              <a:t>CloudWatch</a:t>
            </a:r>
          </a:p>
        </p:txBody>
      </p:sp>
      <p:sp>
        <p:nvSpPr>
          <p:cNvPr id="50" name="TextBox 49"/>
          <p:cNvSpPr txBox="1"/>
          <p:nvPr/>
        </p:nvSpPr>
        <p:spPr>
          <a:xfrm>
            <a:off x="7552944" y="5586984"/>
            <a:ext cx="2212848" cy="457200"/>
          </a:xfrm>
          <a:prstGeom prst="rect">
            <a:avLst/>
          </a:prstGeom>
          <a:noFill/>
        </p:spPr>
        <p:txBody>
          <a:bodyPr wrap="square" lIns="0" rIns="0" tIns="0" bIns="0">
            <a:spAutoFit/>
          </a:bodyPr>
          <a:lstStyle/>
          <a:p>
            <a:pPr algn="l">
              <a:lnSpc>
                <a:spcPct val="105000"/>
              </a:lnSpc>
            </a:pPr>
            <a:r>
              <a:rPr sz="1000" b="0">
                <a:solidFill>
                  <a:srgbClr val="475569"/>
                </a:solidFill>
                <a:latin typeface="Segoe UI"/>
              </a:rPr>
              <a:t>logs and the $5 billing alarm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ARCHITECTURE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request path, step by step</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783080"/>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1</a:t>
            </a:r>
          </a:p>
        </p:txBody>
      </p:sp>
      <p:sp>
        <p:nvSpPr>
          <p:cNvPr id="6" name="TextBox 5"/>
          <p:cNvSpPr txBox="1"/>
          <p:nvPr/>
        </p:nvSpPr>
        <p:spPr>
          <a:xfrm>
            <a:off x="1252728" y="1801368"/>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Caller asks.</a:t>
            </a:r>
            <a:r>
              <a:rPr sz="1400">
                <a:solidFill>
                  <a:srgbClr val="475569"/>
                </a:solidFill>
                <a:latin typeface="Segoe UI"/>
              </a:rPr>
              <a:t>  An agent or the CLI posts a natural-language query to the search-fn Lambda Function URL.</a:t>
            </a:r>
          </a:p>
        </p:txBody>
      </p:sp>
      <p:sp>
        <p:nvSpPr>
          <p:cNvPr id="7" name="Oval 6"/>
          <p:cNvSpPr/>
          <p:nvPr/>
        </p:nvSpPr>
        <p:spPr>
          <a:xfrm>
            <a:off x="777240" y="2441448"/>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2</a:t>
            </a:r>
          </a:p>
        </p:txBody>
      </p:sp>
      <p:sp>
        <p:nvSpPr>
          <p:cNvPr id="8" name="TextBox 7"/>
          <p:cNvSpPr txBox="1"/>
          <p:nvPr/>
        </p:nvSpPr>
        <p:spPr>
          <a:xfrm>
            <a:off x="1252728" y="2459736"/>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Query is embedded.</a:t>
            </a:r>
            <a:r>
              <a:rPr sz="1400">
                <a:solidFill>
                  <a:srgbClr val="475569"/>
                </a:solidFill>
                <a:latin typeface="Segoe UI"/>
              </a:rPr>
              <a:t>  search-fn calls Bedrock Titan Embeddings V2 and gets a 1024-dimension vector. The only call that costs money.</a:t>
            </a:r>
          </a:p>
        </p:txBody>
      </p:sp>
      <p:sp>
        <p:nvSpPr>
          <p:cNvPr id="9" name="Oval 8"/>
          <p:cNvSpPr/>
          <p:nvPr/>
        </p:nvSpPr>
        <p:spPr>
          <a:xfrm>
            <a:off x="777240" y="3099815"/>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3</a:t>
            </a:r>
          </a:p>
        </p:txBody>
      </p:sp>
      <p:sp>
        <p:nvSpPr>
          <p:cNvPr id="10" name="TextBox 9"/>
          <p:cNvSpPr txBox="1"/>
          <p:nvPr/>
        </p:nvSpPr>
        <p:spPr>
          <a:xfrm>
            <a:off x="1252728" y="3118103"/>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Ranking happens in memory.</a:t>
            </a:r>
            <a:r>
              <a:rPr sz="1400">
                <a:solidFill>
                  <a:srgbClr val="475569"/>
                </a:solidFill>
                <a:latin typeface="Segoe UI"/>
              </a:rPr>
              <a:t>  Tool vectors were loaded at cold start and cached in module scope. Cosine over ~20 vectors is sub-millisecond.</a:t>
            </a:r>
          </a:p>
        </p:txBody>
      </p:sp>
      <p:sp>
        <p:nvSpPr>
          <p:cNvPr id="11" name="Oval 10"/>
          <p:cNvSpPr/>
          <p:nvPr/>
        </p:nvSpPr>
        <p:spPr>
          <a:xfrm>
            <a:off x="777240" y="3758183"/>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4</a:t>
            </a:r>
          </a:p>
        </p:txBody>
      </p:sp>
      <p:sp>
        <p:nvSpPr>
          <p:cNvPr id="12" name="TextBox 11"/>
          <p:cNvSpPr txBox="1"/>
          <p:nvPr/>
        </p:nvSpPr>
        <p:spPr>
          <a:xfrm>
            <a:off x="1252728" y="3776471"/>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An event is written, always.</a:t>
            </a:r>
            <a:r>
              <a:rPr sz="1400">
                <a:solidFill>
                  <a:srgbClr val="475569"/>
                </a:solidFill>
                <a:latin typeface="Segoe UI"/>
              </a:rPr>
              <a:t>  Success or failure, an event carrying agent id and session id is appended before the response returns.</a:t>
            </a:r>
          </a:p>
        </p:txBody>
      </p:sp>
      <p:sp>
        <p:nvSpPr>
          <p:cNvPr id="13" name="Oval 12"/>
          <p:cNvSpPr/>
          <p:nvPr/>
        </p:nvSpPr>
        <p:spPr>
          <a:xfrm>
            <a:off x="777240" y="4416551"/>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5</a:t>
            </a:r>
          </a:p>
        </p:txBody>
      </p:sp>
      <p:sp>
        <p:nvSpPr>
          <p:cNvPr id="14" name="TextBox 13"/>
          <p:cNvSpPr txBox="1"/>
          <p:nvPr/>
        </p:nvSpPr>
        <p:spPr>
          <a:xfrm>
            <a:off x="1252728" y="4434839"/>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A gap is logged, conditionally.</a:t>
            </a:r>
            <a:r>
              <a:rPr sz="1400">
                <a:solidFill>
                  <a:srgbClr val="475569"/>
                </a:solidFill>
                <a:latin typeface="Segoe UI"/>
              </a:rPr>
              <a:t>  If the top score is below threshold T, or the caller rejects every result, a gap is appended with the full top-k and the value of T in force.</a:t>
            </a:r>
          </a:p>
        </p:txBody>
      </p:sp>
      <p:sp>
        <p:nvSpPr>
          <p:cNvPr id="15" name="Oval 14"/>
          <p:cNvSpPr/>
          <p:nvPr/>
        </p:nvSpPr>
        <p:spPr>
          <a:xfrm>
            <a:off x="777240" y="5074919"/>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6</a:t>
            </a:r>
          </a:p>
        </p:txBody>
      </p:sp>
      <p:sp>
        <p:nvSpPr>
          <p:cNvPr id="16" name="TextBox 15"/>
          <p:cNvSpPr txBox="1"/>
          <p:nvPr/>
        </p:nvSpPr>
        <p:spPr>
          <a:xfrm>
            <a:off x="1252728" y="5093207"/>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A human reads the log.</a:t>
            </a:r>
            <a:r>
              <a:rPr sz="1400">
                <a:solidFill>
                  <a:srgbClr val="475569"/>
                </a:solidFill>
                <a:latin typeface="Segoe UI"/>
              </a:rPr>
              <a:t>  The phase ends with you judging gaps by hand. That is the deliverable: evidence, not infrastructure.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ARCHITECTURE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How the architecture enforces the invariants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CLAUDE.md lists five non-negotiables. Three are live in Phase 0.</a:t>
            </a:r>
          </a:p>
        </p:txBody>
      </p:sp>
      <p:graphicFrame>
        <p:nvGraphicFramePr>
          <p:cNvPr id="6" name="Table 5"/>
          <p:cNvGraphicFramePr>
            <a:graphicFrameLocks noGrp="1"/>
          </p:cNvGraphicFramePr>
          <p:nvPr/>
        </p:nvGraphicFramePr>
        <p:xfrm>
          <a:off x="777240" y="2350008"/>
          <a:ext cx="10515600" cy="1773936"/>
        </p:xfrm>
        <a:graphic>
          <a:graphicData uri="http://schemas.openxmlformats.org/drawingml/2006/table">
            <a:tbl>
              <a:tblPr firstRow="1" bandRow="1">
                <a:tableStyleId>{5C22544A-7EE6-4342-B048-85BDC9FD1C3A}</a:tableStyleId>
              </a:tblPr>
              <a:tblGrid>
                <a:gridCol w="4754880"/>
                <a:gridCol w="5760720"/>
              </a:tblGrid>
              <a:tr h="295656">
                <a:tc>
                  <a:txBody>
                    <a:bodyPr/>
                    <a:lstStyle/>
                    <a:p>
                      <a:r>
                        <a:rPr sz="1200" b="1">
                          <a:solidFill>
                            <a:srgbClr val="FFFFFF"/>
                          </a:solidFill>
                          <a:latin typeface="Segoe UI"/>
                        </a:rPr>
                        <a:t>Invariant</a:t>
                      </a:r>
                    </a:p>
                  </a:txBody>
                  <a:tcPr>
                    <a:solidFill>
                      <a:srgbClr val="0F172A"/>
                    </a:solidFill>
                  </a:tcPr>
                </a:tc>
                <a:tc>
                  <a:txBody>
                    <a:bodyPr/>
                    <a:lstStyle/>
                    <a:p>
                      <a:r>
                        <a:rPr sz="1200" b="1">
                          <a:solidFill>
                            <a:srgbClr val="FFFFFF"/>
                          </a:solidFill>
                          <a:latin typeface="Segoe UI"/>
                        </a:rPr>
                        <a:t>How Phase 0 enforces it</a:t>
                      </a:r>
                    </a:p>
                  </a:txBody>
                  <a:tcPr>
                    <a:solidFill>
                      <a:srgbClr val="0F172A"/>
                    </a:solidFill>
                  </a:tcPr>
                </a:tc>
              </a:tr>
              <a:tr h="295656">
                <a:tc>
                  <a:txBody>
                    <a:bodyPr/>
                    <a:lstStyle/>
                    <a:p>
                      <a:r>
                        <a:rPr sz="1200">
                          <a:solidFill>
                            <a:srgbClr val="475569"/>
                          </a:solidFill>
                          <a:latin typeface="Segoe UI"/>
                        </a:rPr>
                        <a:t>Gap logs append-only and provenance-tagged</a:t>
                      </a:r>
                    </a:p>
                  </a:txBody>
                  <a:tcPr>
                    <a:solidFill>
                      <a:srgbClr val="FFFFFF"/>
                    </a:solidFill>
                  </a:tcPr>
                </a:tc>
                <a:tc>
                  <a:txBody>
                    <a:bodyPr/>
                    <a:lstStyle/>
                    <a:p>
                      <a:r>
                        <a:rPr sz="1200">
                          <a:solidFill>
                            <a:srgbClr val="475569"/>
                          </a:solidFill>
                          <a:latin typeface="Segoe UI"/>
                        </a:rPr>
                        <a:t>IAM grants PutItem and Query, never UpdateItem or DeleteItem</a:t>
                      </a:r>
                    </a:p>
                  </a:txBody>
                  <a:tcPr>
                    <a:solidFill>
                      <a:srgbClr val="FFFFFF"/>
                    </a:solidFill>
                  </a:tcPr>
                </a:tc>
              </a:tr>
              <a:tr h="295656">
                <a:tc>
                  <a:txBody>
                    <a:bodyPr/>
                    <a:lstStyle/>
                    <a:p>
                      <a:r>
                        <a:rPr sz="1200">
                          <a:solidFill>
                            <a:srgbClr val="475569"/>
                          </a:solidFill>
                          <a:latin typeface="Segoe UI"/>
                        </a:rPr>
                        <a:t>Tool versions immutable once published</a:t>
                      </a:r>
                    </a:p>
                  </a:txBody>
                  <a:tcPr>
                    <a:solidFill>
                      <a:srgbClr val="F8FAFC"/>
                    </a:solidFill>
                  </a:tcPr>
                </a:tc>
                <a:tc>
                  <a:txBody>
                    <a:bodyPr/>
                    <a:lstStyle/>
                    <a:p>
                      <a:r>
                        <a:rPr sz="1200">
                          <a:solidFill>
                            <a:srgbClr val="475569"/>
                          </a:solidFill>
                          <a:latin typeface="Segoe UI"/>
                        </a:rPr>
                        <a:t>Re-registering writes a new sort key; a test proves no mutation</a:t>
                      </a:r>
                    </a:p>
                  </a:txBody>
                  <a:tcPr>
                    <a:solidFill>
                      <a:srgbClr val="F8FAFC"/>
                    </a:solidFill>
                  </a:tcPr>
                </a:tc>
              </a:tr>
              <a:tr h="295656">
                <a:tc>
                  <a:txBody>
                    <a:bodyPr/>
                    <a:lstStyle/>
                    <a:p>
                      <a:r>
                        <a:rPr sz="1200">
                          <a:solidFill>
                            <a:srgbClr val="475569"/>
                          </a:solidFill>
                          <a:latin typeface="Segoe UI"/>
                        </a:rPr>
                        <a:t>Scoring recomputable from the event log</a:t>
                      </a:r>
                    </a:p>
                  </a:txBody>
                  <a:tcPr>
                    <a:solidFill>
                      <a:srgbClr val="FFFFFF"/>
                    </a:solidFill>
                  </a:tcPr>
                </a:tc>
                <a:tc>
                  <a:txBody>
                    <a:bodyPr/>
                    <a:lstStyle/>
                    <a:p>
                      <a:r>
                        <a:rPr sz="1200">
                          <a:solidFill>
                            <a:srgbClr val="475569"/>
                          </a:solidFill>
                          <a:latin typeface="Segoe UI"/>
                        </a:rPr>
                        <a:t>Every search emits an event; a test replays the log to recompute</a:t>
                      </a:r>
                    </a:p>
                  </a:txBody>
                  <a:tcPr>
                    <a:solidFill>
                      <a:srgbClr val="FFFFFF"/>
                    </a:solidFill>
                  </a:tcPr>
                </a:tc>
              </a:tr>
              <a:tr h="295656">
                <a:tc>
                  <a:txBody>
                    <a:bodyPr/>
                    <a:lstStyle/>
                    <a:p>
                      <a:r>
                        <a:rPr sz="1200">
                          <a:solidFill>
                            <a:srgbClr val="475569"/>
                          </a:solidFill>
                          <a:latin typeface="Segoe UI"/>
                        </a:rPr>
                        <a:t>All third-party code runs sandboxed</a:t>
                      </a:r>
                    </a:p>
                  </a:txBody>
                  <a:tcPr>
                    <a:solidFill>
                      <a:srgbClr val="F8FAFC"/>
                    </a:solidFill>
                  </a:tcPr>
                </a:tc>
                <a:tc>
                  <a:txBody>
                    <a:bodyPr/>
                    <a:lstStyle/>
                    <a:p>
                      <a:r>
                        <a:rPr sz="1200">
                          <a:solidFill>
                            <a:srgbClr val="475569"/>
                          </a:solidFill>
                          <a:latin typeface="Segoe UI"/>
                        </a:rPr>
                        <a:t>Not yet triggered — Phase 0 never executes a registered tool</a:t>
                      </a:r>
                    </a:p>
                  </a:txBody>
                  <a:tcPr>
                    <a:solidFill>
                      <a:srgbClr val="F8FAFC"/>
                    </a:solidFill>
                  </a:tcPr>
                </a:tc>
              </a:tr>
              <a:tr h="295656">
                <a:tc>
                  <a:txBody>
                    <a:bodyPr/>
                    <a:lstStyle/>
                    <a:p>
                      <a:r>
                        <a:rPr sz="1200">
                          <a:solidFill>
                            <a:srgbClr val="475569"/>
                          </a:solidFill>
                          <a:latin typeface="Segoe UI"/>
                        </a:rPr>
                        <a:t>Money never affects agent-facing ranking</a:t>
                      </a:r>
                    </a:p>
                  </a:txBody>
                  <a:tcPr>
                    <a:solidFill>
                      <a:srgbClr val="FFFFFF"/>
                    </a:solidFill>
                  </a:tcPr>
                </a:tc>
                <a:tc>
                  <a:txBody>
                    <a:bodyPr/>
                    <a:lstStyle/>
                    <a:p>
                      <a:r>
                        <a:rPr sz="1200">
                          <a:solidFill>
                            <a:srgbClr val="475569"/>
                          </a:solidFill>
                          <a:latin typeface="Segoe UI"/>
                        </a:rPr>
                        <a:t>Not yet triggered — no money, no ranking, no visual layer</a:t>
                      </a:r>
                    </a:p>
                  </a:txBody>
                  <a:tcPr>
                    <a:solidFill>
                      <a:srgbClr val="FFFFFF"/>
                    </a:solidFill>
                  </a:tcPr>
                </a:tc>
              </a:tr>
            </a:tbl>
          </a:graphicData>
        </a:graphic>
      </p:graphicFrame>
      <p:sp>
        <p:nvSpPr>
          <p:cNvPr id="7" name="TextBox 6"/>
          <p:cNvSpPr txBox="1"/>
          <p:nvPr/>
        </p:nvSpPr>
        <p:spPr>
          <a:xfrm>
            <a:off x="777240" y="4636008"/>
            <a:ext cx="10515600" cy="914400"/>
          </a:xfrm>
          <a:prstGeom prst="rect">
            <a:avLst/>
          </a:prstGeom>
          <a:noFill/>
        </p:spPr>
        <p:txBody>
          <a:bodyPr wrap="square" lIns="0" rIns="0" tIns="0" bIns="0">
            <a:spAutoFit/>
          </a:bodyPr>
          <a:lstStyle/>
          <a:p>
            <a:pPr algn="l">
              <a:lnSpc>
                <a:spcPct val="125000"/>
              </a:lnSpc>
            </a:pPr>
            <a:r>
              <a:rPr sz="1400" b="0">
                <a:solidFill>
                  <a:srgbClr val="475569"/>
                </a:solidFill>
                <a:latin typeface="Segoe UI"/>
              </a:rPr>
              <a:t>The last two are scope decisions, not oversights. The moment execution arrives in Phase 1, mandatory sandboxing gates everything.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KEY DECISION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deliberate non-decision: no vector database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2926080"/>
          </a:xfrm>
          <a:prstGeom prst="rect">
            <a:avLst/>
          </a:prstGeom>
          <a:noFill/>
        </p:spPr>
        <p:txBody>
          <a:bodyPr wrap="square" lIns="0" rIns="0" tIns="0" bIns="0">
            <a:spAutoFit/>
          </a:bodyPr>
          <a:lstStyle/>
          <a:p>
            <a:pPr>
              <a:lnSpc>
                <a:spcPct val="115000"/>
              </a:lnSpc>
              <a:spcAft>
                <a:spcPts val="1000"/>
              </a:spcAft>
            </a:pPr>
            <a:r>
              <a:rPr sz="1500" b="1">
                <a:solidFill>
                  <a:srgbClr val="0F172A"/>
                </a:solidFill>
                <a:latin typeface="Segoe UI"/>
              </a:rPr>
              <a:t>Phase 0 has 15-20 tools.</a:t>
            </a:r>
            <a:r>
              <a:rPr sz="1500">
                <a:solidFill>
                  <a:srgbClr val="475569"/>
                </a:solidFill>
                <a:latin typeface="Segoe UI"/>
              </a:rPr>
              <a:t>  Cosine similarity over 20 vectors in Lambda memory is sub-millisecond and costs nothing.</a:t>
            </a:r>
          </a:p>
          <a:p>
            <a:pPr>
              <a:lnSpc>
                <a:spcPct val="115000"/>
              </a:lnSpc>
              <a:spcAft>
                <a:spcPts val="1000"/>
              </a:spcAft>
            </a:pPr>
            <a:r>
              <a:rPr sz="1500" b="1">
                <a:solidFill>
                  <a:srgbClr val="0F172A"/>
                </a:solidFill>
                <a:latin typeface="Segoe UI"/>
              </a:rPr>
              <a:t>A vector store answers none of the phase's questions.</a:t>
            </a:r>
            <a:r>
              <a:rPr sz="1500">
                <a:solidFill>
                  <a:srgbClr val="475569"/>
                </a:solidFill>
                <a:latin typeface="Segoe UI"/>
              </a:rPr>
              <a:t>  OpenSearch or pgvector for 20 rows spends the phase on infrastructure instead of evidence — and OpenSearch is not always-free.</a:t>
            </a:r>
          </a:p>
          <a:p>
            <a:pPr>
              <a:lnSpc>
                <a:spcPct val="115000"/>
              </a:lnSpc>
              <a:spcAft>
                <a:spcPts val="1000"/>
              </a:spcAft>
            </a:pPr>
            <a:r>
              <a:rPr sz="1500" b="1">
                <a:solidFill>
                  <a:srgbClr val="0F172A"/>
                </a:solidFill>
                <a:latin typeface="Segoe UI"/>
              </a:rPr>
              <a:t>The interface is what matters.</a:t>
            </a:r>
            <a:r>
              <a:rPr sz="1500">
                <a:solidFill>
                  <a:srgbClr val="475569"/>
                </a:solidFill>
                <a:latin typeface="Segoe UI"/>
              </a:rPr>
              <a:t>  Search sits behind an interface with a single implementation, swappable in Phase 1 without touching callers.</a:t>
            </a:r>
          </a:p>
          <a:p>
            <a:pPr>
              <a:lnSpc>
                <a:spcPct val="115000"/>
              </a:lnSpc>
              <a:spcAft>
                <a:spcPts val="1000"/>
              </a:spcAft>
            </a:pPr>
            <a:r>
              <a:rPr sz="1500" b="1">
                <a:solidFill>
                  <a:srgbClr val="0F172A"/>
                </a:solidFill>
                <a:latin typeface="Segoe UI"/>
              </a:rPr>
              <a:t>Choose it later, with data.</a:t>
            </a:r>
            <a:r>
              <a:rPr sz="1500">
                <a:solidFill>
                  <a:srgbClr val="475569"/>
                </a:solidFill>
                <a:latin typeface="Segoe UI"/>
              </a:rPr>
              <a:t>  The Phase 1 store gets picked from real Phase 0 query distributions rather than guessed at now.</a:t>
            </a:r>
          </a:p>
        </p:txBody>
      </p:sp>
      <p:sp>
        <p:nvSpPr>
          <p:cNvPr id="6" name="Rounded Rectangle 5"/>
          <p:cNvSpPr/>
          <p:nvPr/>
        </p:nvSpPr>
        <p:spPr>
          <a:xfrm>
            <a:off x="777240" y="5120640"/>
            <a:ext cx="10515600" cy="1005840"/>
          </a:xfrm>
          <a:prstGeom prst="roundRect">
            <a:avLst/>
          </a:prstGeom>
          <a:solidFill>
            <a:srgbClr val="F0FDF4"/>
          </a:solid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5303520"/>
            <a:ext cx="9966960" cy="731520"/>
          </a:xfrm>
          <a:prstGeom prst="rect">
            <a:avLst/>
          </a:prstGeom>
          <a:noFill/>
        </p:spPr>
        <p:txBody>
          <a:bodyPr wrap="square" lIns="0" rIns="0" tIns="0" bIns="0">
            <a:spAutoFit/>
          </a:bodyPr>
          <a:lstStyle/>
          <a:p>
            <a:pPr algn="l">
              <a:lnSpc>
                <a:spcPct val="115000"/>
              </a:lnSpc>
            </a:pPr>
            <a:r>
              <a:rPr sz="1350" b="1">
                <a:solidFill>
                  <a:srgbClr val="14532D"/>
                </a:solidFill>
                <a:latin typeface="Segoe UI"/>
              </a:rPr>
              <a:t>Same reasoning picked Lambda Function URLs over API Gateway: Lambda and DynamoDB have always-free allowances, API Gateway is free for 12 months only. Given the free-tier change, that distinction matters.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468880"/>
            <a:ext cx="10058400" cy="320040"/>
          </a:xfrm>
          <a:prstGeom prst="rect">
            <a:avLst/>
          </a:prstGeom>
          <a:noFill/>
        </p:spPr>
        <p:txBody>
          <a:bodyPr wrap="square" lIns="0" rIns="0" tIns="0" bIns="0">
            <a:spAutoFit/>
          </a:bodyPr>
          <a:lstStyle/>
          <a:p>
            <a:pPr algn="l">
              <a:lnSpc>
                <a:spcPct val="100000"/>
              </a:lnSpc>
            </a:pPr>
            <a:r>
              <a:rPr sz="1300" b="1">
                <a:solidFill>
                  <a:srgbClr val="ED7100"/>
                </a:solidFill>
                <a:latin typeface="Segoe UI"/>
              </a:rPr>
              <a:t>PART THREE</a:t>
            </a:r>
          </a:p>
        </p:txBody>
      </p:sp>
      <p:sp>
        <p:nvSpPr>
          <p:cNvPr id="4" name="TextBox 3"/>
          <p:cNvSpPr txBox="1"/>
          <p:nvPr/>
        </p:nvSpPr>
        <p:spPr>
          <a:xfrm>
            <a:off x="1005840" y="2880360"/>
            <a:ext cx="10241280" cy="822960"/>
          </a:xfrm>
          <a:prstGeom prst="rect">
            <a:avLst/>
          </a:prstGeom>
          <a:noFill/>
        </p:spPr>
        <p:txBody>
          <a:bodyPr wrap="square" lIns="0" rIns="0" tIns="0" bIns="0">
            <a:spAutoFit/>
          </a:bodyPr>
          <a:lstStyle/>
          <a:p>
            <a:pPr algn="l">
              <a:lnSpc>
                <a:spcPct val="100000"/>
              </a:lnSpc>
            </a:pPr>
            <a:r>
              <a:rPr sz="4000" b="1">
                <a:solidFill>
                  <a:srgbClr val="FFFFFF"/>
                </a:solidFill>
                <a:latin typeface="Segoe UI"/>
              </a:rPr>
              <a:t>Building Phase 0 on AWS</a:t>
            </a:r>
          </a:p>
        </p:txBody>
      </p:sp>
      <p:sp>
        <p:nvSpPr>
          <p:cNvPr id="5" name="TextBox 4"/>
          <p:cNvSpPr txBox="1"/>
          <p:nvPr/>
        </p:nvSpPr>
        <p:spPr>
          <a:xfrm>
            <a:off x="1005840" y="3931920"/>
            <a:ext cx="8961120" cy="822960"/>
          </a:xfrm>
          <a:prstGeom prst="rect">
            <a:avLst/>
          </a:prstGeom>
          <a:noFill/>
        </p:spPr>
        <p:txBody>
          <a:bodyPr wrap="square" lIns="0" rIns="0" tIns="0" bIns="0">
            <a:spAutoFit/>
          </a:bodyPr>
          <a:lstStyle/>
          <a:p>
            <a:pPr algn="l">
              <a:lnSpc>
                <a:spcPct val="120000"/>
              </a:lnSpc>
            </a:pPr>
            <a:r>
              <a:rPr sz="1600" b="0">
                <a:solidFill>
                  <a:srgbClr val="94A3B8"/>
                </a:solidFill>
                <a:latin typeface="Segoe UI"/>
              </a:rPr>
              <a:t>Nine steps from an empty account to a running loop, in the order they have to happen.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1</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Account, region and guardrails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Do this before writing a line of code.</a:t>
            </a:r>
          </a:p>
        </p:txBody>
      </p:sp>
      <p:sp>
        <p:nvSpPr>
          <p:cNvPr id="6" name="Oval 5"/>
          <p:cNvSpPr/>
          <p:nvPr/>
        </p:nvSpPr>
        <p:spPr>
          <a:xfrm>
            <a:off x="777240" y="2350008"/>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1</a:t>
            </a:r>
          </a:p>
        </p:txBody>
      </p:sp>
      <p:sp>
        <p:nvSpPr>
          <p:cNvPr id="7" name="TextBox 6"/>
          <p:cNvSpPr txBox="1"/>
          <p:nvPr/>
        </p:nvSpPr>
        <p:spPr>
          <a:xfrm>
            <a:off x="1252728" y="2368296"/>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Pick one region and stay in it.</a:t>
            </a:r>
            <a:r>
              <a:rPr sz="1400">
                <a:solidFill>
                  <a:srgbClr val="475569"/>
                </a:solidFill>
                <a:latin typeface="Segoe UI"/>
              </a:rPr>
              <a:t>  Bedrock model availability varies by region. us-east-1 has the widest coverage. Mixing regions is the most common way this stalls.</a:t>
            </a:r>
          </a:p>
        </p:txBody>
      </p:sp>
      <p:sp>
        <p:nvSpPr>
          <p:cNvPr id="8" name="Oval 7"/>
          <p:cNvSpPr/>
          <p:nvPr/>
        </p:nvSpPr>
        <p:spPr>
          <a:xfrm>
            <a:off x="777240" y="3008376"/>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2</a:t>
            </a:r>
          </a:p>
        </p:txBody>
      </p:sp>
      <p:sp>
        <p:nvSpPr>
          <p:cNvPr id="9" name="TextBox 8"/>
          <p:cNvSpPr txBox="1"/>
          <p:nvPr/>
        </p:nvSpPr>
        <p:spPr>
          <a:xfrm>
            <a:off x="1252728" y="3026664"/>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Never build on the root user.</a:t>
            </a:r>
            <a:r>
              <a:rPr sz="1400">
                <a:solidFill>
                  <a:srgbClr val="475569"/>
                </a:solidFill>
                <a:latin typeface="Segoe UI"/>
              </a:rPr>
              <a:t>  Create an IAM Identity Center user with admin rights and MFA, and use that.</a:t>
            </a:r>
          </a:p>
        </p:txBody>
      </p:sp>
      <p:sp>
        <p:nvSpPr>
          <p:cNvPr id="10" name="Oval 9"/>
          <p:cNvSpPr/>
          <p:nvPr/>
        </p:nvSpPr>
        <p:spPr>
          <a:xfrm>
            <a:off x="777240" y="3666744"/>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3</a:t>
            </a:r>
          </a:p>
        </p:txBody>
      </p:sp>
      <p:sp>
        <p:nvSpPr>
          <p:cNvPr id="11" name="TextBox 10"/>
          <p:cNvSpPr txBox="1"/>
          <p:nvPr/>
        </p:nvSpPr>
        <p:spPr>
          <a:xfrm>
            <a:off x="1252728" y="3685031"/>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Set the billing alarm first, not last.</a:t>
            </a:r>
            <a:r>
              <a:rPr sz="1400">
                <a:solidFill>
                  <a:srgbClr val="475569"/>
                </a:solidFill>
                <a:latin typeface="Segoe UI"/>
              </a:rPr>
              <a:t>  A CloudWatch billing alarm at $5. Billing metrics only publish in us-east-1, so create the alarm there even if you build elsewhere.</a:t>
            </a:r>
          </a:p>
        </p:txBody>
      </p:sp>
      <p:sp>
        <p:nvSpPr>
          <p:cNvPr id="12" name="Oval 11"/>
          <p:cNvSpPr/>
          <p:nvPr/>
        </p:nvSpPr>
        <p:spPr>
          <a:xfrm>
            <a:off x="777240" y="4325112"/>
            <a:ext cx="310896" cy="310896"/>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4</a:t>
            </a:r>
          </a:p>
        </p:txBody>
      </p:sp>
      <p:sp>
        <p:nvSpPr>
          <p:cNvPr id="13" name="TextBox 12"/>
          <p:cNvSpPr txBox="1"/>
          <p:nvPr/>
        </p:nvSpPr>
        <p:spPr>
          <a:xfrm>
            <a:off x="1252728" y="4343399"/>
            <a:ext cx="9966960" cy="457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Know which free tier you are on.</a:t>
            </a:r>
            <a:r>
              <a:rPr sz="1400">
                <a:solidFill>
                  <a:srgbClr val="475569"/>
                </a:solidFill>
                <a:latin typeface="Segoe UI"/>
              </a:rPr>
              <a:t>  Accounts opened since 9 July 2025 get credits over 6 months and then close. Older accounts get the legacy 12-month tier.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2</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Enable Bedrock model access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Bedrock models are off by default. This is a manual console step.</a:t>
            </a:r>
          </a:p>
        </p:txBody>
      </p:sp>
      <p:sp>
        <p:nvSpPr>
          <p:cNvPr id="6" name="TextBox 5"/>
          <p:cNvSpPr txBox="1"/>
          <p:nvPr/>
        </p:nvSpPr>
        <p:spPr>
          <a:xfrm>
            <a:off x="777240" y="2350008"/>
            <a:ext cx="10515600" cy="82296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Console path.</a:t>
            </a:r>
            <a:r>
              <a:rPr sz="1400">
                <a:solidFill>
                  <a:srgbClr val="475569"/>
                </a:solidFill>
                <a:latin typeface="Segoe UI"/>
              </a:rPr>
              <a:t>  Bedrock, then Model access, then request Amazon Titan Text Embeddings V2. Approval is usually immediate but never automatic. Then verify from the CLI before trusting it.</a:t>
            </a:r>
          </a:p>
        </p:txBody>
      </p:sp>
      <p:sp>
        <p:nvSpPr>
          <p:cNvPr id="7" name="Rounded Rectangle 6"/>
          <p:cNvSpPr/>
          <p:nvPr/>
        </p:nvSpPr>
        <p:spPr>
          <a:xfrm>
            <a:off x="777240" y="3264408"/>
            <a:ext cx="10515600" cy="153162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3401568"/>
            <a:ext cx="1014984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CONFIRM THE MODEL IS AVAILABLE TO YOU</a:t>
            </a:r>
          </a:p>
        </p:txBody>
      </p:sp>
      <p:sp>
        <p:nvSpPr>
          <p:cNvPr id="9" name="TextBox 8"/>
          <p:cNvSpPr txBox="1"/>
          <p:nvPr/>
        </p:nvSpPr>
        <p:spPr>
          <a:xfrm>
            <a:off x="978408" y="3675887"/>
            <a:ext cx="10149840" cy="1257300"/>
          </a:xfrm>
          <a:prstGeom prst="rect">
            <a:avLst/>
          </a:prstGeom>
          <a:noFill/>
        </p:spPr>
        <p:txBody>
          <a:bodyPr wrap="square" lIns="0" rIns="0" tIns="0" bIns="0">
            <a:spAutoFit/>
          </a:bodyPr>
          <a:lstStyle/>
          <a:p>
            <a:pPr>
              <a:lnSpc>
                <a:spcPct val="100000"/>
              </a:lnSpc>
              <a:spcAft>
                <a:spcPts val="200"/>
              </a:spcAft>
            </a:pPr>
            <a:r>
              <a:rPr sz="1150">
                <a:solidFill>
                  <a:srgbClr val="ED7100"/>
                </a:solidFill>
                <a:latin typeface="Consolas"/>
              </a:rPr>
              <a:t>$ aws bedrock list-foundation-models --region us-east-1 \</a:t>
            </a:r>
          </a:p>
          <a:p>
            <a:pPr>
              <a:lnSpc>
                <a:spcPct val="100000"/>
              </a:lnSpc>
              <a:spcAft>
                <a:spcPts val="200"/>
              </a:spcAft>
            </a:pPr>
            <a:r>
              <a:rPr sz="1150">
                <a:solidFill>
                  <a:srgbClr val="E2E8F0"/>
                </a:solidFill>
                <a:latin typeface="Consolas"/>
              </a:rPr>
              <a:t>    --by-provider amazon \</a:t>
            </a:r>
          </a:p>
          <a:p>
            <a:pPr>
              <a:lnSpc>
                <a:spcPct val="100000"/>
              </a:lnSpc>
              <a:spcAft>
                <a:spcPts val="200"/>
              </a:spcAft>
            </a:pPr>
            <a:r>
              <a:rPr sz="1150">
                <a:solidFill>
                  <a:srgbClr val="E2E8F0"/>
                </a:solidFill>
                <a:latin typeface="Consolas"/>
              </a:rPr>
              <a:t>    --query "modelSummaries[?contains(modelId,'titan-embed')].modelId"</a:t>
            </a:r>
          </a:p>
          <a:p>
            <a:pPr>
              <a:lnSpc>
                <a:spcPct val="100000"/>
              </a:lnSpc>
              <a:spcAft>
                <a:spcPts val="200"/>
              </a:spcAft>
            </a:pPr>
            <a:r>
              <a:rPr sz="1150">
                <a:solidFill>
                  <a:srgbClr val="E2E8F0"/>
                </a:solidFill>
                <a:latin typeface="Consolas"/>
              </a:rPr>
              <a:t> </a:t>
            </a:r>
          </a:p>
          <a:p>
            <a:pPr>
              <a:lnSpc>
                <a:spcPct val="100000"/>
              </a:lnSpc>
              <a:spcAft>
                <a:spcPts val="200"/>
              </a:spcAft>
            </a:pPr>
            <a:r>
              <a:rPr sz="1150">
                <a:solidFill>
                  <a:srgbClr val="E2E8F0"/>
                </a:solidFill>
                <a:latin typeface="Consolas"/>
              </a:rPr>
              <a:t>[ "amazon.titan-embed-text-v2:0" ]</a:t>
            </a:r>
          </a:p>
        </p:txBody>
      </p:sp>
      <p:graphicFrame>
        <p:nvGraphicFramePr>
          <p:cNvPr id="10" name="Table 9"/>
          <p:cNvGraphicFramePr>
            <a:graphicFrameLocks noGrp="1"/>
          </p:cNvGraphicFramePr>
          <p:nvPr/>
        </p:nvGraphicFramePr>
        <p:xfrm>
          <a:off x="777240" y="4727448"/>
          <a:ext cx="10515600" cy="1481328"/>
        </p:xfrm>
        <a:graphic>
          <a:graphicData uri="http://schemas.openxmlformats.org/drawingml/2006/table">
            <a:tbl>
              <a:tblPr firstRow="1" bandRow="1">
                <a:tableStyleId>{5C22544A-7EE6-4342-B048-85BDC9FD1C3A}</a:tableStyleId>
              </a:tblPr>
              <a:tblGrid>
                <a:gridCol w="3108960"/>
                <a:gridCol w="7406640"/>
              </a:tblGrid>
              <a:tr h="296265">
                <a:tc>
                  <a:txBody>
                    <a:bodyPr/>
                    <a:lstStyle/>
                    <a:p>
                      <a:r>
                        <a:rPr sz="1150" b="1">
                          <a:solidFill>
                            <a:srgbClr val="FFFFFF"/>
                          </a:solidFill>
                          <a:latin typeface="Segoe UI"/>
                        </a:rPr>
                        <a:t>Property</a:t>
                      </a:r>
                    </a:p>
                  </a:txBody>
                  <a:tcPr>
                    <a:solidFill>
                      <a:srgbClr val="0F172A"/>
                    </a:solidFill>
                  </a:tcPr>
                </a:tc>
                <a:tc>
                  <a:txBody>
                    <a:bodyPr/>
                    <a:lstStyle/>
                    <a:p>
                      <a:r>
                        <a:rPr sz="1150" b="1">
                          <a:solidFill>
                            <a:srgbClr val="FFFFFF"/>
                          </a:solidFill>
                          <a:latin typeface="Segoe UI"/>
                        </a:rPr>
                        <a:t>Value</a:t>
                      </a:r>
                    </a:p>
                  </a:txBody>
                  <a:tcPr>
                    <a:solidFill>
                      <a:srgbClr val="0F172A"/>
                    </a:solidFill>
                  </a:tcPr>
                </a:tc>
              </a:tr>
              <a:tr h="296265">
                <a:tc>
                  <a:txBody>
                    <a:bodyPr/>
                    <a:lstStyle/>
                    <a:p>
                      <a:r>
                        <a:rPr sz="1150">
                          <a:solidFill>
                            <a:srgbClr val="475569"/>
                          </a:solidFill>
                          <a:latin typeface="Segoe UI"/>
                        </a:rPr>
                        <a:t>Model ID</a:t>
                      </a:r>
                    </a:p>
                  </a:txBody>
                  <a:tcPr>
                    <a:solidFill>
                      <a:srgbClr val="FFFFFF"/>
                    </a:solidFill>
                  </a:tcPr>
                </a:tc>
                <a:tc>
                  <a:txBody>
                    <a:bodyPr/>
                    <a:lstStyle/>
                    <a:p>
                      <a:r>
                        <a:rPr sz="1150">
                          <a:solidFill>
                            <a:srgbClr val="475569"/>
                          </a:solidFill>
                          <a:latin typeface="Segoe UI"/>
                        </a:rPr>
                        <a:t>amazon.titan-embed-text-v2:0</a:t>
                      </a:r>
                    </a:p>
                  </a:txBody>
                  <a:tcPr>
                    <a:solidFill>
                      <a:srgbClr val="FFFFFF"/>
                    </a:solidFill>
                  </a:tcPr>
                </a:tc>
              </a:tr>
              <a:tr h="296265">
                <a:tc>
                  <a:txBody>
                    <a:bodyPr/>
                    <a:lstStyle/>
                    <a:p>
                      <a:r>
                        <a:rPr sz="1150">
                          <a:solidFill>
                            <a:srgbClr val="475569"/>
                          </a:solidFill>
                          <a:latin typeface="Segoe UI"/>
                        </a:rPr>
                        <a:t>Output dimensions</a:t>
                      </a:r>
                    </a:p>
                  </a:txBody>
                  <a:tcPr>
                    <a:solidFill>
                      <a:srgbClr val="F8FAFC"/>
                    </a:solidFill>
                  </a:tcPr>
                </a:tc>
                <a:tc>
                  <a:txBody>
                    <a:bodyPr/>
                    <a:lstStyle/>
                    <a:p>
                      <a:r>
                        <a:rPr sz="1150">
                          <a:solidFill>
                            <a:srgbClr val="475569"/>
                          </a:solidFill>
                          <a:latin typeface="Segoe UI"/>
                        </a:rPr>
                        <a:t>1024 default; 512 and 256 also supported</a:t>
                      </a:r>
                    </a:p>
                  </a:txBody>
                  <a:tcPr>
                    <a:solidFill>
                      <a:srgbClr val="F8FAFC"/>
                    </a:solidFill>
                  </a:tcPr>
                </a:tc>
              </a:tr>
              <a:tr h="296265">
                <a:tc>
                  <a:txBody>
                    <a:bodyPr/>
                    <a:lstStyle/>
                    <a:p>
                      <a:r>
                        <a:rPr sz="1150">
                          <a:solidFill>
                            <a:srgbClr val="475569"/>
                          </a:solidFill>
                          <a:latin typeface="Segoe UI"/>
                        </a:rPr>
                        <a:t>Max input</a:t>
                      </a:r>
                    </a:p>
                  </a:txBody>
                  <a:tcPr>
                    <a:solidFill>
                      <a:srgbClr val="FFFFFF"/>
                    </a:solidFill>
                  </a:tcPr>
                </a:tc>
                <a:tc>
                  <a:txBody>
                    <a:bodyPr/>
                    <a:lstStyle/>
                    <a:p>
                      <a:r>
                        <a:rPr sz="1150">
                          <a:solidFill>
                            <a:srgbClr val="475569"/>
                          </a:solidFill>
                          <a:latin typeface="Segoe UI"/>
                        </a:rPr>
                        <a:t>8,192 tokens / 50,000 characters</a:t>
                      </a:r>
                    </a:p>
                  </a:txBody>
                  <a:tcPr>
                    <a:solidFill>
                      <a:srgbClr val="FFFFFF"/>
                    </a:solidFill>
                  </a:tcPr>
                </a:tc>
              </a:tr>
              <a:tr h="296268">
                <a:tc>
                  <a:txBody>
                    <a:bodyPr/>
                    <a:lstStyle/>
                    <a:p>
                      <a:r>
                        <a:rPr sz="1150">
                          <a:solidFill>
                            <a:srgbClr val="475569"/>
                          </a:solidFill>
                          <a:latin typeface="Segoe UI"/>
                        </a:rPr>
                        <a:t>Throttling</a:t>
                      </a:r>
                    </a:p>
                  </a:txBody>
                  <a:tcPr>
                    <a:solidFill>
                      <a:srgbClr val="F8FAFC"/>
                    </a:solidFill>
                  </a:tcPr>
                </a:tc>
                <a:tc>
                  <a:txBody>
                    <a:bodyPr/>
                    <a:lstStyle/>
                    <a:p>
                      <a:r>
                        <a:rPr sz="1150">
                          <a:solidFill>
                            <a:srgbClr val="475569"/>
                          </a:solidFill>
                          <a:latin typeface="Segoe UI"/>
                        </a:rPr>
                        <a:t>by requests per minute, not tokens per minute</a:t>
                      </a:r>
                    </a:p>
                  </a:txBody>
                  <a:tcPr>
                    <a:solidFill>
                      <a:srgbClr val="F8FAFC"/>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3</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Repo and toolchain</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783080"/>
            <a:ext cx="4937760" cy="2711195"/>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78408" y="1920240"/>
            <a:ext cx="457200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TARGET LAYOUT (ISSUE #1)</a:t>
            </a:r>
          </a:p>
        </p:txBody>
      </p:sp>
      <p:sp>
        <p:nvSpPr>
          <p:cNvPr id="7" name="TextBox 6"/>
          <p:cNvSpPr txBox="1"/>
          <p:nvPr/>
        </p:nvSpPr>
        <p:spPr>
          <a:xfrm>
            <a:off x="978408" y="2194560"/>
            <a:ext cx="4572000" cy="2436875"/>
          </a:xfrm>
          <a:prstGeom prst="rect">
            <a:avLst/>
          </a:prstGeom>
          <a:noFill/>
        </p:spPr>
        <p:txBody>
          <a:bodyPr wrap="square" lIns="0" rIns="0" tIns="0" bIns="0">
            <a:spAutoFit/>
          </a:bodyPr>
          <a:lstStyle/>
          <a:p>
            <a:pPr>
              <a:lnSpc>
                <a:spcPct val="100000"/>
              </a:lnSpc>
              <a:spcAft>
                <a:spcPts val="200"/>
              </a:spcAft>
            </a:pPr>
            <a:r>
              <a:rPr sz="1150">
                <a:solidFill>
                  <a:srgbClr val="E2E8F0"/>
                </a:solidFill>
                <a:latin typeface="Consolas"/>
              </a:rPr>
              <a:t>Endlessproject/</a:t>
            </a:r>
          </a:p>
          <a:p>
            <a:pPr>
              <a:lnSpc>
                <a:spcPct val="100000"/>
              </a:lnSpc>
              <a:spcAft>
                <a:spcPts val="200"/>
              </a:spcAft>
            </a:pPr>
            <a:r>
              <a:rPr sz="1150">
                <a:solidFill>
                  <a:srgbClr val="E2E8F0"/>
                </a:solidFill>
                <a:latin typeface="Consolas"/>
              </a:rPr>
              <a:t>  services/</a:t>
            </a:r>
          </a:p>
          <a:p>
            <a:pPr>
              <a:lnSpc>
                <a:spcPct val="100000"/>
              </a:lnSpc>
              <a:spcAft>
                <a:spcPts val="200"/>
              </a:spcAft>
            </a:pPr>
            <a:r>
              <a:rPr sz="1150">
                <a:solidFill>
                  <a:srgbClr val="E2E8F0"/>
                </a:solidFill>
                <a:latin typeface="Consolas"/>
              </a:rPr>
              <a:t>    registry/    tool CRUD</a:t>
            </a:r>
          </a:p>
          <a:p>
            <a:pPr>
              <a:lnSpc>
                <a:spcPct val="100000"/>
              </a:lnSpc>
              <a:spcAft>
                <a:spcPts val="200"/>
              </a:spcAft>
            </a:pPr>
            <a:r>
              <a:rPr sz="1150">
                <a:solidFill>
                  <a:srgbClr val="E2E8F0"/>
                </a:solidFill>
                <a:latin typeface="Consolas"/>
              </a:rPr>
              <a:t>    search/      embed + rank + gap</a:t>
            </a:r>
          </a:p>
          <a:p>
            <a:pPr>
              <a:lnSpc>
                <a:spcPct val="100000"/>
              </a:lnSpc>
              <a:spcAft>
                <a:spcPts val="200"/>
              </a:spcAft>
            </a:pPr>
            <a:r>
              <a:rPr sz="1150">
                <a:solidFill>
                  <a:srgbClr val="E2E8F0"/>
                </a:solidFill>
                <a:latin typeface="Consolas"/>
              </a:rPr>
              <a:t>    events/      append-only writer</a:t>
            </a:r>
          </a:p>
          <a:p>
            <a:pPr>
              <a:lnSpc>
                <a:spcPct val="100000"/>
              </a:lnSpc>
              <a:spcAft>
                <a:spcPts val="200"/>
              </a:spcAft>
            </a:pPr>
            <a:r>
              <a:rPr sz="1150">
                <a:solidFill>
                  <a:srgbClr val="E2E8F0"/>
                </a:solidFill>
                <a:latin typeface="Consolas"/>
              </a:rPr>
              <a:t>  packages/</a:t>
            </a:r>
          </a:p>
          <a:p>
            <a:pPr>
              <a:lnSpc>
                <a:spcPct val="100000"/>
              </a:lnSpc>
              <a:spcAft>
                <a:spcPts val="200"/>
              </a:spcAft>
            </a:pPr>
            <a:r>
              <a:rPr sz="1150">
                <a:solidFill>
                  <a:srgbClr val="E2E8F0"/>
                </a:solidFill>
                <a:latin typeface="Consolas"/>
              </a:rPr>
              <a:t>    schemas/     Tool, Event, Gap</a:t>
            </a:r>
          </a:p>
          <a:p>
            <a:pPr>
              <a:lnSpc>
                <a:spcPct val="100000"/>
              </a:lnSpc>
              <a:spcAft>
                <a:spcPts val="200"/>
              </a:spcAft>
            </a:pPr>
            <a:r>
              <a:rPr sz="1150">
                <a:solidFill>
                  <a:srgbClr val="E2E8F0"/>
                </a:solidFill>
                <a:latin typeface="Consolas"/>
              </a:rPr>
              <a:t>  infra/         CDK app</a:t>
            </a:r>
          </a:p>
          <a:p>
            <a:pPr>
              <a:lnSpc>
                <a:spcPct val="100000"/>
              </a:lnSpc>
              <a:spcAft>
                <a:spcPts val="200"/>
              </a:spcAft>
            </a:pPr>
            <a:r>
              <a:rPr sz="1150">
                <a:solidFill>
                  <a:srgbClr val="E2E8F0"/>
                </a:solidFill>
                <a:latin typeface="Consolas"/>
              </a:rPr>
              <a:t>  docs/</a:t>
            </a:r>
          </a:p>
          <a:p>
            <a:pPr>
              <a:lnSpc>
                <a:spcPct val="100000"/>
              </a:lnSpc>
              <a:spcAft>
                <a:spcPts val="200"/>
              </a:spcAft>
            </a:pPr>
            <a:r>
              <a:rPr sz="1150">
                <a:solidFill>
                  <a:srgbClr val="E2E8F0"/>
                </a:solidFill>
                <a:latin typeface="Consolas"/>
              </a:rPr>
              <a:t>    PROJECT.md</a:t>
            </a:r>
          </a:p>
          <a:p>
            <a:pPr>
              <a:lnSpc>
                <a:spcPct val="100000"/>
              </a:lnSpc>
              <a:spcAft>
                <a:spcPts val="200"/>
              </a:spcAft>
            </a:pPr>
            <a:r>
              <a:rPr sz="1150">
                <a:solidFill>
                  <a:srgbClr val="E2E8F0"/>
                </a:solidFill>
                <a:latin typeface="Consolas"/>
              </a:rPr>
              <a:t>    plans/</a:t>
            </a:r>
          </a:p>
        </p:txBody>
      </p:sp>
      <p:sp>
        <p:nvSpPr>
          <p:cNvPr id="8" name="TextBox 7"/>
          <p:cNvSpPr txBox="1"/>
          <p:nvPr/>
        </p:nvSpPr>
        <p:spPr>
          <a:xfrm>
            <a:off x="6035040" y="1828800"/>
            <a:ext cx="5257800" cy="3291840"/>
          </a:xfrm>
          <a:prstGeom prst="rect">
            <a:avLst/>
          </a:prstGeom>
          <a:noFill/>
        </p:spPr>
        <p:txBody>
          <a:bodyPr wrap="square" lIns="0" rIns="0" tIns="0" bIns="0">
            <a:spAutoFit/>
          </a:bodyPr>
          <a:lstStyle/>
          <a:p>
            <a:pPr>
              <a:lnSpc>
                <a:spcPct val="115000"/>
              </a:lnSpc>
              <a:spcAft>
                <a:spcPts val="1000"/>
              </a:spcAft>
            </a:pPr>
            <a:r>
              <a:rPr sz="1350" b="1">
                <a:solidFill>
                  <a:srgbClr val="0F172A"/>
                </a:solidFill>
                <a:latin typeface="Segoe UI"/>
              </a:rPr>
              <a:t>Node 20 with npm workspaces.</a:t>
            </a:r>
            <a:r>
              <a:rPr sz="1350">
                <a:solidFill>
                  <a:srgbClr val="475569"/>
                </a:solidFill>
                <a:latin typeface="Segoe UI"/>
              </a:rPr>
              <a:t>  One toolchain now, and the same one later for the console and the 3D world.</a:t>
            </a:r>
          </a:p>
          <a:p>
            <a:pPr>
              <a:lnSpc>
                <a:spcPct val="115000"/>
              </a:lnSpc>
              <a:spcAft>
                <a:spcPts val="1000"/>
              </a:spcAft>
            </a:pPr>
            <a:r>
              <a:rPr sz="1350" b="1">
                <a:solidFill>
                  <a:srgbClr val="0F172A"/>
                </a:solidFill>
                <a:latin typeface="Segoe UI"/>
              </a:rPr>
              <a:t>Two housekeeping fixes belong here.</a:t>
            </a:r>
            <a:r>
              <a:rPr sz="1350">
                <a:solidFill>
                  <a:srgbClr val="475569"/>
                </a:solidFill>
                <a:latin typeface="Segoe UI"/>
              </a:rPr>
              <a:t>  Rename CLAUDE (5).md to CLAUDE.md so its invariants actually load, and move PROJECT.md into /docs to match the documented layout.</a:t>
            </a:r>
          </a:p>
          <a:p>
            <a:pPr>
              <a:lnSpc>
                <a:spcPct val="115000"/>
              </a:lnSpc>
              <a:spcAft>
                <a:spcPts val="1000"/>
              </a:spcAft>
            </a:pPr>
            <a:r>
              <a:rPr sz="1350" b="1">
                <a:solidFill>
                  <a:srgbClr val="0F172A"/>
                </a:solidFill>
                <a:latin typeface="Segoe UI"/>
              </a:rPr>
              <a:t>Only Phase 0 directories exist.</a:t>
            </a:r>
            <a:r>
              <a:rPr sz="1350">
                <a:solidFill>
                  <a:srgbClr val="475569"/>
                </a:solidFill>
                <a:latin typeface="Segoe UI"/>
              </a:rPr>
              <a:t>  gravity, routing, sandbox, billing and apps stay absent until their phase. An empty directory is a promise you have not kept.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4</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CDK stack</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One stack creates everything; a clean clone deploys in one command.</a:t>
            </a:r>
          </a:p>
        </p:txBody>
      </p:sp>
      <p:sp>
        <p:nvSpPr>
          <p:cNvPr id="6" name="Rounded Rectangle 5"/>
          <p:cNvSpPr/>
          <p:nvPr/>
        </p:nvSpPr>
        <p:spPr>
          <a:xfrm>
            <a:off x="777240" y="2350008"/>
            <a:ext cx="10515600" cy="133502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8408" y="2487168"/>
            <a:ext cx="1014984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ONE-TIME SETUP, THEN ONE COMMAND FOREVER</a:t>
            </a:r>
          </a:p>
        </p:txBody>
      </p:sp>
      <p:sp>
        <p:nvSpPr>
          <p:cNvPr id="8" name="TextBox 7"/>
          <p:cNvSpPr txBox="1"/>
          <p:nvPr/>
        </p:nvSpPr>
        <p:spPr>
          <a:xfrm>
            <a:off x="978408" y="2761487"/>
            <a:ext cx="10149840" cy="1060704"/>
          </a:xfrm>
          <a:prstGeom prst="rect">
            <a:avLst/>
          </a:prstGeom>
          <a:noFill/>
        </p:spPr>
        <p:txBody>
          <a:bodyPr wrap="square" lIns="0" rIns="0" tIns="0" bIns="0">
            <a:spAutoFit/>
          </a:bodyPr>
          <a:lstStyle/>
          <a:p>
            <a:pPr>
              <a:lnSpc>
                <a:spcPct val="100000"/>
              </a:lnSpc>
              <a:spcAft>
                <a:spcPts val="200"/>
              </a:spcAft>
            </a:pPr>
            <a:r>
              <a:rPr sz="1150">
                <a:solidFill>
                  <a:srgbClr val="ED7100"/>
                </a:solidFill>
                <a:latin typeface="Consolas"/>
              </a:rPr>
              <a:t>$ npm i -g aws-cdk</a:t>
            </a:r>
          </a:p>
          <a:p>
            <a:pPr>
              <a:lnSpc>
                <a:spcPct val="100000"/>
              </a:lnSpc>
              <a:spcAft>
                <a:spcPts val="200"/>
              </a:spcAft>
            </a:pPr>
            <a:r>
              <a:rPr sz="1150">
                <a:solidFill>
                  <a:srgbClr val="ED7100"/>
                </a:solidFill>
                <a:latin typeface="Consolas"/>
              </a:rPr>
              <a:t>$ cd infra &amp;&amp; cdk init app --language typescript</a:t>
            </a:r>
          </a:p>
          <a:p>
            <a:pPr>
              <a:lnSpc>
                <a:spcPct val="100000"/>
              </a:lnSpc>
              <a:spcAft>
                <a:spcPts val="200"/>
              </a:spcAft>
            </a:pPr>
            <a:r>
              <a:rPr sz="1150">
                <a:solidFill>
                  <a:srgbClr val="ED7100"/>
                </a:solidFill>
                <a:latin typeface="Consolas"/>
              </a:rPr>
              <a:t>$ cdk bootstrap aws://&lt;account-id&gt;/us-east-1</a:t>
            </a:r>
          </a:p>
          <a:p>
            <a:pPr>
              <a:lnSpc>
                <a:spcPct val="100000"/>
              </a:lnSpc>
              <a:spcAft>
                <a:spcPts val="200"/>
              </a:spcAft>
            </a:pPr>
            <a:r>
              <a:rPr sz="1150">
                <a:solidFill>
                  <a:srgbClr val="ED7100"/>
                </a:solidFill>
                <a:latin typeface="Consolas"/>
              </a:rPr>
              <a:t>$ cdk deploy</a:t>
            </a:r>
          </a:p>
        </p:txBody>
      </p:sp>
      <p:sp>
        <p:nvSpPr>
          <p:cNvPr id="9" name="TextBox 8"/>
          <p:cNvSpPr txBox="1"/>
          <p:nvPr/>
        </p:nvSpPr>
        <p:spPr>
          <a:xfrm>
            <a:off x="777240" y="3721608"/>
            <a:ext cx="10515600" cy="2743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What the stack creates.</a:t>
            </a:r>
            <a:r>
              <a:rPr sz="1400">
                <a:solidFill>
                  <a:srgbClr val="475569"/>
                </a:solidFill>
                <a:latin typeface="Segoe UI"/>
              </a:rPr>
              <a:t>  Three DynamoDB tables, three Lambda functions with Function URLs, one least-privilege role per function, an S3 bucket for vector snapshots, and the billing alarm.</a:t>
            </a:r>
          </a:p>
          <a:p>
            <a:pPr>
              <a:lnSpc>
                <a:spcPct val="115000"/>
              </a:lnSpc>
              <a:spcAft>
                <a:spcPts val="1000"/>
              </a:spcAft>
            </a:pPr>
            <a:r>
              <a:rPr sz="1400" b="1">
                <a:solidFill>
                  <a:srgbClr val="0F172A"/>
                </a:solidFill>
                <a:latin typeface="Segoe UI"/>
              </a:rPr>
              <a:t>Why everything lives in CDK.</a:t>
            </a:r>
            <a:r>
              <a:rPr sz="1400">
                <a:solidFill>
                  <a:srgbClr val="475569"/>
                </a:solidFill>
                <a:latin typeface="Segoe UI"/>
              </a:rPr>
              <a:t>  Under the Free Plan the account can close at six months. If every resource is code, rebuilding in a fresh account is one command rather than an archaeology exercise.</a:t>
            </a:r>
          </a:p>
          <a:p>
            <a:pPr>
              <a:lnSpc>
                <a:spcPct val="115000"/>
              </a:lnSpc>
              <a:spcAft>
                <a:spcPts val="1000"/>
              </a:spcAft>
            </a:pPr>
            <a:r>
              <a:rPr sz="1400" b="1">
                <a:solidFill>
                  <a:srgbClr val="0F172A"/>
                </a:solidFill>
                <a:latin typeface="Segoe UI"/>
              </a:rPr>
              <a:t>Least privilege per function, not one shared role.</a:t>
            </a:r>
            <a:r>
              <a:rPr sz="1400">
                <a:solidFill>
                  <a:srgbClr val="475569"/>
                </a:solidFill>
                <a:latin typeface="Segoe UI"/>
              </a:rPr>
              <a:t>  registry-fn cannot touch the gaps table; search-fn cannot mutate the registry. The roles are where the invariants become real.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5</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DynamoDB table design</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783080"/>
          <a:ext cx="10515600" cy="1188720"/>
        </p:xfrm>
        <a:graphic>
          <a:graphicData uri="http://schemas.openxmlformats.org/drawingml/2006/table">
            <a:tbl>
              <a:tblPr firstRow="1" bandRow="1">
                <a:tableStyleId>{5C22544A-7EE6-4342-B048-85BDC9FD1C3A}</a:tableStyleId>
              </a:tblPr>
              <a:tblGrid>
                <a:gridCol w="1280160"/>
                <a:gridCol w="2011680"/>
                <a:gridCol w="1463040"/>
                <a:gridCol w="5760720"/>
              </a:tblGrid>
              <a:tr h="297180">
                <a:tc>
                  <a:txBody>
                    <a:bodyPr/>
                    <a:lstStyle/>
                    <a:p>
                      <a:r>
                        <a:rPr sz="1100" b="1">
                          <a:solidFill>
                            <a:srgbClr val="FFFFFF"/>
                          </a:solidFill>
                          <a:latin typeface="Segoe UI"/>
                        </a:rPr>
                        <a:t>Table</a:t>
                      </a:r>
                    </a:p>
                  </a:txBody>
                  <a:tcPr>
                    <a:solidFill>
                      <a:srgbClr val="0F172A"/>
                    </a:solidFill>
                  </a:tcPr>
                </a:tc>
                <a:tc>
                  <a:txBody>
                    <a:bodyPr/>
                    <a:lstStyle/>
                    <a:p>
                      <a:r>
                        <a:rPr sz="1100" b="1">
                          <a:solidFill>
                            <a:srgbClr val="FFFFFF"/>
                          </a:solidFill>
                          <a:latin typeface="Segoe UI"/>
                        </a:rPr>
                        <a:t>Partition key</a:t>
                      </a:r>
                    </a:p>
                  </a:txBody>
                  <a:tcPr>
                    <a:solidFill>
                      <a:srgbClr val="0F172A"/>
                    </a:solidFill>
                  </a:tcPr>
                </a:tc>
                <a:tc>
                  <a:txBody>
                    <a:bodyPr/>
                    <a:lstStyle/>
                    <a:p>
                      <a:r>
                        <a:rPr sz="1100" b="1">
                          <a:solidFill>
                            <a:srgbClr val="FFFFFF"/>
                          </a:solidFill>
                          <a:latin typeface="Segoe UI"/>
                        </a:rPr>
                        <a:t>Sort key</a:t>
                      </a:r>
                    </a:p>
                  </a:txBody>
                  <a:tcPr>
                    <a:solidFill>
                      <a:srgbClr val="0F172A"/>
                    </a:solidFill>
                  </a:tcPr>
                </a:tc>
                <a:tc>
                  <a:txBody>
                    <a:bodyPr/>
                    <a:lstStyle/>
                    <a:p>
                      <a:r>
                        <a:rPr sz="1100" b="1">
                          <a:solidFill>
                            <a:srgbClr val="FFFFFF"/>
                          </a:solidFill>
                          <a:latin typeface="Segoe UI"/>
                        </a:rPr>
                        <a:t>Also holds</a:t>
                      </a:r>
                    </a:p>
                  </a:txBody>
                  <a:tcPr>
                    <a:solidFill>
                      <a:srgbClr val="0F172A"/>
                    </a:solidFill>
                  </a:tcPr>
                </a:tc>
              </a:tr>
              <a:tr h="297180">
                <a:tc>
                  <a:txBody>
                    <a:bodyPr/>
                    <a:lstStyle/>
                    <a:p>
                      <a:r>
                        <a:rPr sz="1100">
                          <a:solidFill>
                            <a:srgbClr val="475569"/>
                          </a:solidFill>
                          <a:latin typeface="Segoe UI"/>
                        </a:rPr>
                        <a:t>tools</a:t>
                      </a:r>
                    </a:p>
                  </a:txBody>
                  <a:tcPr>
                    <a:solidFill>
                      <a:srgbClr val="FFFFFF"/>
                    </a:solidFill>
                  </a:tcPr>
                </a:tc>
                <a:tc>
                  <a:txBody>
                    <a:bodyPr/>
                    <a:lstStyle/>
                    <a:p>
                      <a:r>
                        <a:rPr sz="1100">
                          <a:solidFill>
                            <a:srgbClr val="475569"/>
                          </a:solidFill>
                          <a:latin typeface="Segoe UI"/>
                        </a:rPr>
                        <a:t>tool_id</a:t>
                      </a:r>
                    </a:p>
                  </a:txBody>
                  <a:tcPr>
                    <a:solidFill>
                      <a:srgbClr val="FFFFFF"/>
                    </a:solidFill>
                  </a:tcPr>
                </a:tc>
                <a:tc>
                  <a:txBody>
                    <a:bodyPr/>
                    <a:lstStyle/>
                    <a:p>
                      <a:r>
                        <a:rPr sz="1100">
                          <a:solidFill>
                            <a:srgbClr val="475569"/>
                          </a:solidFill>
                          <a:latin typeface="Segoe UI"/>
                        </a:rPr>
                        <a:t>version</a:t>
                      </a:r>
                    </a:p>
                  </a:txBody>
                  <a:tcPr>
                    <a:solidFill>
                      <a:srgbClr val="FFFFFF"/>
                    </a:solidFill>
                  </a:tcPr>
                </a:tc>
                <a:tc>
                  <a:txBody>
                    <a:bodyPr/>
                    <a:lstStyle/>
                    <a:p>
                      <a:r>
                        <a:rPr sz="1100">
                          <a:solidFill>
                            <a:srgbClr val="475569"/>
                          </a:solidFill>
                          <a:latin typeface="Segoe UI"/>
                        </a:rPr>
                        <a:t>name, description, mcp_url, category, owner, vector</a:t>
                      </a:r>
                    </a:p>
                  </a:txBody>
                  <a:tcPr>
                    <a:solidFill>
                      <a:srgbClr val="FFFFFF"/>
                    </a:solidFill>
                  </a:tcPr>
                </a:tc>
              </a:tr>
              <a:tr h="297180">
                <a:tc>
                  <a:txBody>
                    <a:bodyPr/>
                    <a:lstStyle/>
                    <a:p>
                      <a:r>
                        <a:rPr sz="1100">
                          <a:solidFill>
                            <a:srgbClr val="475569"/>
                          </a:solidFill>
                          <a:latin typeface="Segoe UI"/>
                        </a:rPr>
                        <a:t>events</a:t>
                      </a:r>
                    </a:p>
                  </a:txBody>
                  <a:tcPr>
                    <a:solidFill>
                      <a:srgbClr val="F8FAFC"/>
                    </a:solidFill>
                  </a:tcPr>
                </a:tc>
                <a:tc>
                  <a:txBody>
                    <a:bodyPr/>
                    <a:lstStyle/>
                    <a:p>
                      <a:r>
                        <a:rPr sz="1100">
                          <a:solidFill>
                            <a:srgbClr val="475569"/>
                          </a:solidFill>
                          <a:latin typeface="Segoe UI"/>
                        </a:rPr>
                        <a:t>event_id</a:t>
                      </a:r>
                    </a:p>
                  </a:txBody>
                  <a:tcPr>
                    <a:solidFill>
                      <a:srgbClr val="F8FAFC"/>
                    </a:solidFill>
                  </a:tcPr>
                </a:tc>
                <a:tc>
                  <a:txBody>
                    <a:bodyPr/>
                    <a:lstStyle/>
                    <a:p>
                      <a:r>
                        <a:rPr sz="1100">
                          <a:solidFill>
                            <a:srgbClr val="475569"/>
                          </a:solidFill>
                          <a:latin typeface="Segoe UI"/>
                        </a:rPr>
                        <a:t>ts</a:t>
                      </a:r>
                    </a:p>
                  </a:txBody>
                  <a:tcPr>
                    <a:solidFill>
                      <a:srgbClr val="F8FAFC"/>
                    </a:solidFill>
                  </a:tcPr>
                </a:tc>
                <a:tc>
                  <a:txBody>
                    <a:bodyPr/>
                    <a:lstStyle/>
                    <a:p>
                      <a:r>
                        <a:rPr sz="1100">
                          <a:solidFill>
                            <a:srgbClr val="475569"/>
                          </a:solidFill>
                          <a:latin typeface="Segoe UI"/>
                        </a:rPr>
                        <a:t>type, actor (agent + session), payload</a:t>
                      </a:r>
                    </a:p>
                  </a:txBody>
                  <a:tcPr>
                    <a:solidFill>
                      <a:srgbClr val="F8FAFC"/>
                    </a:solidFill>
                  </a:tcPr>
                </a:tc>
              </a:tr>
              <a:tr h="297180">
                <a:tc>
                  <a:txBody>
                    <a:bodyPr/>
                    <a:lstStyle/>
                    <a:p>
                      <a:r>
                        <a:rPr sz="1100">
                          <a:solidFill>
                            <a:srgbClr val="475569"/>
                          </a:solidFill>
                          <a:latin typeface="Segoe UI"/>
                        </a:rPr>
                        <a:t>gaps</a:t>
                      </a:r>
                    </a:p>
                  </a:txBody>
                  <a:tcPr>
                    <a:solidFill>
                      <a:srgbClr val="FFFFFF"/>
                    </a:solidFill>
                  </a:tcPr>
                </a:tc>
                <a:tc>
                  <a:txBody>
                    <a:bodyPr/>
                    <a:lstStyle/>
                    <a:p>
                      <a:r>
                        <a:rPr sz="1100">
                          <a:solidFill>
                            <a:srgbClr val="475569"/>
                          </a:solidFill>
                          <a:latin typeface="Segoe UI"/>
                        </a:rPr>
                        <a:t>gap_id</a:t>
                      </a:r>
                    </a:p>
                  </a:txBody>
                  <a:tcPr>
                    <a:solidFill>
                      <a:srgbClr val="FFFFFF"/>
                    </a:solidFill>
                  </a:tcPr>
                </a:tc>
                <a:tc>
                  <a:txBody>
                    <a:bodyPr/>
                    <a:lstStyle/>
                    <a:p>
                      <a:r>
                        <a:rPr sz="1100">
                          <a:solidFill>
                            <a:srgbClr val="475569"/>
                          </a:solidFill>
                          <a:latin typeface="Segoe UI"/>
                        </a:rPr>
                        <a:t>ts</a:t>
                      </a:r>
                    </a:p>
                  </a:txBody>
                  <a:tcPr>
                    <a:solidFill>
                      <a:srgbClr val="FFFFFF"/>
                    </a:solidFill>
                  </a:tcPr>
                </a:tc>
                <a:tc>
                  <a:txBody>
                    <a:bodyPr/>
                    <a:lstStyle/>
                    <a:p>
                      <a:r>
                        <a:rPr sz="1100">
                          <a:solidFill>
                            <a:srgbClr val="475569"/>
                          </a:solidFill>
                          <a:latin typeface="Segoe UI"/>
                        </a:rPr>
                        <a:t>query, top_k with scores, reason, threshold T, actor</a:t>
                      </a:r>
                    </a:p>
                  </a:txBody>
                  <a:tcPr>
                    <a:solidFill>
                      <a:srgbClr val="FFFFFF"/>
                    </a:solidFill>
                  </a:tcPr>
                </a:tc>
              </a:tr>
            </a:tbl>
          </a:graphicData>
        </a:graphic>
      </p:graphicFrame>
      <p:sp>
        <p:nvSpPr>
          <p:cNvPr id="6" name="TextBox 5"/>
          <p:cNvSpPr txBox="1"/>
          <p:nvPr/>
        </p:nvSpPr>
        <p:spPr>
          <a:xfrm>
            <a:off x="777240" y="3154680"/>
            <a:ext cx="10515600" cy="2743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Version as the sort key is what makes versions immutable.</a:t>
            </a:r>
            <a:r>
              <a:rPr sz="1400">
                <a:solidFill>
                  <a:srgbClr val="475569"/>
                </a:solidFill>
                <a:latin typeface="Segoe UI"/>
              </a:rPr>
              <a:t>  A new version is a new item, not an edit. The old row is physically untouched, so dependents keep resolving to what they were built against.</a:t>
            </a:r>
          </a:p>
          <a:p>
            <a:pPr>
              <a:lnSpc>
                <a:spcPct val="115000"/>
              </a:lnSpc>
              <a:spcAft>
                <a:spcPts val="1000"/>
              </a:spcAft>
            </a:pPr>
            <a:r>
              <a:rPr sz="1400" b="1">
                <a:solidFill>
                  <a:srgbClr val="0F172A"/>
                </a:solidFill>
                <a:latin typeface="Segoe UI"/>
              </a:rPr>
              <a:t>Store the vector on the tool row.</a:t>
            </a:r>
            <a:r>
              <a:rPr sz="1400">
                <a:solidFill>
                  <a:srgbClr val="475569"/>
                </a:solidFill>
                <a:latin typeface="Segoe UI"/>
              </a:rPr>
              <a:t>  1024 floats as base64 binary is about 4 KB — far inside the 400 KB item limit, and a cold start then needs one query rather than a join.</a:t>
            </a:r>
          </a:p>
          <a:p>
            <a:pPr>
              <a:lnSpc>
                <a:spcPct val="115000"/>
              </a:lnSpc>
              <a:spcAft>
                <a:spcPts val="1000"/>
              </a:spcAft>
            </a:pPr>
            <a:r>
              <a:rPr sz="1400" b="1">
                <a:solidFill>
                  <a:srgbClr val="0F172A"/>
                </a:solidFill>
                <a:latin typeface="Segoe UI"/>
              </a:rPr>
              <a:t>Add a day-bucketed index for replay.</a:t>
            </a:r>
            <a:r>
              <a:rPr sz="1400">
                <a:solidFill>
                  <a:srgbClr val="475569"/>
                </a:solidFill>
                <a:latin typeface="Segoe UI"/>
              </a:rPr>
              <a:t>  A GSI keyed on the date makes 'replay every event in order' a query instead of a full scan. Phase 2 scoring depends on that replay staying cheap.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6</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Append-only, enforced by IAM</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The invariant is worth nothing if it lives only in application code.</a:t>
            </a:r>
          </a:p>
        </p:txBody>
      </p:sp>
      <p:sp>
        <p:nvSpPr>
          <p:cNvPr id="6" name="Rounded Rectangle 5"/>
          <p:cNvSpPr/>
          <p:nvPr/>
        </p:nvSpPr>
        <p:spPr>
          <a:xfrm>
            <a:off x="777240" y="2350008"/>
            <a:ext cx="10515600" cy="1924812"/>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8408" y="2487168"/>
            <a:ext cx="1014984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THE EVENTS AND GAPS ROLE — ALLOW PLUS AN EXPLICIT DENY</a:t>
            </a:r>
          </a:p>
        </p:txBody>
      </p:sp>
      <p:sp>
        <p:nvSpPr>
          <p:cNvPr id="8" name="TextBox 7"/>
          <p:cNvSpPr txBox="1"/>
          <p:nvPr/>
        </p:nvSpPr>
        <p:spPr>
          <a:xfrm>
            <a:off x="978408" y="2761487"/>
            <a:ext cx="10149840" cy="1650492"/>
          </a:xfrm>
          <a:prstGeom prst="rect">
            <a:avLst/>
          </a:prstGeom>
          <a:noFill/>
        </p:spPr>
        <p:txBody>
          <a:bodyPr wrap="square" lIns="0" rIns="0" tIns="0" bIns="0">
            <a:spAutoFit/>
          </a:bodyPr>
          <a:lstStyle/>
          <a:p>
            <a:pPr>
              <a:lnSpc>
                <a:spcPct val="100000"/>
              </a:lnSpc>
              <a:spcAft>
                <a:spcPts val="200"/>
              </a:spcAft>
            </a:pPr>
            <a:r>
              <a:rPr sz="1150">
                <a:solidFill>
                  <a:srgbClr val="E2E8F0"/>
                </a:solidFill>
                <a:latin typeface="Consolas"/>
              </a:rPr>
              <a:t>{ "Effect": "Allow",</a:t>
            </a:r>
          </a:p>
          <a:p>
            <a:pPr>
              <a:lnSpc>
                <a:spcPct val="100000"/>
              </a:lnSpc>
              <a:spcAft>
                <a:spcPts val="200"/>
              </a:spcAft>
            </a:pPr>
            <a:r>
              <a:rPr sz="1150">
                <a:solidFill>
                  <a:srgbClr val="E2E8F0"/>
                </a:solidFill>
                <a:latin typeface="Consolas"/>
              </a:rPr>
              <a:t>  "Action": ["dynamodb:PutItem", "dynamodb:Query", "dynamodb:GetItem"],</a:t>
            </a:r>
          </a:p>
          <a:p>
            <a:pPr>
              <a:lnSpc>
                <a:spcPct val="100000"/>
              </a:lnSpc>
              <a:spcAft>
                <a:spcPts val="200"/>
              </a:spcAft>
            </a:pPr>
            <a:r>
              <a:rPr sz="1150">
                <a:solidFill>
                  <a:srgbClr val="E2E8F0"/>
                </a:solidFill>
                <a:latin typeface="Consolas"/>
              </a:rPr>
              <a:t>  "Resource": "arn:aws:dynamodb:*:*:table/endless-events" }</a:t>
            </a:r>
          </a:p>
          <a:p>
            <a:pPr>
              <a:lnSpc>
                <a:spcPct val="100000"/>
              </a:lnSpc>
              <a:spcAft>
                <a:spcPts val="200"/>
              </a:spcAft>
            </a:pPr>
            <a:r>
              <a:rPr sz="1150">
                <a:solidFill>
                  <a:srgbClr val="E2E8F0"/>
                </a:solidFill>
                <a:latin typeface="Consolas"/>
              </a:rPr>
              <a:t> </a:t>
            </a:r>
          </a:p>
          <a:p>
            <a:pPr>
              <a:lnSpc>
                <a:spcPct val="100000"/>
              </a:lnSpc>
              <a:spcAft>
                <a:spcPts val="200"/>
              </a:spcAft>
            </a:pPr>
            <a:r>
              <a:rPr sz="1150">
                <a:solidFill>
                  <a:srgbClr val="E2E8F0"/>
                </a:solidFill>
                <a:latin typeface="Consolas"/>
              </a:rPr>
              <a:t>{ "Effect": "Deny",</a:t>
            </a:r>
          </a:p>
          <a:p>
            <a:pPr>
              <a:lnSpc>
                <a:spcPct val="100000"/>
              </a:lnSpc>
              <a:spcAft>
                <a:spcPts val="200"/>
              </a:spcAft>
            </a:pPr>
            <a:r>
              <a:rPr sz="1150">
                <a:solidFill>
                  <a:srgbClr val="E2E8F0"/>
                </a:solidFill>
                <a:latin typeface="Consolas"/>
              </a:rPr>
              <a:t>  "Action": ["dynamodb:UpdateItem", "dynamodb:DeleteItem", "dynamodb:BatchWriteItem"],</a:t>
            </a:r>
          </a:p>
          <a:p>
            <a:pPr>
              <a:lnSpc>
                <a:spcPct val="100000"/>
              </a:lnSpc>
              <a:spcAft>
                <a:spcPts val="200"/>
              </a:spcAft>
            </a:pPr>
            <a:r>
              <a:rPr sz="1150">
                <a:solidFill>
                  <a:srgbClr val="E2E8F0"/>
                </a:solidFill>
                <a:latin typeface="Consolas"/>
              </a:rPr>
              <a:t>  "Resource": "arn:aws:dynamodb:*:*:table/endless-events" }</a:t>
            </a:r>
          </a:p>
        </p:txBody>
      </p:sp>
      <p:sp>
        <p:nvSpPr>
          <p:cNvPr id="9" name="TextBox 8"/>
          <p:cNvSpPr txBox="1"/>
          <p:nvPr/>
        </p:nvSpPr>
        <p:spPr>
          <a:xfrm>
            <a:off x="777240" y="4453127"/>
            <a:ext cx="10515600" cy="201168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The explicit Deny is the point.</a:t>
            </a:r>
            <a:r>
              <a:rPr sz="1400">
                <a:solidFill>
                  <a:srgbClr val="475569"/>
                </a:solidFill>
                <a:latin typeface="Segoe UI"/>
              </a:rPr>
              <a:t>  An Allow that merely omits UpdateItem can be widened later by accident. An explicit Deny cannot be overridden by any other policy, so the invariant survives future carelessness.</a:t>
            </a:r>
          </a:p>
          <a:p>
            <a:pPr>
              <a:lnSpc>
                <a:spcPct val="115000"/>
              </a:lnSpc>
              <a:spcAft>
                <a:spcPts val="1000"/>
              </a:spcAft>
            </a:pPr>
            <a:r>
              <a:rPr sz="1400" b="1">
                <a:solidFill>
                  <a:srgbClr val="0F172A"/>
                </a:solidFill>
                <a:latin typeface="Segoe UI"/>
              </a:rPr>
              <a:t>BatchWriteItem is denied too.</a:t>
            </a:r>
            <a:r>
              <a:rPr sz="1400">
                <a:solidFill>
                  <a:srgbClr val="475569"/>
                </a:solidFill>
                <a:latin typeface="Segoe UI"/>
              </a:rPr>
              <a:t>  It can delete. Denying only DeleteItem leaves the back door open — an easy one to miss.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7</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three Lambda functions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783080"/>
          <a:ext cx="10515600" cy="1188720"/>
        </p:xfrm>
        <a:graphic>
          <a:graphicData uri="http://schemas.openxmlformats.org/drawingml/2006/table">
            <a:tbl>
              <a:tblPr firstRow="1" bandRow="1">
                <a:tableStyleId>{5C22544A-7EE6-4342-B048-85BDC9FD1C3A}</a:tableStyleId>
              </a:tblPr>
              <a:tblGrid>
                <a:gridCol w="1737360"/>
                <a:gridCol w="1188720"/>
                <a:gridCol w="5029200"/>
                <a:gridCol w="2560320"/>
              </a:tblGrid>
              <a:tr h="297180">
                <a:tc>
                  <a:txBody>
                    <a:bodyPr/>
                    <a:lstStyle/>
                    <a:p>
                      <a:r>
                        <a:rPr sz="1100" b="1">
                          <a:solidFill>
                            <a:srgbClr val="FFFFFF"/>
                          </a:solidFill>
                          <a:latin typeface="Segoe UI"/>
                        </a:rPr>
                        <a:t>Function</a:t>
                      </a:r>
                    </a:p>
                  </a:txBody>
                  <a:tcPr>
                    <a:solidFill>
                      <a:srgbClr val="0F172A"/>
                    </a:solidFill>
                  </a:tcPr>
                </a:tc>
                <a:tc>
                  <a:txBody>
                    <a:bodyPr/>
                    <a:lstStyle/>
                    <a:p>
                      <a:r>
                        <a:rPr sz="1100" b="1">
                          <a:solidFill>
                            <a:srgbClr val="FFFFFF"/>
                          </a:solidFill>
                          <a:latin typeface="Segoe UI"/>
                        </a:rPr>
                        <a:t>Memory</a:t>
                      </a:r>
                    </a:p>
                  </a:txBody>
                  <a:tcPr>
                    <a:solidFill>
                      <a:srgbClr val="0F172A"/>
                    </a:solidFill>
                  </a:tcPr>
                </a:tc>
                <a:tc>
                  <a:txBody>
                    <a:bodyPr/>
                    <a:lstStyle/>
                    <a:p>
                      <a:r>
                        <a:rPr sz="1100" b="1">
                          <a:solidFill>
                            <a:srgbClr val="FFFFFF"/>
                          </a:solidFill>
                          <a:latin typeface="Segoe UI"/>
                        </a:rPr>
                        <a:t>Does</a:t>
                      </a:r>
                    </a:p>
                  </a:txBody>
                  <a:tcPr>
                    <a:solidFill>
                      <a:srgbClr val="0F172A"/>
                    </a:solidFill>
                  </a:tcPr>
                </a:tc>
                <a:tc>
                  <a:txBody>
                    <a:bodyPr/>
                    <a:lstStyle/>
                    <a:p>
                      <a:r>
                        <a:rPr sz="1100" b="1">
                          <a:solidFill>
                            <a:srgbClr val="FFFFFF"/>
                          </a:solidFill>
                          <a:latin typeface="Segoe UI"/>
                        </a:rPr>
                        <a:t>Writes to</a:t>
                      </a:r>
                    </a:p>
                  </a:txBody>
                  <a:tcPr>
                    <a:solidFill>
                      <a:srgbClr val="0F172A"/>
                    </a:solidFill>
                  </a:tcPr>
                </a:tc>
              </a:tr>
              <a:tr h="297180">
                <a:tc>
                  <a:txBody>
                    <a:bodyPr/>
                    <a:lstStyle/>
                    <a:p>
                      <a:r>
                        <a:rPr sz="1100">
                          <a:solidFill>
                            <a:srgbClr val="475569"/>
                          </a:solidFill>
                          <a:latin typeface="Segoe UI"/>
                        </a:rPr>
                        <a:t>registry-fn</a:t>
                      </a:r>
                    </a:p>
                  </a:txBody>
                  <a:tcPr>
                    <a:solidFill>
                      <a:srgbClr val="FFFFFF"/>
                    </a:solidFill>
                  </a:tcPr>
                </a:tc>
                <a:tc>
                  <a:txBody>
                    <a:bodyPr/>
                    <a:lstStyle/>
                    <a:p>
                      <a:r>
                        <a:rPr sz="1100">
                          <a:solidFill>
                            <a:srgbClr val="475569"/>
                          </a:solidFill>
                          <a:latin typeface="Segoe UI"/>
                        </a:rPr>
                        <a:t>512 MB</a:t>
                      </a:r>
                    </a:p>
                  </a:txBody>
                  <a:tcPr>
                    <a:solidFill>
                      <a:srgbClr val="FFFFFF"/>
                    </a:solidFill>
                  </a:tcPr>
                </a:tc>
                <a:tc>
                  <a:txBody>
                    <a:bodyPr/>
                    <a:lstStyle/>
                    <a:p>
                      <a:r>
                        <a:rPr sz="1100">
                          <a:solidFill>
                            <a:srgbClr val="475569"/>
                          </a:solidFill>
                          <a:latin typeface="Segoe UI"/>
                        </a:rPr>
                        <a:t>POST /tools, GET /tools/{id}[/{version}]</a:t>
                      </a:r>
                    </a:p>
                  </a:txBody>
                  <a:tcPr>
                    <a:solidFill>
                      <a:srgbClr val="FFFFFF"/>
                    </a:solidFill>
                  </a:tcPr>
                </a:tc>
                <a:tc>
                  <a:txBody>
                    <a:bodyPr/>
                    <a:lstStyle/>
                    <a:p>
                      <a:r>
                        <a:rPr sz="1100">
                          <a:solidFill>
                            <a:srgbClr val="475569"/>
                          </a:solidFill>
                          <a:latin typeface="Segoe UI"/>
                        </a:rPr>
                        <a:t>tools</a:t>
                      </a:r>
                    </a:p>
                  </a:txBody>
                  <a:tcPr>
                    <a:solidFill>
                      <a:srgbClr val="FFFFFF"/>
                    </a:solidFill>
                  </a:tcPr>
                </a:tc>
              </a:tr>
              <a:tr h="297180">
                <a:tc>
                  <a:txBody>
                    <a:bodyPr/>
                    <a:lstStyle/>
                    <a:p>
                      <a:r>
                        <a:rPr sz="1100">
                          <a:solidFill>
                            <a:srgbClr val="475569"/>
                          </a:solidFill>
                          <a:latin typeface="Segoe UI"/>
                        </a:rPr>
                        <a:t>search-fn</a:t>
                      </a:r>
                    </a:p>
                  </a:txBody>
                  <a:tcPr>
                    <a:solidFill>
                      <a:srgbClr val="F8FAFC"/>
                    </a:solidFill>
                  </a:tcPr>
                </a:tc>
                <a:tc>
                  <a:txBody>
                    <a:bodyPr/>
                    <a:lstStyle/>
                    <a:p>
                      <a:r>
                        <a:rPr sz="1100">
                          <a:solidFill>
                            <a:srgbClr val="475569"/>
                          </a:solidFill>
                          <a:latin typeface="Segoe UI"/>
                        </a:rPr>
                        <a:t>1024 MB</a:t>
                      </a:r>
                    </a:p>
                  </a:txBody>
                  <a:tcPr>
                    <a:solidFill>
                      <a:srgbClr val="F8FAFC"/>
                    </a:solidFill>
                  </a:tcPr>
                </a:tc>
                <a:tc>
                  <a:txBody>
                    <a:bodyPr/>
                    <a:lstStyle/>
                    <a:p>
                      <a:r>
                        <a:rPr sz="1100">
                          <a:solidFill>
                            <a:srgbClr val="475569"/>
                          </a:solidFill>
                          <a:latin typeface="Segoe UI"/>
                        </a:rPr>
                        <a:t>POST /search — embed, rank, decide gap</a:t>
                      </a:r>
                    </a:p>
                  </a:txBody>
                  <a:tcPr>
                    <a:solidFill>
                      <a:srgbClr val="F8FAFC"/>
                    </a:solidFill>
                  </a:tcPr>
                </a:tc>
                <a:tc>
                  <a:txBody>
                    <a:bodyPr/>
                    <a:lstStyle/>
                    <a:p>
                      <a:r>
                        <a:rPr sz="1100">
                          <a:solidFill>
                            <a:srgbClr val="475569"/>
                          </a:solidFill>
                          <a:latin typeface="Segoe UI"/>
                        </a:rPr>
                        <a:t>events, gaps</a:t>
                      </a:r>
                    </a:p>
                  </a:txBody>
                  <a:tcPr>
                    <a:solidFill>
                      <a:srgbClr val="F8FAFC"/>
                    </a:solidFill>
                  </a:tcPr>
                </a:tc>
              </a:tr>
              <a:tr h="297180">
                <a:tc>
                  <a:txBody>
                    <a:bodyPr/>
                    <a:lstStyle/>
                    <a:p>
                      <a:r>
                        <a:rPr sz="1100">
                          <a:solidFill>
                            <a:srgbClr val="475569"/>
                          </a:solidFill>
                          <a:latin typeface="Segoe UI"/>
                        </a:rPr>
                        <a:t>events-fn</a:t>
                      </a:r>
                    </a:p>
                  </a:txBody>
                  <a:tcPr>
                    <a:solidFill>
                      <a:srgbClr val="FFFFFF"/>
                    </a:solidFill>
                  </a:tcPr>
                </a:tc>
                <a:tc>
                  <a:txBody>
                    <a:bodyPr/>
                    <a:lstStyle/>
                    <a:p>
                      <a:r>
                        <a:rPr sz="1100">
                          <a:solidFill>
                            <a:srgbClr val="475569"/>
                          </a:solidFill>
                          <a:latin typeface="Segoe UI"/>
                        </a:rPr>
                        <a:t>512 MB</a:t>
                      </a:r>
                    </a:p>
                  </a:txBody>
                  <a:tcPr>
                    <a:solidFill>
                      <a:srgbClr val="FFFFFF"/>
                    </a:solidFill>
                  </a:tcPr>
                </a:tc>
                <a:tc>
                  <a:txBody>
                    <a:bodyPr/>
                    <a:lstStyle/>
                    <a:p>
                      <a:r>
                        <a:rPr sz="1100">
                          <a:solidFill>
                            <a:srgbClr val="475569"/>
                          </a:solidFill>
                          <a:latin typeface="Segoe UI"/>
                        </a:rPr>
                        <a:t>internal append-only writer</a:t>
                      </a:r>
                    </a:p>
                  </a:txBody>
                  <a:tcPr>
                    <a:solidFill>
                      <a:srgbClr val="FFFFFF"/>
                    </a:solidFill>
                  </a:tcPr>
                </a:tc>
                <a:tc>
                  <a:txBody>
                    <a:bodyPr/>
                    <a:lstStyle/>
                    <a:p>
                      <a:r>
                        <a:rPr sz="1100">
                          <a:solidFill>
                            <a:srgbClr val="475569"/>
                          </a:solidFill>
                          <a:latin typeface="Segoe UI"/>
                        </a:rPr>
                        <a:t>events</a:t>
                      </a:r>
                    </a:p>
                  </a:txBody>
                  <a:tcPr>
                    <a:solidFill>
                      <a:srgbClr val="FFFFFF"/>
                    </a:solidFill>
                  </a:tcPr>
                </a:tc>
              </a:tr>
            </a:tbl>
          </a:graphicData>
        </a:graphic>
      </p:graphicFrame>
      <p:sp>
        <p:nvSpPr>
          <p:cNvPr id="6" name="TextBox 5"/>
          <p:cNvSpPr txBox="1"/>
          <p:nvPr/>
        </p:nvSpPr>
        <p:spPr>
          <a:xfrm>
            <a:off x="777240" y="3017520"/>
            <a:ext cx="10515600" cy="292608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The always-free allowance is generous here.</a:t>
            </a:r>
            <a:r>
              <a:rPr sz="1400">
                <a:solidFill>
                  <a:srgbClr val="475569"/>
                </a:solidFill>
                <a:latin typeface="Segoe UI"/>
              </a:rPr>
              <a:t>  1M requests and 400,000 GB-seconds a month. At 512 MB that is roughly 800,000 seconds of execution — Phase 0 will not come close.</a:t>
            </a:r>
          </a:p>
          <a:p>
            <a:pPr>
              <a:lnSpc>
                <a:spcPct val="115000"/>
              </a:lnSpc>
              <a:spcAft>
                <a:spcPts val="1000"/>
              </a:spcAft>
            </a:pPr>
            <a:r>
              <a:rPr sz="1400" b="1">
                <a:solidFill>
                  <a:srgbClr val="0F172A"/>
                </a:solidFill>
                <a:latin typeface="Segoe UI"/>
              </a:rPr>
              <a:t>Cache the vectors in module scope.</a:t>
            </a:r>
            <a:r>
              <a:rPr sz="1400">
                <a:solidFill>
                  <a:srgbClr val="475569"/>
                </a:solidFill>
                <a:latin typeface="Segoe UI"/>
              </a:rPr>
              <a:t>  Load the S3 snapshot once per cold start into a module-level variable; every warm invocation then skips the load. This is what makes brute-force search viable.</a:t>
            </a:r>
          </a:p>
          <a:p>
            <a:pPr>
              <a:lnSpc>
                <a:spcPct val="115000"/>
              </a:lnSpc>
              <a:spcAft>
                <a:spcPts val="1000"/>
              </a:spcAft>
            </a:pPr>
            <a:r>
              <a:rPr sz="1400" b="1">
                <a:solidFill>
                  <a:srgbClr val="0F172A"/>
                </a:solidFill>
                <a:latin typeface="Segoe UI"/>
              </a:rPr>
              <a:t>Function URLs, not API Gateway.</a:t>
            </a:r>
            <a:r>
              <a:rPr sz="1400">
                <a:solidFill>
                  <a:srgbClr val="475569"/>
                </a:solidFill>
                <a:latin typeface="Segoe UI"/>
              </a:rPr>
              <a:t>  One URL per function, no extra service, no 12-month clock. Use AWS_IAM auth for registry and events; search can stay open during development.</a:t>
            </a:r>
          </a:p>
          <a:p>
            <a:pPr>
              <a:lnSpc>
                <a:spcPct val="115000"/>
              </a:lnSpc>
              <a:spcAft>
                <a:spcPts val="1000"/>
              </a:spcAft>
            </a:pPr>
            <a:r>
              <a:rPr sz="1400" b="1">
                <a:solidFill>
                  <a:srgbClr val="0F172A"/>
                </a:solidFill>
                <a:latin typeface="Segoe UI"/>
              </a:rPr>
              <a:t>Give search-fn more memory than it needs.</a:t>
            </a:r>
            <a:r>
              <a:rPr sz="1400">
                <a:solidFill>
                  <a:srgbClr val="475569"/>
                </a:solidFill>
                <a:latin typeface="Segoe UI"/>
              </a:rPr>
              <a:t>  Lambda scales CPU with memory, so 1024 MB makes the cosine loop and JSON parsing faster and often costs the same or fewer GB-seconds overall.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8</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embedding call</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783080"/>
            <a:ext cx="10515600" cy="2318003"/>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78408" y="1920240"/>
            <a:ext cx="1014984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ONE CALL, SHARED BY REGISTRY AND SEARCH</a:t>
            </a:r>
          </a:p>
        </p:txBody>
      </p:sp>
      <p:sp>
        <p:nvSpPr>
          <p:cNvPr id="7" name="TextBox 6"/>
          <p:cNvSpPr txBox="1"/>
          <p:nvPr/>
        </p:nvSpPr>
        <p:spPr>
          <a:xfrm>
            <a:off x="978408" y="2194560"/>
            <a:ext cx="10149840" cy="2043684"/>
          </a:xfrm>
          <a:prstGeom prst="rect">
            <a:avLst/>
          </a:prstGeom>
          <a:noFill/>
        </p:spPr>
        <p:txBody>
          <a:bodyPr wrap="square" lIns="0" rIns="0" tIns="0" bIns="0">
            <a:spAutoFit/>
          </a:bodyPr>
          <a:lstStyle/>
          <a:p>
            <a:pPr>
              <a:lnSpc>
                <a:spcPct val="100000"/>
              </a:lnSpc>
              <a:spcAft>
                <a:spcPts val="200"/>
              </a:spcAft>
            </a:pPr>
            <a:r>
              <a:rPr sz="1150">
                <a:solidFill>
                  <a:srgbClr val="E2E8F0"/>
                </a:solidFill>
                <a:latin typeface="Consolas"/>
              </a:rPr>
              <a:t>const out = await bedrock.send(new InvokeModelCommand({</a:t>
            </a:r>
          </a:p>
          <a:p>
            <a:pPr>
              <a:lnSpc>
                <a:spcPct val="100000"/>
              </a:lnSpc>
              <a:spcAft>
                <a:spcPts val="200"/>
              </a:spcAft>
            </a:pPr>
            <a:r>
              <a:rPr sz="1150">
                <a:solidFill>
                  <a:srgbClr val="E2E8F0"/>
                </a:solidFill>
                <a:latin typeface="Consolas"/>
              </a:rPr>
              <a:t>  modelId: "amazon.titan-embed-text-v2:0",</a:t>
            </a:r>
          </a:p>
          <a:p>
            <a:pPr>
              <a:lnSpc>
                <a:spcPct val="100000"/>
              </a:lnSpc>
              <a:spcAft>
                <a:spcPts val="200"/>
              </a:spcAft>
            </a:pPr>
            <a:r>
              <a:rPr sz="1150">
                <a:solidFill>
                  <a:srgbClr val="E2E8F0"/>
                </a:solidFill>
                <a:latin typeface="Consolas"/>
              </a:rPr>
              <a:t>  contentType: "application/json",</a:t>
            </a:r>
          </a:p>
          <a:p>
            <a:pPr>
              <a:lnSpc>
                <a:spcPct val="100000"/>
              </a:lnSpc>
              <a:spcAft>
                <a:spcPts val="200"/>
              </a:spcAft>
            </a:pPr>
            <a:r>
              <a:rPr sz="1150">
                <a:solidFill>
                  <a:srgbClr val="E2E8F0"/>
                </a:solidFill>
                <a:latin typeface="Consolas"/>
              </a:rPr>
              <a:t>  body: JSON.stringify({</a:t>
            </a:r>
          </a:p>
          <a:p>
            <a:pPr>
              <a:lnSpc>
                <a:spcPct val="100000"/>
              </a:lnSpc>
              <a:spcAft>
                <a:spcPts val="200"/>
              </a:spcAft>
            </a:pPr>
            <a:r>
              <a:rPr sz="1150">
                <a:solidFill>
                  <a:srgbClr val="E2E8F0"/>
                </a:solidFill>
                <a:latin typeface="Consolas"/>
              </a:rPr>
              <a:t>    inputText: text,      // up to 8192 tokens</a:t>
            </a:r>
          </a:p>
          <a:p>
            <a:pPr>
              <a:lnSpc>
                <a:spcPct val="100000"/>
              </a:lnSpc>
              <a:spcAft>
                <a:spcPts val="200"/>
              </a:spcAft>
            </a:pPr>
            <a:r>
              <a:rPr sz="1150">
                <a:solidFill>
                  <a:srgbClr val="E2E8F0"/>
                </a:solidFill>
                <a:latin typeface="Consolas"/>
              </a:rPr>
              <a:t>    dimensions: 1024,     // 512 and 256 also supported</a:t>
            </a:r>
          </a:p>
          <a:p>
            <a:pPr>
              <a:lnSpc>
                <a:spcPct val="100000"/>
              </a:lnSpc>
              <a:spcAft>
                <a:spcPts val="200"/>
              </a:spcAft>
            </a:pPr>
            <a:r>
              <a:rPr sz="1150">
                <a:solidFill>
                  <a:srgbClr val="E2E8F0"/>
                </a:solidFill>
                <a:latin typeface="Consolas"/>
              </a:rPr>
              <a:t>    normalize: true       // lets cosine reduce to a dot product</a:t>
            </a:r>
          </a:p>
          <a:p>
            <a:pPr>
              <a:lnSpc>
                <a:spcPct val="100000"/>
              </a:lnSpc>
              <a:spcAft>
                <a:spcPts val="200"/>
              </a:spcAft>
            </a:pPr>
            <a:r>
              <a:rPr sz="1150">
                <a:solidFill>
                  <a:srgbClr val="E2E8F0"/>
                </a:solidFill>
                <a:latin typeface="Consolas"/>
              </a:rPr>
              <a:t>  })</a:t>
            </a:r>
          </a:p>
          <a:p>
            <a:pPr>
              <a:lnSpc>
                <a:spcPct val="100000"/>
              </a:lnSpc>
              <a:spcAft>
                <a:spcPts val="200"/>
              </a:spcAft>
            </a:pPr>
            <a:r>
              <a:rPr sz="1150">
                <a:solidFill>
                  <a:srgbClr val="E2E8F0"/>
                </a:solidFill>
                <a:latin typeface="Consolas"/>
              </a:rPr>
              <a:t>}));</a:t>
            </a:r>
          </a:p>
        </p:txBody>
      </p:sp>
      <p:sp>
        <p:nvSpPr>
          <p:cNvPr id="8" name="TextBox 7"/>
          <p:cNvSpPr txBox="1"/>
          <p:nvPr/>
        </p:nvSpPr>
        <p:spPr>
          <a:xfrm>
            <a:off x="777240" y="3977639"/>
            <a:ext cx="10515600" cy="210312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Normalize at the source.</a:t>
            </a:r>
            <a:r>
              <a:rPr sz="1400">
                <a:solidFill>
                  <a:srgbClr val="475569"/>
                </a:solidFill>
                <a:latin typeface="Segoe UI"/>
              </a:rPr>
              <a:t>  With normalized vectors, cosine similarity is just a dot product — less code in the hot path and no chance of normalising inconsistently between indexing and querying.</a:t>
            </a:r>
          </a:p>
          <a:p>
            <a:pPr>
              <a:lnSpc>
                <a:spcPct val="115000"/>
              </a:lnSpc>
              <a:spcAft>
                <a:spcPts val="1000"/>
              </a:spcAft>
            </a:pPr>
            <a:r>
              <a:rPr sz="1400" b="1">
                <a:solidFill>
                  <a:srgbClr val="0F172A"/>
                </a:solidFill>
                <a:latin typeface="Segoe UI"/>
              </a:rPr>
              <a:t>Embed the same way in both places.</a:t>
            </a:r>
            <a:r>
              <a:rPr sz="1400">
                <a:solidFill>
                  <a:srgbClr val="475569"/>
                </a:solidFill>
                <a:latin typeface="Segoe UI"/>
              </a:rPr>
              <a:t>  Tool descriptions and queries must go through one shared function. Different preprocessing on the two sides is a silent and very common recall killer.</a:t>
            </a:r>
          </a:p>
          <a:p>
            <a:pPr>
              <a:lnSpc>
                <a:spcPct val="115000"/>
              </a:lnSpc>
              <a:spcAft>
                <a:spcPts val="1000"/>
              </a:spcAft>
            </a:pPr>
            <a:r>
              <a:rPr sz="1400" b="1">
                <a:solidFill>
                  <a:srgbClr val="0F172A"/>
                </a:solidFill>
                <a:latin typeface="Segoe UI"/>
              </a:rPr>
              <a:t>Log token spend on every call.</a:t>
            </a:r>
            <a:r>
              <a:rPr sz="1400">
                <a:solidFill>
                  <a:srgbClr val="475569"/>
                </a:solidFill>
                <a:latin typeface="Segoe UI"/>
              </a:rPr>
              <a:t>  It is the only line item that costs money, so the phase's true cost should be measured, not estimated.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 STEP 9</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Deploy and verify — the runbook</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Each step has an expected result. If one does not match, stop.</a:t>
            </a:r>
          </a:p>
        </p:txBody>
      </p:sp>
      <p:graphicFrame>
        <p:nvGraphicFramePr>
          <p:cNvPr id="6" name="Table 5"/>
          <p:cNvGraphicFramePr>
            <a:graphicFrameLocks noGrp="1"/>
          </p:cNvGraphicFramePr>
          <p:nvPr/>
        </p:nvGraphicFramePr>
        <p:xfrm>
          <a:off x="777240" y="2350008"/>
          <a:ext cx="10515600" cy="2359152"/>
        </p:xfrm>
        <a:graphic>
          <a:graphicData uri="http://schemas.openxmlformats.org/drawingml/2006/table">
            <a:tbl>
              <a:tblPr firstRow="1" bandRow="1">
                <a:tableStyleId>{5C22544A-7EE6-4342-B048-85BDC9FD1C3A}</a:tableStyleId>
              </a:tblPr>
              <a:tblGrid>
                <a:gridCol w="548640"/>
                <a:gridCol w="4023360"/>
                <a:gridCol w="5943600"/>
              </a:tblGrid>
              <a:tr h="294894">
                <a:tc>
                  <a:txBody>
                    <a:bodyPr/>
                    <a:lstStyle/>
                    <a:p>
                      <a:r>
                        <a:rPr sz="1100" b="1">
                          <a:solidFill>
                            <a:srgbClr val="FFFFFF"/>
                          </a:solidFill>
                          <a:latin typeface="Segoe UI"/>
                        </a:rPr>
                        <a:t>#</a:t>
                      </a:r>
                    </a:p>
                  </a:txBody>
                  <a:tcPr>
                    <a:solidFill>
                      <a:srgbClr val="0F172A"/>
                    </a:solidFill>
                  </a:tcPr>
                </a:tc>
                <a:tc>
                  <a:txBody>
                    <a:bodyPr/>
                    <a:lstStyle/>
                    <a:p>
                      <a:r>
                        <a:rPr sz="1100" b="1">
                          <a:solidFill>
                            <a:srgbClr val="FFFFFF"/>
                          </a:solidFill>
                          <a:latin typeface="Segoe UI"/>
                        </a:rPr>
                        <a:t>Action</a:t>
                      </a:r>
                    </a:p>
                  </a:txBody>
                  <a:tcPr>
                    <a:solidFill>
                      <a:srgbClr val="0F172A"/>
                    </a:solidFill>
                  </a:tcPr>
                </a:tc>
                <a:tc>
                  <a:txBody>
                    <a:bodyPr/>
                    <a:lstStyle/>
                    <a:p>
                      <a:r>
                        <a:rPr sz="1100" b="1">
                          <a:solidFill>
                            <a:srgbClr val="FFFFFF"/>
                          </a:solidFill>
                          <a:latin typeface="Segoe UI"/>
                        </a:rPr>
                        <a:t>Expected result</a:t>
                      </a:r>
                    </a:p>
                  </a:txBody>
                  <a:tcPr>
                    <a:solidFill>
                      <a:srgbClr val="0F172A"/>
                    </a:solidFill>
                  </a:tcPr>
                </a:tc>
              </a:tr>
              <a:tr h="294894">
                <a:tc>
                  <a:txBody>
                    <a:bodyPr/>
                    <a:lstStyle/>
                    <a:p>
                      <a:r>
                        <a:rPr sz="1100">
                          <a:solidFill>
                            <a:srgbClr val="475569"/>
                          </a:solidFill>
                          <a:latin typeface="Segoe UI"/>
                        </a:rPr>
                        <a:t>1</a:t>
                      </a:r>
                    </a:p>
                  </a:txBody>
                  <a:tcPr>
                    <a:solidFill>
                      <a:srgbClr val="FFFFFF"/>
                    </a:solidFill>
                  </a:tcPr>
                </a:tc>
                <a:tc>
                  <a:txBody>
                    <a:bodyPr/>
                    <a:lstStyle/>
                    <a:p>
                      <a:r>
                        <a:rPr sz="1100">
                          <a:solidFill>
                            <a:srgbClr val="475569"/>
                          </a:solidFill>
                          <a:latin typeface="Segoe UI"/>
                        </a:rPr>
                        <a:t>cdk deploy</a:t>
                      </a:r>
                    </a:p>
                  </a:txBody>
                  <a:tcPr>
                    <a:solidFill>
                      <a:srgbClr val="FFFFFF"/>
                    </a:solidFill>
                  </a:tcPr>
                </a:tc>
                <a:tc>
                  <a:txBody>
                    <a:bodyPr/>
                    <a:lstStyle/>
                    <a:p>
                      <a:r>
                        <a:rPr sz="1100">
                          <a:solidFill>
                            <a:srgbClr val="475569"/>
                          </a:solidFill>
                          <a:latin typeface="Segoe UI"/>
                        </a:rPr>
                        <a:t>Three tables, three function URLs, alarm created</a:t>
                      </a:r>
                    </a:p>
                  </a:txBody>
                  <a:tcPr>
                    <a:solidFill>
                      <a:srgbClr val="FFFFFF"/>
                    </a:solidFill>
                  </a:tcPr>
                </a:tc>
              </a:tr>
              <a:tr h="294894">
                <a:tc>
                  <a:txBody>
                    <a:bodyPr/>
                    <a:lstStyle/>
                    <a:p>
                      <a:r>
                        <a:rPr sz="1100">
                          <a:solidFill>
                            <a:srgbClr val="475569"/>
                          </a:solidFill>
                          <a:latin typeface="Segoe UI"/>
                        </a:rPr>
                        <a:t>2</a:t>
                      </a:r>
                    </a:p>
                  </a:txBody>
                  <a:tcPr>
                    <a:solidFill>
                      <a:srgbClr val="F8FAFC"/>
                    </a:solidFill>
                  </a:tcPr>
                </a:tc>
                <a:tc>
                  <a:txBody>
                    <a:bodyPr/>
                    <a:lstStyle/>
                    <a:p>
                      <a:r>
                        <a:rPr sz="1100">
                          <a:solidFill>
                            <a:srgbClr val="475569"/>
                          </a:solidFill>
                          <a:latin typeface="Segoe UI"/>
                        </a:rPr>
                        <a:t>Register a tool</a:t>
                      </a:r>
                    </a:p>
                  </a:txBody>
                  <a:tcPr>
                    <a:solidFill>
                      <a:srgbClr val="F8FAFC"/>
                    </a:solidFill>
                  </a:tcPr>
                </a:tc>
                <a:tc>
                  <a:txBody>
                    <a:bodyPr/>
                    <a:lstStyle/>
                    <a:p>
                      <a:r>
                        <a:rPr sz="1100">
                          <a:solidFill>
                            <a:srgbClr val="475569"/>
                          </a:solidFill>
                          <a:latin typeface="Segoe UI"/>
                        </a:rPr>
                        <a:t>Returns tool_id@1</a:t>
                      </a:r>
                    </a:p>
                  </a:txBody>
                  <a:tcPr>
                    <a:solidFill>
                      <a:srgbClr val="F8FAFC"/>
                    </a:solidFill>
                  </a:tcPr>
                </a:tc>
              </a:tr>
              <a:tr h="294894">
                <a:tc>
                  <a:txBody>
                    <a:bodyPr/>
                    <a:lstStyle/>
                    <a:p>
                      <a:r>
                        <a:rPr sz="1100">
                          <a:solidFill>
                            <a:srgbClr val="475569"/>
                          </a:solidFill>
                          <a:latin typeface="Segoe UI"/>
                        </a:rPr>
                        <a:t>3</a:t>
                      </a:r>
                    </a:p>
                  </a:txBody>
                  <a:tcPr>
                    <a:solidFill>
                      <a:srgbClr val="FFFFFF"/>
                    </a:solidFill>
                  </a:tcPr>
                </a:tc>
                <a:tc>
                  <a:txBody>
                    <a:bodyPr/>
                    <a:lstStyle/>
                    <a:p>
                      <a:r>
                        <a:rPr sz="1100">
                          <a:solidFill>
                            <a:srgbClr val="475569"/>
                          </a:solidFill>
                          <a:latin typeface="Segoe UI"/>
                        </a:rPr>
                        <a:t>Register the same tool again</a:t>
                      </a:r>
                    </a:p>
                  </a:txBody>
                  <a:tcPr>
                    <a:solidFill>
                      <a:srgbClr val="FFFFFF"/>
                    </a:solidFill>
                  </a:tcPr>
                </a:tc>
                <a:tc>
                  <a:txBody>
                    <a:bodyPr/>
                    <a:lstStyle/>
                    <a:p>
                      <a:r>
                        <a:rPr sz="1100">
                          <a:solidFill>
                            <a:srgbClr val="475569"/>
                          </a:solidFill>
                          <a:latin typeface="Segoe UI"/>
                        </a:rPr>
                        <a:t>Returns @2; the @1 row is byte identical</a:t>
                      </a:r>
                    </a:p>
                  </a:txBody>
                  <a:tcPr>
                    <a:solidFill>
                      <a:srgbClr val="FFFFFF"/>
                    </a:solidFill>
                  </a:tcPr>
                </a:tc>
              </a:tr>
              <a:tr h="294894">
                <a:tc>
                  <a:txBody>
                    <a:bodyPr/>
                    <a:lstStyle/>
                    <a:p>
                      <a:r>
                        <a:rPr sz="1100">
                          <a:solidFill>
                            <a:srgbClr val="475569"/>
                          </a:solidFill>
                          <a:latin typeface="Segoe UI"/>
                        </a:rPr>
                        <a:t>4</a:t>
                      </a:r>
                    </a:p>
                  </a:txBody>
                  <a:tcPr>
                    <a:solidFill>
                      <a:srgbClr val="F8FAFC"/>
                    </a:solidFill>
                  </a:tcPr>
                </a:tc>
                <a:tc>
                  <a:txBody>
                    <a:bodyPr/>
                    <a:lstStyle/>
                    <a:p>
                      <a:r>
                        <a:rPr sz="1100">
                          <a:solidFill>
                            <a:srgbClr val="475569"/>
                          </a:solidFill>
                          <a:latin typeface="Segoe UI"/>
                        </a:rPr>
                        <a:t>Search for something seeded</a:t>
                      </a:r>
                    </a:p>
                  </a:txBody>
                  <a:tcPr>
                    <a:solidFill>
                      <a:srgbClr val="F8FAFC"/>
                    </a:solidFill>
                  </a:tcPr>
                </a:tc>
                <a:tc>
                  <a:txBody>
                    <a:bodyPr/>
                    <a:lstStyle/>
                    <a:p>
                      <a:r>
                        <a:rPr sz="1100">
                          <a:solidFill>
                            <a:srgbClr val="475569"/>
                          </a:solidFill>
                          <a:latin typeface="Segoe UI"/>
                        </a:rPr>
                        <a:t>Ranked results, plus one new row in events</a:t>
                      </a:r>
                    </a:p>
                  </a:txBody>
                  <a:tcPr>
                    <a:solidFill>
                      <a:srgbClr val="F8FAFC"/>
                    </a:solidFill>
                  </a:tcPr>
                </a:tc>
              </a:tr>
              <a:tr h="294894">
                <a:tc>
                  <a:txBody>
                    <a:bodyPr/>
                    <a:lstStyle/>
                    <a:p>
                      <a:r>
                        <a:rPr sz="1100">
                          <a:solidFill>
                            <a:srgbClr val="475569"/>
                          </a:solidFill>
                          <a:latin typeface="Segoe UI"/>
                        </a:rPr>
                        <a:t>5</a:t>
                      </a:r>
                    </a:p>
                  </a:txBody>
                  <a:tcPr>
                    <a:solidFill>
                      <a:srgbClr val="FFFFFF"/>
                    </a:solidFill>
                  </a:tcPr>
                </a:tc>
                <a:tc>
                  <a:txBody>
                    <a:bodyPr/>
                    <a:lstStyle/>
                    <a:p>
                      <a:r>
                        <a:rPr sz="1100">
                          <a:solidFill>
                            <a:srgbClr val="475569"/>
                          </a:solidFill>
                          <a:latin typeface="Segoe UI"/>
                        </a:rPr>
                        <a:t>Search for nonsense</a:t>
                      </a:r>
                    </a:p>
                  </a:txBody>
                  <a:tcPr>
                    <a:solidFill>
                      <a:srgbClr val="FFFFFF"/>
                    </a:solidFill>
                  </a:tcPr>
                </a:tc>
                <a:tc>
                  <a:txBody>
                    <a:bodyPr/>
                    <a:lstStyle/>
                    <a:p>
                      <a:r>
                        <a:rPr sz="1100">
                          <a:solidFill>
                            <a:srgbClr val="475569"/>
                          </a:solidFill>
                          <a:latin typeface="Segoe UI"/>
                        </a:rPr>
                        <a:t>A gap row with the full top-k and the value of T</a:t>
                      </a:r>
                    </a:p>
                  </a:txBody>
                  <a:tcPr>
                    <a:solidFill>
                      <a:srgbClr val="FFFFFF"/>
                    </a:solidFill>
                  </a:tcPr>
                </a:tc>
              </a:tr>
              <a:tr h="294894">
                <a:tc>
                  <a:txBody>
                    <a:bodyPr/>
                    <a:lstStyle/>
                    <a:p>
                      <a:r>
                        <a:rPr sz="1100">
                          <a:solidFill>
                            <a:srgbClr val="475569"/>
                          </a:solidFill>
                          <a:latin typeface="Segoe UI"/>
                        </a:rPr>
                        <a:t>6</a:t>
                      </a:r>
                    </a:p>
                  </a:txBody>
                  <a:tcPr>
                    <a:solidFill>
                      <a:srgbClr val="F8FAFC"/>
                    </a:solidFill>
                  </a:tcPr>
                </a:tc>
                <a:tc>
                  <a:txBody>
                    <a:bodyPr/>
                    <a:lstStyle/>
                    <a:p>
                      <a:r>
                        <a:rPr sz="1100">
                          <a:solidFill>
                            <a:srgbClr val="475569"/>
                          </a:solidFill>
                          <a:latin typeface="Segoe UI"/>
                        </a:rPr>
                        <a:t>Call UpdateItem on events by hand</a:t>
                      </a:r>
                    </a:p>
                  </a:txBody>
                  <a:tcPr>
                    <a:solidFill>
                      <a:srgbClr val="F8FAFC"/>
                    </a:solidFill>
                  </a:tcPr>
                </a:tc>
                <a:tc>
                  <a:txBody>
                    <a:bodyPr/>
                    <a:lstStyle/>
                    <a:p>
                      <a:r>
                        <a:rPr sz="1100">
                          <a:solidFill>
                            <a:srgbClr val="475569"/>
                          </a:solidFill>
                          <a:latin typeface="Segoe UI"/>
                        </a:rPr>
                        <a:t>AccessDenied — this is the invariant test</a:t>
                      </a:r>
                    </a:p>
                  </a:txBody>
                  <a:tcPr>
                    <a:solidFill>
                      <a:srgbClr val="F8FAFC"/>
                    </a:solidFill>
                  </a:tcPr>
                </a:tc>
              </a:tr>
              <a:tr h="294894">
                <a:tc>
                  <a:txBody>
                    <a:bodyPr/>
                    <a:lstStyle/>
                    <a:p>
                      <a:r>
                        <a:rPr sz="1100">
                          <a:solidFill>
                            <a:srgbClr val="475569"/>
                          </a:solidFill>
                          <a:latin typeface="Segoe UI"/>
                        </a:rPr>
                        <a:t>7</a:t>
                      </a:r>
                    </a:p>
                  </a:txBody>
                  <a:tcPr>
                    <a:solidFill>
                      <a:srgbClr val="FFFFFF"/>
                    </a:solidFill>
                  </a:tcPr>
                </a:tc>
                <a:tc>
                  <a:txBody>
                    <a:bodyPr/>
                    <a:lstStyle/>
                    <a:p>
                      <a:r>
                        <a:rPr sz="1100">
                          <a:solidFill>
                            <a:srgbClr val="475569"/>
                          </a:solidFill>
                          <a:latin typeface="Segoe UI"/>
                        </a:rPr>
                        <a:t>Check CloudWatch</a:t>
                      </a:r>
                    </a:p>
                  </a:txBody>
                  <a:tcPr>
                    <a:solidFill>
                      <a:srgbClr val="FFFFFF"/>
                    </a:solidFill>
                  </a:tcPr>
                </a:tc>
                <a:tc>
                  <a:txBody>
                    <a:bodyPr/>
                    <a:lstStyle/>
                    <a:p>
                      <a:r>
                        <a:rPr sz="1100">
                          <a:solidFill>
                            <a:srgbClr val="475569"/>
                          </a:solidFill>
                          <a:latin typeface="Segoe UI"/>
                        </a:rPr>
                        <a:t>Token spend logged; the billing alarm stays quiet</a:t>
                      </a:r>
                    </a:p>
                  </a:txBody>
                  <a:tcPr>
                    <a:solidFill>
                      <a:srgbClr val="FFFFFF"/>
                    </a:solidFill>
                  </a:tcPr>
                </a:tc>
              </a:tr>
            </a:tbl>
          </a:graphicData>
        </a:graphic>
      </p:graphicFrame>
      <p:sp>
        <p:nvSpPr>
          <p:cNvPr id="7" name="Rounded Rectangle 6"/>
          <p:cNvSpPr/>
          <p:nvPr/>
        </p:nvSpPr>
        <p:spPr>
          <a:xfrm>
            <a:off x="777240" y="4864608"/>
            <a:ext cx="10515600" cy="868680"/>
          </a:xfrm>
          <a:prstGeom prst="roundRect">
            <a:avLst/>
          </a:prstGeom>
          <a:solidFill>
            <a:srgbClr val="FEF2F2"/>
          </a:solidFill>
          <a:ln w="15875">
            <a:solidFill>
              <a:srgbClr val="DD34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5047488"/>
            <a:ext cx="9966960" cy="594359"/>
          </a:xfrm>
          <a:prstGeom prst="rect">
            <a:avLst/>
          </a:prstGeom>
          <a:noFill/>
        </p:spPr>
        <p:txBody>
          <a:bodyPr wrap="square" lIns="0" rIns="0" tIns="0" bIns="0">
            <a:spAutoFit/>
          </a:bodyPr>
          <a:lstStyle/>
          <a:p>
            <a:pPr algn="l">
              <a:lnSpc>
                <a:spcPct val="115000"/>
              </a:lnSpc>
            </a:pPr>
            <a:r>
              <a:rPr sz="1350" b="1">
                <a:solidFill>
                  <a:srgbClr val="991B1B"/>
                </a:solidFill>
                <a:latin typeface="Segoe UI"/>
              </a:rPr>
              <a:t>Step 6 is the one people skip. An append-only log that has never been attacked is only a claim — run the denial and watch it fail.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COST</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this actually costs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One correction worth knowing before you write the CDK.</a:t>
            </a:r>
          </a:p>
        </p:txBody>
      </p:sp>
      <p:sp>
        <p:nvSpPr>
          <p:cNvPr id="6" name="Rounded Rectangle 5"/>
          <p:cNvSpPr/>
          <p:nvPr/>
        </p:nvSpPr>
        <p:spPr>
          <a:xfrm>
            <a:off x="777240" y="2350008"/>
            <a:ext cx="10515600" cy="1005840"/>
          </a:xfrm>
          <a:prstGeom prst="roundRect">
            <a:avLst/>
          </a:prstGeom>
          <a:solidFill>
            <a:srgbClr val="FFF7ED"/>
          </a:solidFill>
          <a:ln w="15875">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2532888"/>
            <a:ext cx="9966960" cy="731520"/>
          </a:xfrm>
          <a:prstGeom prst="rect">
            <a:avLst/>
          </a:prstGeom>
          <a:noFill/>
        </p:spPr>
        <p:txBody>
          <a:bodyPr wrap="square" lIns="0" rIns="0" tIns="0" bIns="0">
            <a:spAutoFit/>
          </a:bodyPr>
          <a:lstStyle/>
          <a:p>
            <a:pPr algn="l">
              <a:lnSpc>
                <a:spcPct val="115000"/>
              </a:lnSpc>
            </a:pPr>
            <a:r>
              <a:rPr sz="1350" b="1">
                <a:solidFill>
                  <a:srgbClr val="7C2D12"/>
                </a:solidFill>
                <a:latin typeface="Segoe UI"/>
              </a:rPr>
              <a:t>DynamoDB's always-free 25 WCU / 25 RCU applies to PROVISIONED capacity only. On-demand mode is not covered — an on-demand table bills from the first request.</a:t>
            </a:r>
          </a:p>
        </p:txBody>
      </p:sp>
      <p:graphicFrame>
        <p:nvGraphicFramePr>
          <p:cNvPr id="8" name="Table 7"/>
          <p:cNvGraphicFramePr>
            <a:graphicFrameLocks noGrp="1"/>
          </p:cNvGraphicFramePr>
          <p:nvPr/>
        </p:nvGraphicFramePr>
        <p:xfrm>
          <a:off x="777240" y="3538728"/>
          <a:ext cx="10515600" cy="1773936"/>
        </p:xfrm>
        <a:graphic>
          <a:graphicData uri="http://schemas.openxmlformats.org/drawingml/2006/table">
            <a:tbl>
              <a:tblPr firstRow="1" bandRow="1">
                <a:tableStyleId>{5C22544A-7EE6-4342-B048-85BDC9FD1C3A}</a:tableStyleId>
              </a:tblPr>
              <a:tblGrid>
                <a:gridCol w="1737360"/>
                <a:gridCol w="4023360"/>
                <a:gridCol w="3200400"/>
                <a:gridCol w="1554480"/>
              </a:tblGrid>
              <a:tr h="295656">
                <a:tc>
                  <a:txBody>
                    <a:bodyPr/>
                    <a:lstStyle/>
                    <a:p>
                      <a:r>
                        <a:rPr sz="1100" b="1">
                          <a:solidFill>
                            <a:srgbClr val="FFFFFF"/>
                          </a:solidFill>
                          <a:latin typeface="Segoe UI"/>
                        </a:rPr>
                        <a:t>Service</a:t>
                      </a:r>
                    </a:p>
                  </a:txBody>
                  <a:tcPr>
                    <a:solidFill>
                      <a:srgbClr val="0F172A"/>
                    </a:solidFill>
                  </a:tcPr>
                </a:tc>
                <a:tc>
                  <a:txBody>
                    <a:bodyPr/>
                    <a:lstStyle/>
                    <a:p>
                      <a:r>
                        <a:rPr sz="1100" b="1">
                          <a:solidFill>
                            <a:srgbClr val="FFFFFF"/>
                          </a:solidFill>
                          <a:latin typeface="Segoe UI"/>
                        </a:rPr>
                        <a:t>Free allowance</a:t>
                      </a:r>
                    </a:p>
                  </a:txBody>
                  <a:tcPr>
                    <a:solidFill>
                      <a:srgbClr val="0F172A"/>
                    </a:solidFill>
                  </a:tcPr>
                </a:tc>
                <a:tc>
                  <a:txBody>
                    <a:bodyPr/>
                    <a:lstStyle/>
                    <a:p>
                      <a:r>
                        <a:rPr sz="1100" b="1">
                          <a:solidFill>
                            <a:srgbClr val="FFFFFF"/>
                          </a:solidFill>
                          <a:latin typeface="Segoe UI"/>
                        </a:rPr>
                        <a:t>Phase 0 usage</a:t>
                      </a:r>
                    </a:p>
                  </a:txBody>
                  <a:tcPr>
                    <a:solidFill>
                      <a:srgbClr val="0F172A"/>
                    </a:solidFill>
                  </a:tcPr>
                </a:tc>
                <a:tc>
                  <a:txBody>
                    <a:bodyPr/>
                    <a:lstStyle/>
                    <a:p>
                      <a:r>
                        <a:rPr sz="1100" b="1">
                          <a:solidFill>
                            <a:srgbClr val="FFFFFF"/>
                          </a:solidFill>
                          <a:latin typeface="Segoe UI"/>
                        </a:rPr>
                        <a:t>Cost</a:t>
                      </a:r>
                    </a:p>
                  </a:txBody>
                  <a:tcPr>
                    <a:solidFill>
                      <a:srgbClr val="0F172A"/>
                    </a:solidFill>
                  </a:tcPr>
                </a:tc>
              </a:tr>
              <a:tr h="295656">
                <a:tc>
                  <a:txBody>
                    <a:bodyPr/>
                    <a:lstStyle/>
                    <a:p>
                      <a:r>
                        <a:rPr sz="1100">
                          <a:solidFill>
                            <a:srgbClr val="475569"/>
                          </a:solidFill>
                          <a:latin typeface="Segoe UI"/>
                        </a:rPr>
                        <a:t>Lambda</a:t>
                      </a:r>
                    </a:p>
                  </a:txBody>
                  <a:tcPr>
                    <a:solidFill>
                      <a:srgbClr val="FFFFFF"/>
                    </a:solidFill>
                  </a:tcPr>
                </a:tc>
                <a:tc>
                  <a:txBody>
                    <a:bodyPr/>
                    <a:lstStyle/>
                    <a:p>
                      <a:r>
                        <a:rPr sz="1100">
                          <a:solidFill>
                            <a:srgbClr val="475569"/>
                          </a:solidFill>
                          <a:latin typeface="Segoe UI"/>
                        </a:rPr>
                        <a:t>1M requests + 400k GB-s monthly, always</a:t>
                      </a:r>
                    </a:p>
                  </a:txBody>
                  <a:tcPr>
                    <a:solidFill>
                      <a:srgbClr val="FFFFFF"/>
                    </a:solidFill>
                  </a:tcPr>
                </a:tc>
                <a:tc>
                  <a:txBody>
                    <a:bodyPr/>
                    <a:lstStyle/>
                    <a:p>
                      <a:r>
                        <a:rPr sz="1100">
                          <a:solidFill>
                            <a:srgbClr val="475569"/>
                          </a:solidFill>
                          <a:latin typeface="Segoe UI"/>
                        </a:rPr>
                        <a:t>a few thousand requests</a:t>
                      </a:r>
                    </a:p>
                  </a:txBody>
                  <a:tcPr>
                    <a:solidFill>
                      <a:srgbClr val="FFFFFF"/>
                    </a:solidFill>
                  </a:tcPr>
                </a:tc>
                <a:tc>
                  <a:txBody>
                    <a:bodyPr/>
                    <a:lstStyle/>
                    <a:p>
                      <a:r>
                        <a:rPr sz="1100">
                          <a:solidFill>
                            <a:srgbClr val="475569"/>
                          </a:solidFill>
                          <a:latin typeface="Segoe UI"/>
                        </a:rPr>
                        <a:t>$0</a:t>
                      </a:r>
                    </a:p>
                  </a:txBody>
                  <a:tcPr>
                    <a:solidFill>
                      <a:srgbClr val="FFFFFF"/>
                    </a:solidFill>
                  </a:tcPr>
                </a:tc>
              </a:tr>
              <a:tr h="295656">
                <a:tc>
                  <a:txBody>
                    <a:bodyPr/>
                    <a:lstStyle/>
                    <a:p>
                      <a:r>
                        <a:rPr sz="1100">
                          <a:solidFill>
                            <a:srgbClr val="475569"/>
                          </a:solidFill>
                          <a:latin typeface="Segoe UI"/>
                        </a:rPr>
                        <a:t>DynamoDB</a:t>
                      </a:r>
                    </a:p>
                  </a:txBody>
                  <a:tcPr>
                    <a:solidFill>
                      <a:srgbClr val="F8FAFC"/>
                    </a:solidFill>
                  </a:tcPr>
                </a:tc>
                <a:tc>
                  <a:txBody>
                    <a:bodyPr/>
                    <a:lstStyle/>
                    <a:p>
                      <a:r>
                        <a:rPr sz="1100">
                          <a:solidFill>
                            <a:srgbClr val="475569"/>
                          </a:solidFill>
                          <a:latin typeface="Segoe UI"/>
                        </a:rPr>
                        <a:t>25 GB + 25 WCU / 25 RCU provisioned, always</a:t>
                      </a:r>
                    </a:p>
                  </a:txBody>
                  <a:tcPr>
                    <a:solidFill>
                      <a:srgbClr val="F8FAFC"/>
                    </a:solidFill>
                  </a:tcPr>
                </a:tc>
                <a:tc>
                  <a:txBody>
                    <a:bodyPr/>
                    <a:lstStyle/>
                    <a:p>
                      <a:r>
                        <a:rPr sz="1100">
                          <a:solidFill>
                            <a:srgbClr val="475569"/>
                          </a:solidFill>
                          <a:latin typeface="Segoe UI"/>
                        </a:rPr>
                        <a:t>3 tables at 5/5 = 15/15</a:t>
                      </a:r>
                    </a:p>
                  </a:txBody>
                  <a:tcPr>
                    <a:solidFill>
                      <a:srgbClr val="F8FAFC"/>
                    </a:solidFill>
                  </a:tcPr>
                </a:tc>
                <a:tc>
                  <a:txBody>
                    <a:bodyPr/>
                    <a:lstStyle/>
                    <a:p>
                      <a:r>
                        <a:rPr sz="1100">
                          <a:solidFill>
                            <a:srgbClr val="475569"/>
                          </a:solidFill>
                          <a:latin typeface="Segoe UI"/>
                        </a:rPr>
                        <a:t>$0</a:t>
                      </a:r>
                    </a:p>
                  </a:txBody>
                  <a:tcPr>
                    <a:solidFill>
                      <a:srgbClr val="F8FAFC"/>
                    </a:solidFill>
                  </a:tcPr>
                </a:tc>
              </a:tr>
              <a:tr h="295656">
                <a:tc>
                  <a:txBody>
                    <a:bodyPr/>
                    <a:lstStyle/>
                    <a:p>
                      <a:r>
                        <a:rPr sz="1100">
                          <a:solidFill>
                            <a:srgbClr val="475569"/>
                          </a:solidFill>
                          <a:latin typeface="Segoe UI"/>
                        </a:rPr>
                        <a:t>S3</a:t>
                      </a:r>
                    </a:p>
                  </a:txBody>
                  <a:tcPr>
                    <a:solidFill>
                      <a:srgbClr val="FFFFFF"/>
                    </a:solidFill>
                  </a:tcPr>
                </a:tc>
                <a:tc>
                  <a:txBody>
                    <a:bodyPr/>
                    <a:lstStyle/>
                    <a:p>
                      <a:r>
                        <a:rPr sz="1100">
                          <a:solidFill>
                            <a:srgbClr val="475569"/>
                          </a:solidFill>
                          <a:latin typeface="Segoe UI"/>
                        </a:rPr>
                        <a:t>5 GB (12-month tier)</a:t>
                      </a:r>
                    </a:p>
                  </a:txBody>
                  <a:tcPr>
                    <a:solidFill>
                      <a:srgbClr val="FFFFFF"/>
                    </a:solidFill>
                  </a:tcPr>
                </a:tc>
                <a:tc>
                  <a:txBody>
                    <a:bodyPr/>
                    <a:lstStyle/>
                    <a:p>
                      <a:r>
                        <a:rPr sz="1100">
                          <a:solidFill>
                            <a:srgbClr val="475569"/>
                          </a:solidFill>
                          <a:latin typeface="Segoe UI"/>
                        </a:rPr>
                        <a:t>a few MB of snapshots</a:t>
                      </a:r>
                    </a:p>
                  </a:txBody>
                  <a:tcPr>
                    <a:solidFill>
                      <a:srgbClr val="FFFFFF"/>
                    </a:solidFill>
                  </a:tcPr>
                </a:tc>
                <a:tc>
                  <a:txBody>
                    <a:bodyPr/>
                    <a:lstStyle/>
                    <a:p>
                      <a:r>
                        <a:rPr sz="1100">
                          <a:solidFill>
                            <a:srgbClr val="475569"/>
                          </a:solidFill>
                          <a:latin typeface="Segoe UI"/>
                        </a:rPr>
                        <a:t>$0</a:t>
                      </a:r>
                    </a:p>
                  </a:txBody>
                  <a:tcPr>
                    <a:solidFill>
                      <a:srgbClr val="FFFFFF"/>
                    </a:solidFill>
                  </a:tcPr>
                </a:tc>
              </a:tr>
              <a:tr h="295656">
                <a:tc>
                  <a:txBody>
                    <a:bodyPr/>
                    <a:lstStyle/>
                    <a:p>
                      <a:r>
                        <a:rPr sz="1100">
                          <a:solidFill>
                            <a:srgbClr val="475569"/>
                          </a:solidFill>
                          <a:latin typeface="Segoe UI"/>
                        </a:rPr>
                        <a:t>CloudWatch</a:t>
                      </a:r>
                    </a:p>
                  </a:txBody>
                  <a:tcPr>
                    <a:solidFill>
                      <a:srgbClr val="F8FAFC"/>
                    </a:solidFill>
                  </a:tcPr>
                </a:tc>
                <a:tc>
                  <a:txBody>
                    <a:bodyPr/>
                    <a:lstStyle/>
                    <a:p>
                      <a:r>
                        <a:rPr sz="1100">
                          <a:solidFill>
                            <a:srgbClr val="475569"/>
                          </a:solidFill>
                          <a:latin typeface="Segoe UI"/>
                        </a:rPr>
                        <a:t>5 GB of logs, always</a:t>
                      </a:r>
                    </a:p>
                  </a:txBody>
                  <a:tcPr>
                    <a:solidFill>
                      <a:srgbClr val="F8FAFC"/>
                    </a:solidFill>
                  </a:tcPr>
                </a:tc>
                <a:tc>
                  <a:txBody>
                    <a:bodyPr/>
                    <a:lstStyle/>
                    <a:p>
                      <a:r>
                        <a:rPr sz="1100">
                          <a:solidFill>
                            <a:srgbClr val="475569"/>
                          </a:solidFill>
                          <a:latin typeface="Segoe UI"/>
                        </a:rPr>
                        <a:t>well inside</a:t>
                      </a:r>
                    </a:p>
                  </a:txBody>
                  <a:tcPr>
                    <a:solidFill>
                      <a:srgbClr val="F8FAFC"/>
                    </a:solidFill>
                  </a:tcPr>
                </a:tc>
                <a:tc>
                  <a:txBody>
                    <a:bodyPr/>
                    <a:lstStyle/>
                    <a:p>
                      <a:r>
                        <a:rPr sz="1100">
                          <a:solidFill>
                            <a:srgbClr val="475569"/>
                          </a:solidFill>
                          <a:latin typeface="Segoe UI"/>
                        </a:rPr>
                        <a:t>$0</a:t>
                      </a:r>
                    </a:p>
                  </a:txBody>
                  <a:tcPr>
                    <a:solidFill>
                      <a:srgbClr val="F8FAFC"/>
                    </a:solidFill>
                  </a:tcPr>
                </a:tc>
              </a:tr>
              <a:tr h="295656">
                <a:tc>
                  <a:txBody>
                    <a:bodyPr/>
                    <a:lstStyle/>
                    <a:p>
                      <a:r>
                        <a:rPr sz="1100">
                          <a:solidFill>
                            <a:srgbClr val="475569"/>
                          </a:solidFill>
                          <a:latin typeface="Segoe UI"/>
                        </a:rPr>
                        <a:t>Bedrock</a:t>
                      </a:r>
                    </a:p>
                  </a:txBody>
                  <a:tcPr>
                    <a:solidFill>
                      <a:srgbClr val="FFFFFF"/>
                    </a:solidFill>
                  </a:tcPr>
                </a:tc>
                <a:tc>
                  <a:txBody>
                    <a:bodyPr/>
                    <a:lstStyle/>
                    <a:p>
                      <a:r>
                        <a:rPr sz="1100">
                          <a:solidFill>
                            <a:srgbClr val="475569"/>
                          </a:solidFill>
                          <a:latin typeface="Segoe UI"/>
                        </a:rPr>
                        <a:t>none — this one is paid</a:t>
                      </a:r>
                    </a:p>
                  </a:txBody>
                  <a:tcPr>
                    <a:solidFill>
                      <a:srgbClr val="FFFFFF"/>
                    </a:solidFill>
                  </a:tcPr>
                </a:tc>
                <a:tc>
                  <a:txBody>
                    <a:bodyPr/>
                    <a:lstStyle/>
                    <a:p>
                      <a:r>
                        <a:rPr sz="1100">
                          <a:solidFill>
                            <a:srgbClr val="475569"/>
                          </a:solidFill>
                          <a:latin typeface="Segoe UI"/>
                        </a:rPr>
                        <a:t>~20 tools + a few thousand queries</a:t>
                      </a:r>
                    </a:p>
                  </a:txBody>
                  <a:tcPr>
                    <a:solidFill>
                      <a:srgbClr val="FFFFFF"/>
                    </a:solidFill>
                  </a:tcPr>
                </a:tc>
                <a:tc>
                  <a:txBody>
                    <a:bodyPr/>
                    <a:lstStyle/>
                    <a:p>
                      <a:r>
                        <a:rPr sz="1100">
                          <a:solidFill>
                            <a:srgbClr val="475569"/>
                          </a:solidFill>
                          <a:latin typeface="Segoe UI"/>
                        </a:rPr>
                        <a:t>under $2</a:t>
                      </a:r>
                    </a:p>
                  </a:txBody>
                  <a:tcPr>
                    <a:solidFill>
                      <a:srgbClr val="FFFFFF"/>
                    </a:solidFill>
                  </a:tcPr>
                </a:tc>
              </a:tr>
            </a:tbl>
          </a:graphicData>
        </a:graphic>
      </p:graphicFrame>
      <p:sp>
        <p:nvSpPr>
          <p:cNvPr id="9" name="TextBox 8"/>
          <p:cNvSpPr txBox="1"/>
          <p:nvPr/>
        </p:nvSpPr>
        <p:spPr>
          <a:xfrm>
            <a:off x="777240" y="5413248"/>
            <a:ext cx="10515600" cy="731520"/>
          </a:xfrm>
          <a:prstGeom prst="rect">
            <a:avLst/>
          </a:prstGeom>
          <a:noFill/>
        </p:spPr>
        <p:txBody>
          <a:bodyPr wrap="square" lIns="0" rIns="0" tIns="0" bIns="0">
            <a:spAutoFit/>
          </a:bodyPr>
          <a:lstStyle/>
          <a:p>
            <a:pPr algn="l">
              <a:lnSpc>
                <a:spcPct val="120000"/>
              </a:lnSpc>
            </a:pPr>
            <a:r>
              <a:rPr sz="1400" b="0">
                <a:solidFill>
                  <a:srgbClr val="475569"/>
                </a:solidFill>
                <a:latin typeface="Segoe UI"/>
              </a:rPr>
              <a:t>Total for the phase: under $2. The only ways to overspend are leaving a table in on-demand mode or drifting into a second region.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468880"/>
            <a:ext cx="10058400" cy="320040"/>
          </a:xfrm>
          <a:prstGeom prst="rect">
            <a:avLst/>
          </a:prstGeom>
          <a:noFill/>
        </p:spPr>
        <p:txBody>
          <a:bodyPr wrap="square" lIns="0" rIns="0" tIns="0" bIns="0">
            <a:spAutoFit/>
          </a:bodyPr>
          <a:lstStyle/>
          <a:p>
            <a:pPr algn="l">
              <a:lnSpc>
                <a:spcPct val="100000"/>
              </a:lnSpc>
            </a:pPr>
            <a:r>
              <a:rPr sz="1300" b="1">
                <a:solidFill>
                  <a:srgbClr val="ED7100"/>
                </a:solidFill>
                <a:latin typeface="Segoe UI"/>
              </a:rPr>
              <a:t>PART FOUR</a:t>
            </a:r>
          </a:p>
        </p:txBody>
      </p:sp>
      <p:sp>
        <p:nvSpPr>
          <p:cNvPr id="4" name="TextBox 3"/>
          <p:cNvSpPr txBox="1"/>
          <p:nvPr/>
        </p:nvSpPr>
        <p:spPr>
          <a:xfrm>
            <a:off x="1005840" y="2880360"/>
            <a:ext cx="10241280" cy="822960"/>
          </a:xfrm>
          <a:prstGeom prst="rect">
            <a:avLst/>
          </a:prstGeom>
          <a:noFill/>
        </p:spPr>
        <p:txBody>
          <a:bodyPr wrap="square" lIns="0" rIns="0" tIns="0" bIns="0">
            <a:spAutoFit/>
          </a:bodyPr>
          <a:lstStyle/>
          <a:p>
            <a:pPr algn="l">
              <a:lnSpc>
                <a:spcPct val="100000"/>
              </a:lnSpc>
            </a:pPr>
            <a:r>
              <a:rPr sz="4000" b="1">
                <a:solidFill>
                  <a:srgbClr val="FFFFFF"/>
                </a:solidFill>
                <a:latin typeface="Segoe UI"/>
              </a:rPr>
              <a:t>The plan</a:t>
            </a:r>
          </a:p>
        </p:txBody>
      </p:sp>
      <p:sp>
        <p:nvSpPr>
          <p:cNvPr id="5" name="TextBox 4"/>
          <p:cNvSpPr txBox="1"/>
          <p:nvPr/>
        </p:nvSpPr>
        <p:spPr>
          <a:xfrm>
            <a:off x="1005840" y="3931920"/>
            <a:ext cx="8961120" cy="822960"/>
          </a:xfrm>
          <a:prstGeom prst="rect">
            <a:avLst/>
          </a:prstGeom>
          <a:noFill/>
        </p:spPr>
        <p:txBody>
          <a:bodyPr wrap="square" lIns="0" rIns="0" tIns="0" bIns="0">
            <a:spAutoFit/>
          </a:bodyPr>
          <a:lstStyle/>
          <a:p>
            <a:pPr algn="l">
              <a:lnSpc>
                <a:spcPct val="120000"/>
              </a:lnSpc>
            </a:pPr>
            <a:r>
              <a:rPr sz="1600" b="0">
                <a:solidFill>
                  <a:srgbClr val="94A3B8"/>
                </a:solidFill>
                <a:latin typeface="Segoe UI"/>
              </a:rPr>
              <a:t>Twelve issues, one critical path, one gate.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PLAN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Fourteen issues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T-shirt estimates for one developer. Two issues are new: #9 and #12.</a:t>
            </a:r>
          </a:p>
        </p:txBody>
      </p:sp>
      <p:graphicFrame>
        <p:nvGraphicFramePr>
          <p:cNvPr id="6" name="Table 5"/>
          <p:cNvGraphicFramePr>
            <a:graphicFrameLocks noGrp="1"/>
          </p:cNvGraphicFramePr>
          <p:nvPr/>
        </p:nvGraphicFramePr>
        <p:xfrm>
          <a:off x="777240" y="2258568"/>
          <a:ext cx="10515600" cy="3990000"/>
        </p:xfrm>
        <a:graphic>
          <a:graphicData uri="http://schemas.openxmlformats.org/drawingml/2006/table">
            <a:tbl>
              <a:tblPr firstRow="1" bandRow="1">
                <a:tableStyleId>{5C22544A-7EE6-4342-B048-85BDC9FD1C3A}</a:tableStyleId>
              </a:tblPr>
              <a:tblGrid>
                <a:gridCol w="548640"/>
                <a:gridCol w="6766560"/>
                <a:gridCol w="1005840"/>
                <a:gridCol w="2194560"/>
              </a:tblGrid>
              <a:tr h="250000">
                <a:tc>
                  <a:txBody>
                    <a:bodyPr/>
                    <a:lstStyle/>
                    <a:p>
                      <a:r>
                        <a:rPr sz="1100" b="1">
                          <a:solidFill>
                            <a:srgbClr val="FFFFFF"/>
                          </a:solidFill>
                          <a:latin typeface="Segoe UI"/>
                        </a:rPr>
                        <a:t>#</a:t>
                      </a:r>
                    </a:p>
                  </a:txBody>
                  <a:tcPr>
                    <a:solidFill>
                      <a:srgbClr val="0F172A"/>
                    </a:solidFill>
                  </a:tcPr>
                </a:tc>
                <a:tc>
                  <a:txBody>
                    <a:bodyPr/>
                    <a:lstStyle/>
                    <a:p>
                      <a:r>
                        <a:rPr sz="1100" b="1">
                          <a:solidFill>
                            <a:srgbClr val="FFFFFF"/>
                          </a:solidFill>
                          <a:latin typeface="Segoe UI"/>
                        </a:rPr>
                        <a:t>Issue</a:t>
                      </a:r>
                    </a:p>
                  </a:txBody>
                  <a:tcPr>
                    <a:solidFill>
                      <a:srgbClr val="0F172A"/>
                    </a:solidFill>
                  </a:tcPr>
                </a:tc>
                <a:tc>
                  <a:txBody>
                    <a:bodyPr/>
                    <a:lstStyle/>
                    <a:p>
                      <a:r>
                        <a:rPr sz="1100" b="1">
                          <a:solidFill>
                            <a:srgbClr val="FFFFFF"/>
                          </a:solidFill>
                          <a:latin typeface="Segoe UI"/>
                        </a:rPr>
                        <a:t>Est.</a:t>
                      </a:r>
                    </a:p>
                  </a:txBody>
                  <a:tcPr>
                    <a:solidFill>
                      <a:srgbClr val="0F172A"/>
                    </a:solidFill>
                  </a:tcPr>
                </a:tc>
                <a:tc>
                  <a:txBody>
                    <a:bodyPr/>
                    <a:lstStyle/>
                    <a:p>
                      <a:r>
                        <a:rPr sz="1100" b="1">
                          <a:solidFill>
                            <a:srgbClr val="FFFFFF"/>
                          </a:solidFill>
                          <a:latin typeface="Segoe UI"/>
                        </a:rPr>
                        <a:t>Depends on</a:t>
                      </a:r>
                    </a:p>
                  </a:txBody>
                  <a:tcPr>
                    <a:solidFill>
                      <a:srgbClr val="0F172A"/>
                    </a:solidFill>
                  </a:tcPr>
                </a:tc>
              </a:tr>
              <a:tr h="250000">
                <a:tc>
                  <a:txBody>
                    <a:bodyPr/>
                    <a:lstStyle/>
                    <a:p>
                      <a:r>
                        <a:rPr sz="1100">
                          <a:solidFill>
                            <a:srgbClr val="475569"/>
                          </a:solidFill>
                          <a:latin typeface="Segoe UI"/>
                        </a:rPr>
                        <a:t>1</a:t>
                      </a:r>
                    </a:p>
                  </a:txBody>
                  <a:tcPr>
                    <a:solidFill>
                      <a:srgbClr val="FFFFFF"/>
                    </a:solidFill>
                  </a:tcPr>
                </a:tc>
                <a:tc>
                  <a:txBody>
                    <a:bodyPr/>
                    <a:lstStyle/>
                    <a:p>
                      <a:r>
                        <a:rPr sz="1100">
                          <a:solidFill>
                            <a:srgbClr val="475569"/>
                          </a:solidFill>
                          <a:latin typeface="Segoe UI"/>
                        </a:rPr>
                        <a:t>Scaffold repo with the phantom/visual split</a:t>
                      </a:r>
                    </a:p>
                  </a:txBody>
                  <a:tcPr>
                    <a:solidFill>
                      <a:srgbClr val="FFFFFF"/>
                    </a:solidFill>
                  </a:tcPr>
                </a:tc>
                <a:tc>
                  <a:txBody>
                    <a:bodyPr/>
                    <a:lstStyle/>
                    <a:p>
                      <a:r>
                        <a:rPr sz="1100">
                          <a:solidFill>
                            <a:srgbClr val="475569"/>
                          </a:solidFill>
                          <a:latin typeface="Segoe UI"/>
                        </a:rPr>
                        <a:t>S</a:t>
                      </a:r>
                    </a:p>
                  </a:txBody>
                  <a:tcPr>
                    <a:solidFill>
                      <a:srgbClr val="FFFFFF"/>
                    </a:solidFill>
                  </a:tcPr>
                </a:tc>
                <a:tc>
                  <a:txBody>
                    <a:bodyPr/>
                    <a:lstStyle/>
                    <a:p>
                      <a:r>
                        <a:rPr sz="1100">
                          <a:solidFill>
                            <a:srgbClr val="475569"/>
                          </a:solidFill>
                          <a:latin typeface="Segoe UI"/>
                        </a:rPr>
                        <a:t>-</a:t>
                      </a:r>
                    </a:p>
                  </a:txBody>
                  <a:tcPr>
                    <a:solidFill>
                      <a:srgbClr val="FFFFFF"/>
                    </a:solidFill>
                  </a:tcPr>
                </a:tc>
              </a:tr>
              <a:tr h="250000">
                <a:tc>
                  <a:txBody>
                    <a:bodyPr/>
                    <a:lstStyle/>
                    <a:p>
                      <a:r>
                        <a:rPr sz="1100">
                          <a:solidFill>
                            <a:srgbClr val="475569"/>
                          </a:solidFill>
                          <a:latin typeface="Segoe UI"/>
                        </a:rPr>
                        <a:t>2</a:t>
                      </a:r>
                    </a:p>
                  </a:txBody>
                  <a:tcPr>
                    <a:solidFill>
                      <a:srgbClr val="F8FAFC"/>
                    </a:solidFill>
                  </a:tcPr>
                </a:tc>
                <a:tc>
                  <a:txBody>
                    <a:bodyPr/>
                    <a:lstStyle/>
                    <a:p>
                      <a:r>
                        <a:rPr sz="1100">
                          <a:solidFill>
                            <a:srgbClr val="475569"/>
                          </a:solidFill>
                          <a:latin typeface="Segoe UI"/>
                        </a:rPr>
                        <a:t>Define shared schemas: tool, event, gap</a:t>
                      </a:r>
                    </a:p>
                  </a:txBody>
                  <a:tcPr>
                    <a:solidFill>
                      <a:srgbClr val="F8FAFC"/>
                    </a:solidFill>
                  </a:tcPr>
                </a:tc>
                <a:tc>
                  <a:txBody>
                    <a:bodyPr/>
                    <a:lstStyle/>
                    <a:p>
                      <a:r>
                        <a:rPr sz="1100">
                          <a:solidFill>
                            <a:srgbClr val="475569"/>
                          </a:solidFill>
                          <a:latin typeface="Segoe UI"/>
                        </a:rPr>
                        <a:t>S</a:t>
                      </a:r>
                    </a:p>
                  </a:txBody>
                  <a:tcPr>
                    <a:solidFill>
                      <a:srgbClr val="F8FAFC"/>
                    </a:solidFill>
                  </a:tcPr>
                </a:tc>
                <a:tc>
                  <a:txBody>
                    <a:bodyPr/>
                    <a:lstStyle/>
                    <a:p>
                      <a:r>
                        <a:rPr sz="1100">
                          <a:solidFill>
                            <a:srgbClr val="475569"/>
                          </a:solidFill>
                          <a:latin typeface="Segoe UI"/>
                        </a:rPr>
                        <a:t>1</a:t>
                      </a:r>
                    </a:p>
                  </a:txBody>
                  <a:tcPr>
                    <a:solidFill>
                      <a:srgbClr val="F8FAFC"/>
                    </a:solidFill>
                  </a:tcPr>
                </a:tc>
              </a:tr>
              <a:tr h="250000">
                <a:tc>
                  <a:txBody>
                    <a:bodyPr/>
                    <a:lstStyle/>
                    <a:p>
                      <a:r>
                        <a:rPr sz="1100">
                          <a:solidFill>
                            <a:srgbClr val="475569"/>
                          </a:solidFill>
                          <a:latin typeface="Segoe UI"/>
                        </a:rPr>
                        <a:t>3</a:t>
                      </a:r>
                    </a:p>
                  </a:txBody>
                  <a:tcPr>
                    <a:solidFill>
                      <a:srgbClr val="FFFFFF"/>
                    </a:solidFill>
                  </a:tcPr>
                </a:tc>
                <a:tc>
                  <a:txBody>
                    <a:bodyPr/>
                    <a:lstStyle/>
                    <a:p>
                      <a:r>
                        <a:rPr sz="1100">
                          <a:solidFill>
                            <a:srgbClr val="475569"/>
                          </a:solidFill>
                          <a:latin typeface="Segoe UI"/>
                        </a:rPr>
                        <a:t>CDK stack: tables, IAM, billing alarm</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1</a:t>
                      </a:r>
                    </a:p>
                  </a:txBody>
                  <a:tcPr>
                    <a:solidFill>
                      <a:srgbClr val="FFFFFF"/>
                    </a:solidFill>
                  </a:tcPr>
                </a:tc>
              </a:tr>
              <a:tr h="250000">
                <a:tc>
                  <a:txBody>
                    <a:bodyPr/>
                    <a:lstStyle/>
                    <a:p>
                      <a:r>
                        <a:rPr sz="1100">
                          <a:solidFill>
                            <a:srgbClr val="475569"/>
                          </a:solidFill>
                          <a:latin typeface="Segoe UI"/>
                        </a:rPr>
                        <a:t>4</a:t>
                      </a:r>
                    </a:p>
                  </a:txBody>
                  <a:tcPr>
                    <a:solidFill>
                      <a:srgbClr val="F8FAFC"/>
                    </a:solidFill>
                  </a:tcPr>
                </a:tc>
                <a:tc>
                  <a:txBody>
                    <a:bodyPr/>
                    <a:lstStyle/>
                    <a:p>
                      <a:r>
                        <a:rPr sz="1100">
                          <a:solidFill>
                            <a:srgbClr val="475569"/>
                          </a:solidFill>
                          <a:latin typeface="Segoe UI"/>
                        </a:rPr>
                        <a:t>Registry service with immutable versioning</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2, 3</a:t>
                      </a:r>
                    </a:p>
                  </a:txBody>
                  <a:tcPr>
                    <a:solidFill>
                      <a:srgbClr val="F8FAFC"/>
                    </a:solidFill>
                  </a:tcPr>
                </a:tc>
              </a:tr>
              <a:tr h="250000">
                <a:tc>
                  <a:txBody>
                    <a:bodyPr/>
                    <a:lstStyle/>
                    <a:p>
                      <a:r>
                        <a:rPr sz="1100">
                          <a:solidFill>
                            <a:srgbClr val="475569"/>
                          </a:solidFill>
                          <a:latin typeface="Segoe UI"/>
                        </a:rPr>
                        <a:t>5</a:t>
                      </a:r>
                    </a:p>
                  </a:txBody>
                  <a:tcPr>
                    <a:solidFill>
                      <a:srgbClr val="FFFFFF"/>
                    </a:solidFill>
                  </a:tcPr>
                </a:tc>
                <a:tc>
                  <a:txBody>
                    <a:bodyPr/>
                    <a:lstStyle/>
                    <a:p>
                      <a:r>
                        <a:rPr sz="1100">
                          <a:solidFill>
                            <a:srgbClr val="475569"/>
                          </a:solidFill>
                          <a:latin typeface="Segoe UI"/>
                        </a:rPr>
                        <a:t>Embedding call behind one swappable interface</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3</a:t>
                      </a:r>
                    </a:p>
                  </a:txBody>
                  <a:tcPr>
                    <a:solidFill>
                      <a:srgbClr val="FFFFFF"/>
                    </a:solidFill>
                  </a:tcPr>
                </a:tc>
              </a:tr>
              <a:tr h="250000">
                <a:tc>
                  <a:txBody>
                    <a:bodyPr/>
                    <a:lstStyle/>
                    <a:p>
                      <a:r>
                        <a:rPr sz="1100">
                          <a:solidFill>
                            <a:srgbClr val="475569"/>
                          </a:solidFill>
                          <a:latin typeface="Segoe UI"/>
                        </a:rPr>
                        <a:t>6</a:t>
                      </a:r>
                    </a:p>
                  </a:txBody>
                  <a:tcPr>
                    <a:solidFill>
                      <a:srgbClr val="F8FAFC"/>
                    </a:solidFill>
                  </a:tcPr>
                </a:tc>
                <a:tc>
                  <a:txBody>
                    <a:bodyPr/>
                    <a:lstStyle/>
                    <a:p>
                      <a:r>
                        <a:rPr sz="1100">
                          <a:solidFill>
                            <a:srgbClr val="475569"/>
                          </a:solidFill>
                          <a:latin typeface="Segoe UI"/>
                        </a:rPr>
                        <a:t>Semantic search endpoint</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4, 5</a:t>
                      </a:r>
                    </a:p>
                  </a:txBody>
                  <a:tcPr>
                    <a:solidFill>
                      <a:srgbClr val="F8FAFC"/>
                    </a:solidFill>
                  </a:tcPr>
                </a:tc>
              </a:tr>
              <a:tr h="250000">
                <a:tc>
                  <a:txBody>
                    <a:bodyPr/>
                    <a:lstStyle/>
                    <a:p>
                      <a:r>
                        <a:rPr sz="1100">
                          <a:solidFill>
                            <a:srgbClr val="475569"/>
                          </a:solidFill>
                          <a:latin typeface="Segoe UI"/>
                        </a:rPr>
                        <a:t>7</a:t>
                      </a:r>
                    </a:p>
                  </a:txBody>
                  <a:tcPr>
                    <a:solidFill>
                      <a:srgbClr val="FFFFFF"/>
                    </a:solidFill>
                  </a:tcPr>
                </a:tc>
                <a:tc>
                  <a:txBody>
                    <a:bodyPr/>
                    <a:lstStyle/>
                    <a:p>
                      <a:r>
                        <a:rPr sz="1100">
                          <a:solidFill>
                            <a:srgbClr val="475569"/>
                          </a:solidFill>
                          <a:latin typeface="Segoe UI"/>
                        </a:rPr>
                        <a:t>Append-only event log with provenance</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2, 3</a:t>
                      </a:r>
                    </a:p>
                  </a:txBody>
                  <a:tcPr>
                    <a:solidFill>
                      <a:srgbClr val="FFFFFF"/>
                    </a:solidFill>
                  </a:tcPr>
                </a:tc>
              </a:tr>
              <a:tr h="250000">
                <a:tc>
                  <a:txBody>
                    <a:bodyPr/>
                    <a:lstStyle/>
                    <a:p>
                      <a:r>
                        <a:rPr sz="1100">
                          <a:solidFill>
                            <a:srgbClr val="475569"/>
                          </a:solidFill>
                          <a:latin typeface="Segoe UI"/>
                        </a:rPr>
                        <a:t>8</a:t>
                      </a:r>
                    </a:p>
                  </a:txBody>
                  <a:tcPr>
                    <a:solidFill>
                      <a:srgbClr val="F8FAFC"/>
                    </a:solidFill>
                  </a:tcPr>
                </a:tc>
                <a:tc>
                  <a:txBody>
                    <a:bodyPr/>
                    <a:lstStyle/>
                    <a:p>
                      <a:r>
                        <a:rPr sz="1100">
                          <a:solidFill>
                            <a:srgbClr val="475569"/>
                          </a:solidFill>
                          <a:latin typeface="Segoe UI"/>
                        </a:rPr>
                        <a:t>Gap detection and gap log</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6, 7</a:t>
                      </a:r>
                    </a:p>
                  </a:txBody>
                  <a:tcPr>
                    <a:solidFill>
                      <a:srgbClr val="F8FAFC"/>
                    </a:solidFill>
                  </a:tcPr>
                </a:tc>
              </a:tr>
              <a:tr h="250000">
                <a:tc>
                  <a:txBody>
                    <a:bodyPr/>
                    <a:lstStyle/>
                    <a:p>
                      <a:r>
                        <a:rPr sz="1100">
                          <a:solidFill>
                            <a:srgbClr val="475569"/>
                          </a:solidFill>
                          <a:latin typeface="Segoe UI"/>
                        </a:rPr>
                        <a:t>9</a:t>
                      </a:r>
                    </a:p>
                  </a:txBody>
                  <a:tcPr>
                    <a:solidFill>
                      <a:srgbClr val="FFFFFF"/>
                    </a:solidFill>
                  </a:tcPr>
                </a:tc>
                <a:tc>
                  <a:txBody>
                    <a:bodyPr/>
                    <a:lstStyle/>
                    <a:p>
                      <a:r>
                        <a:rPr sz="1100">
                          <a:solidFill>
                            <a:srgbClr val="475569"/>
                          </a:solidFill>
                          <a:latin typeface="Segoe UI"/>
                        </a:rPr>
                        <a:t>Write the eval queries blind, before any seeding</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2</a:t>
                      </a:r>
                    </a:p>
                  </a:txBody>
                  <a:tcPr>
                    <a:solidFill>
                      <a:srgbClr val="FFFFFF"/>
                    </a:solidFill>
                  </a:tcPr>
                </a:tc>
              </a:tr>
              <a:tr h="250000">
                <a:tc>
                  <a:txBody>
                    <a:bodyPr/>
                    <a:lstStyle/>
                    <a:p>
                      <a:r>
                        <a:rPr sz="1100">
                          <a:solidFill>
                            <a:srgbClr val="475569"/>
                          </a:solidFill>
                          <a:latin typeface="Segoe UI"/>
                        </a:rPr>
                        <a:t>10</a:t>
                      </a:r>
                    </a:p>
                  </a:txBody>
                  <a:tcPr>
                    <a:solidFill>
                      <a:srgbClr val="F8FAFC"/>
                    </a:solidFill>
                  </a:tcPr>
                </a:tc>
                <a:tc>
                  <a:txBody>
                    <a:bodyPr/>
                    <a:lstStyle/>
                    <a:p>
                      <a:r>
                        <a:rPr sz="1100">
                          <a:solidFill>
                            <a:srgbClr val="475569"/>
                          </a:solidFill>
                          <a:latin typeface="Segoe UI"/>
                        </a:rPr>
                        <a:t>Seed 15-20 tools wrapping public APIs</a:t>
                      </a:r>
                    </a:p>
                  </a:txBody>
                  <a:tcPr>
                    <a:solidFill>
                      <a:srgbClr val="F8FAFC"/>
                    </a:solidFill>
                  </a:tcPr>
                </a:tc>
                <a:tc>
                  <a:txBody>
                    <a:bodyPr/>
                    <a:lstStyle/>
                    <a:p>
                      <a:r>
                        <a:rPr sz="1100">
                          <a:solidFill>
                            <a:srgbClr val="475569"/>
                          </a:solidFill>
                          <a:latin typeface="Segoe UI"/>
                        </a:rPr>
                        <a:t>L</a:t>
                      </a:r>
                    </a:p>
                  </a:txBody>
                  <a:tcPr>
                    <a:solidFill>
                      <a:srgbClr val="F8FAFC"/>
                    </a:solidFill>
                  </a:tcPr>
                </a:tc>
                <a:tc>
                  <a:txBody>
                    <a:bodyPr/>
                    <a:lstStyle/>
                    <a:p>
                      <a:r>
                        <a:rPr sz="1100">
                          <a:solidFill>
                            <a:srgbClr val="475569"/>
                          </a:solidFill>
                          <a:latin typeface="Segoe UI"/>
                        </a:rPr>
                        <a:t>4, 9</a:t>
                      </a:r>
                    </a:p>
                  </a:txBody>
                  <a:tcPr>
                    <a:solidFill>
                      <a:srgbClr val="F8FAFC"/>
                    </a:solidFill>
                  </a:tcPr>
                </a:tc>
              </a:tr>
              <a:tr h="250000">
                <a:tc>
                  <a:txBody>
                    <a:bodyPr/>
                    <a:lstStyle/>
                    <a:p>
                      <a:r>
                        <a:rPr sz="1100">
                          <a:solidFill>
                            <a:srgbClr val="475569"/>
                          </a:solidFill>
                          <a:latin typeface="Segoe UI"/>
                        </a:rPr>
                        <a:t>11</a:t>
                      </a:r>
                    </a:p>
                  </a:txBody>
                  <a:tcPr>
                    <a:solidFill>
                      <a:srgbClr val="FFFFFF"/>
                    </a:solidFill>
                  </a:tcPr>
                </a:tc>
                <a:tc>
                  <a:txBody>
                    <a:bodyPr/>
                    <a:lstStyle/>
                    <a:p>
                      <a:r>
                        <a:rPr sz="1100">
                          <a:solidFill>
                            <a:srgbClr val="475569"/>
                          </a:solidFill>
                          <a:latin typeface="Segoe UI"/>
                        </a:rPr>
                        <a:t>Label the eval set and build the recall@k harness</a:t>
                      </a:r>
                    </a:p>
                  </a:txBody>
                  <a:tcPr>
                    <a:solidFill>
                      <a:srgbClr val="FFFFFF"/>
                    </a:solidFill>
                  </a:tcPr>
                </a:tc>
                <a:tc>
                  <a:txBody>
                    <a:bodyPr/>
                    <a:lstStyle/>
                    <a:p>
                      <a:r>
                        <a:rPr sz="1100">
                          <a:solidFill>
                            <a:srgbClr val="475569"/>
                          </a:solidFill>
                          <a:latin typeface="Segoe UI"/>
                        </a:rPr>
                        <a:t>L</a:t>
                      </a:r>
                    </a:p>
                  </a:txBody>
                  <a:tcPr>
                    <a:solidFill>
                      <a:srgbClr val="FFFFFF"/>
                    </a:solidFill>
                  </a:tcPr>
                </a:tc>
                <a:tc>
                  <a:txBody>
                    <a:bodyPr/>
                    <a:lstStyle/>
                    <a:p>
                      <a:r>
                        <a:rPr sz="1100">
                          <a:solidFill>
                            <a:srgbClr val="475569"/>
                          </a:solidFill>
                          <a:latin typeface="Segoe UI"/>
                        </a:rPr>
                        <a:t>6, 9, 10</a:t>
                      </a:r>
                    </a:p>
                  </a:txBody>
                  <a:tcPr>
                    <a:solidFill>
                      <a:srgbClr val="FFFFFF"/>
                    </a:solidFill>
                  </a:tcPr>
                </a:tc>
              </a:tr>
              <a:tr h="250000">
                <a:tc>
                  <a:txBody>
                    <a:bodyPr/>
                    <a:lstStyle/>
                    <a:p>
                      <a:r>
                        <a:rPr sz="1100">
                          <a:solidFill>
                            <a:srgbClr val="475569"/>
                          </a:solidFill>
                          <a:latin typeface="Segoe UI"/>
                        </a:rPr>
                        <a:t>12</a:t>
                      </a:r>
                    </a:p>
                  </a:txBody>
                  <a:tcPr>
                    <a:solidFill>
                      <a:srgbClr val="F8FAFC"/>
                    </a:solidFill>
                  </a:tcPr>
                </a:tc>
                <a:tc>
                  <a:txBody>
                    <a:bodyPr/>
                    <a:lstStyle/>
                    <a:p>
                      <a:r>
                        <a:rPr sz="1100">
                          <a:solidFill>
                            <a:srgbClr val="475569"/>
                          </a:solidFill>
                          <a:latin typeface="Segoe UI"/>
                        </a:rPr>
                        <a:t>Derive threshold T from the score distributions</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11</a:t>
                      </a:r>
                    </a:p>
                  </a:txBody>
                  <a:tcPr>
                    <a:solidFill>
                      <a:srgbClr val="F8FAFC"/>
                    </a:solidFill>
                  </a:tcPr>
                </a:tc>
              </a:tr>
              <a:tr h="250000">
                <a:tc>
                  <a:txBody>
                    <a:bodyPr/>
                    <a:lstStyle/>
                    <a:p>
                      <a:r>
                        <a:rPr sz="1100">
                          <a:solidFill>
                            <a:srgbClr val="475569"/>
                          </a:solidFill>
                          <a:latin typeface="Segoe UI"/>
                        </a:rPr>
                        <a:t>13</a:t>
                      </a:r>
                    </a:p>
                  </a:txBody>
                  <a:tcPr>
                    <a:solidFill>
                      <a:srgbClr val="FFFFFF"/>
                    </a:solidFill>
                  </a:tcPr>
                </a:tc>
                <a:tc>
                  <a:txBody>
                    <a:bodyPr/>
                    <a:lstStyle/>
                    <a:p>
                      <a:r>
                        <a:rPr sz="1100">
                          <a:solidFill>
                            <a:srgbClr val="475569"/>
                          </a:solidFill>
                          <a:latin typeface="Segoe UI"/>
                        </a:rPr>
                        <a:t>Query CLI and miss-log review CLI</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8, 10</a:t>
                      </a:r>
                    </a:p>
                  </a:txBody>
                  <a:tcPr>
                    <a:solidFill>
                      <a:srgbClr val="FFFFFF"/>
                    </a:solidFill>
                  </a:tcPr>
                </a:tc>
              </a:tr>
              <a:tr h="250000">
                <a:tc>
                  <a:txBody>
                    <a:bodyPr/>
                    <a:lstStyle/>
                    <a:p>
                      <a:r>
                        <a:rPr sz="1100">
                          <a:solidFill>
                            <a:srgbClr val="475569"/>
                          </a:solidFill>
                          <a:latin typeface="Segoe UI"/>
                        </a:rPr>
                        <a:t>14</a:t>
                      </a:r>
                    </a:p>
                  </a:txBody>
                  <a:tcPr>
                    <a:solidFill>
                      <a:srgbClr val="F8FAFC"/>
                    </a:solidFill>
                  </a:tcPr>
                </a:tc>
                <a:tc>
                  <a:txBody>
                    <a:bodyPr/>
                    <a:lstStyle/>
                    <a:p>
                      <a:r>
                        <a:rPr sz="1100">
                          <a:solidFill>
                            <a:srgbClr val="475569"/>
                          </a:solidFill>
                          <a:latin typeface="Segoe UI"/>
                        </a:rPr>
                        <a:t>Phase 0 findings write-up</a:t>
                      </a:r>
                    </a:p>
                  </a:txBody>
                  <a:tcPr>
                    <a:solidFill>
                      <a:srgbClr val="F8FAFC"/>
                    </a:solidFill>
                  </a:tcPr>
                </a:tc>
                <a:tc>
                  <a:txBody>
                    <a:bodyPr/>
                    <a:lstStyle/>
                    <a:p>
                      <a:r>
                        <a:rPr sz="1100">
                          <a:solidFill>
                            <a:srgbClr val="475569"/>
                          </a:solidFill>
                          <a:latin typeface="Segoe UI"/>
                        </a:rPr>
                        <a:t>S</a:t>
                      </a:r>
                    </a:p>
                  </a:txBody>
                  <a:tcPr>
                    <a:solidFill>
                      <a:srgbClr val="F8FAFC"/>
                    </a:solidFill>
                  </a:tcPr>
                </a:tc>
                <a:tc>
                  <a:txBody>
                    <a:bodyPr/>
                    <a:lstStyle/>
                    <a:p>
                      <a:r>
                        <a:rPr sz="1100">
                          <a:solidFill>
                            <a:srgbClr val="475569"/>
                          </a:solidFill>
                          <a:latin typeface="Segoe UI"/>
                        </a:rPr>
                        <a:t>11, 12, 13</a:t>
                      </a:r>
                    </a:p>
                  </a:txBody>
                  <a:tcPr>
                    <a:solidFill>
                      <a:srgbClr val="F8FAFC"/>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PLAN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Critical path and where to parallelise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783080"/>
            <a:ext cx="1371600"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#1 Scaffold</a:t>
            </a:r>
          </a:p>
        </p:txBody>
      </p:sp>
      <p:sp>
        <p:nvSpPr>
          <p:cNvPr id="6" name="Right Arrow 5"/>
          <p:cNvSpPr/>
          <p:nvPr/>
        </p:nvSpPr>
        <p:spPr>
          <a:xfrm>
            <a:off x="2203704" y="1993392"/>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32888" y="1783080"/>
            <a:ext cx="1371600"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#3 CDK</a:t>
            </a:r>
          </a:p>
        </p:txBody>
      </p:sp>
      <p:sp>
        <p:nvSpPr>
          <p:cNvPr id="8" name="Right Arrow 7"/>
          <p:cNvSpPr/>
          <p:nvPr/>
        </p:nvSpPr>
        <p:spPr>
          <a:xfrm>
            <a:off x="3959351" y="1993392"/>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88536" y="1783080"/>
            <a:ext cx="1371600"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#4 Registry</a:t>
            </a:r>
          </a:p>
        </p:txBody>
      </p:sp>
      <p:sp>
        <p:nvSpPr>
          <p:cNvPr id="10" name="Right Arrow 9"/>
          <p:cNvSpPr/>
          <p:nvPr/>
        </p:nvSpPr>
        <p:spPr>
          <a:xfrm>
            <a:off x="5714999" y="1993392"/>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44183" y="1783080"/>
            <a:ext cx="1371600"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#6 Search</a:t>
            </a:r>
          </a:p>
        </p:txBody>
      </p:sp>
      <p:sp>
        <p:nvSpPr>
          <p:cNvPr id="12" name="Right Arrow 11"/>
          <p:cNvSpPr/>
          <p:nvPr/>
        </p:nvSpPr>
        <p:spPr>
          <a:xfrm>
            <a:off x="7470648" y="1993392"/>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99831" y="1783080"/>
            <a:ext cx="1371600"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#11 Eval</a:t>
            </a:r>
          </a:p>
        </p:txBody>
      </p:sp>
      <p:sp>
        <p:nvSpPr>
          <p:cNvPr id="14" name="Right Arrow 13"/>
          <p:cNvSpPr/>
          <p:nvPr/>
        </p:nvSpPr>
        <p:spPr>
          <a:xfrm>
            <a:off x="9226296" y="1993392"/>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555480" y="1783080"/>
            <a:ext cx="1371600"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#14 Findings</a:t>
            </a:r>
          </a:p>
        </p:txBody>
      </p:sp>
      <p:sp>
        <p:nvSpPr>
          <p:cNvPr id="16" name="TextBox 15"/>
          <p:cNvSpPr txBox="1"/>
          <p:nvPr/>
        </p:nvSpPr>
        <p:spPr>
          <a:xfrm>
            <a:off x="777240" y="2743200"/>
            <a:ext cx="10515600" cy="292608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#9 must come before #10, not after.</a:t>
            </a:r>
            <a:r>
              <a:rPr sz="1400">
                <a:solidFill>
                  <a:srgbClr val="475569"/>
                </a:solidFill>
                <a:latin typeface="Segoe UI"/>
              </a:rPr>
              <a:t>  The eval queries are written blind, before any tool is seeded. Reversing the order is what makes a harness measure its author's vocabulary instead of the search.</a:t>
            </a:r>
          </a:p>
          <a:p>
            <a:pPr>
              <a:lnSpc>
                <a:spcPct val="115000"/>
              </a:lnSpc>
              <a:spcAft>
                <a:spcPts val="1000"/>
              </a:spcAft>
            </a:pPr>
            <a:r>
              <a:rPr sz="1400" b="1">
                <a:solidFill>
                  <a:srgbClr val="0F172A"/>
                </a:solidFill>
                <a:latin typeface="Segoe UI"/>
              </a:rPr>
              <a:t>#10 is the big one, and it runs in parallel.</a:t>
            </a:r>
            <a:r>
              <a:rPr sz="1400">
                <a:solidFill>
                  <a:srgbClr val="475569"/>
                </a:solidFill>
                <a:latin typeface="Segoe UI"/>
              </a:rPr>
              <a:t>  Seeding 15-20 tools is the largest single item and depends only on #4 and the frozen query set. Start it the moment the registry accepts writes.</a:t>
            </a:r>
          </a:p>
          <a:p>
            <a:pPr>
              <a:lnSpc>
                <a:spcPct val="115000"/>
              </a:lnSpc>
              <a:spcAft>
                <a:spcPts val="1000"/>
              </a:spcAft>
            </a:pPr>
            <a:r>
              <a:rPr sz="1400" b="1">
                <a:solidFill>
                  <a:srgbClr val="0F172A"/>
                </a:solidFill>
                <a:latin typeface="Segoe UI"/>
              </a:rPr>
              <a:t>#11 cannot start early.</a:t>
            </a:r>
            <a:r>
              <a:rPr sz="1400">
                <a:solidFill>
                  <a:srgbClr val="475569"/>
                </a:solidFill>
                <a:latin typeface="Segoe UI"/>
              </a:rPr>
              <a:t>  The harness needs working search (#6) and a seeded registry (#10). It is the last real work and the one that produces the answer.</a:t>
            </a:r>
          </a:p>
          <a:p>
            <a:pPr>
              <a:lnSpc>
                <a:spcPct val="115000"/>
              </a:lnSpc>
              <a:spcAft>
                <a:spcPts val="1000"/>
              </a:spcAft>
            </a:pPr>
            <a:r>
              <a:rPr sz="1400" b="1">
                <a:solidFill>
                  <a:srgbClr val="0F172A"/>
                </a:solidFill>
                <a:latin typeface="Segoe UI"/>
              </a:rPr>
              <a:t>#12 runs on #11's output, not on a guess.</a:t>
            </a:r>
            <a:r>
              <a:rPr sz="1400">
                <a:solidFill>
                  <a:srgbClr val="475569"/>
                </a:solidFill>
                <a:latin typeface="Segoe UI"/>
              </a:rPr>
              <a:t>  Threshold T is chosen from the score distributions the harness produces, so it cannot be settled before the harness runs.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GATE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Two floors, four numbers, one gate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2560320"/>
          </a:xfrm>
          <a:prstGeom prst="rect">
            <a:avLst/>
          </a:prstGeom>
          <a:noFill/>
        </p:spPr>
        <p:txBody>
          <a:bodyPr wrap="square" lIns="0" rIns="0" tIns="0" bIns="0">
            <a:spAutoFit/>
          </a:bodyPr>
          <a:lstStyle/>
          <a:p>
            <a:pPr>
              <a:lnSpc>
                <a:spcPct val="115000"/>
              </a:lnSpc>
              <a:spcAft>
                <a:spcPts val="1000"/>
              </a:spcAft>
            </a:pPr>
            <a:r>
              <a:rPr sz="1500" b="1">
                <a:solidFill>
                  <a:srgbClr val="0F172A"/>
                </a:solidFill>
                <a:latin typeface="Segoe UI"/>
              </a:rPr>
              <a:t>50+ queries, written blind.</a:t>
            </a:r>
            <a:r>
              <a:rPr sz="1500">
                <a:solidFill>
                  <a:srgbClr val="475569"/>
                </a:solidFill>
                <a:latin typeface="Segoe UI"/>
              </a:rPr>
              <a:t>  Authored before seeding and frozen, then labelled with the tool that should win.</a:t>
            </a:r>
          </a:p>
          <a:p>
            <a:pPr>
              <a:lnSpc>
                <a:spcPct val="115000"/>
              </a:lnSpc>
              <a:spcAft>
                <a:spcPts val="1000"/>
              </a:spcAft>
            </a:pPr>
            <a:r>
              <a:rPr sz="1500" b="1">
                <a:solidFill>
                  <a:srgbClr val="0F172A"/>
                </a:solidFill>
                <a:latin typeface="Segoe UI"/>
              </a:rPr>
              <a:t>About 15 with no correct answer.</a:t>
            </a:r>
            <a:r>
              <a:rPr sz="1500">
                <a:solidFill>
                  <a:srgbClr val="475569"/>
                </a:solidFill>
                <a:latin typeface="Segoe UI"/>
              </a:rPr>
              <a:t>  Genuine gaps, known in advance. Without them the harness cannot measure whether real gaps are detected at all.</a:t>
            </a:r>
          </a:p>
          <a:p>
            <a:pPr>
              <a:lnSpc>
                <a:spcPct val="115000"/>
              </a:lnSpc>
              <a:spcAft>
                <a:spcPts val="1000"/>
              </a:spcAft>
            </a:pPr>
            <a:r>
              <a:rPr sz="1500" b="1">
                <a:solidFill>
                  <a:srgbClr val="0F172A"/>
                </a:solidFill>
                <a:latin typeface="Segoe UI"/>
              </a:rPr>
              <a:t>Four numbers reported.</a:t>
            </a:r>
            <a:r>
              <a:rPr sz="1500">
                <a:solidFill>
                  <a:srgbClr val="475569"/>
                </a:solidFill>
                <a:latin typeface="Segoe UI"/>
              </a:rPr>
              <a:t>  recall@1 and recall@3; the false-gap rate — gaps logged where a correct tool existed; and the gap-detection rate — how many of the known-unanswerable queries actually logged as gaps.</a:t>
            </a:r>
          </a:p>
          <a:p>
            <a:pPr>
              <a:lnSpc>
                <a:spcPct val="115000"/>
              </a:lnSpc>
              <a:spcAft>
                <a:spcPts val="1000"/>
              </a:spcAft>
            </a:pPr>
            <a:r>
              <a:rPr sz="1500" b="1">
                <a:solidFill>
                  <a:srgbClr val="0F172A"/>
                </a:solidFill>
                <a:latin typeface="Segoe UI"/>
              </a:rPr>
              <a:t>The gate.</a:t>
            </a:r>
            <a:r>
              <a:rPr sz="1500">
                <a:solidFill>
                  <a:srgbClr val="475569"/>
                </a:solidFill>
                <a:latin typeface="Segoe UI"/>
              </a:rPr>
              <a:t>  recall@3 of 0.9 and gap detection of 0.8. Below either, no gap is treated as evidence. All four numbers go in the findings regardless.</a:t>
            </a:r>
          </a:p>
        </p:txBody>
      </p:sp>
      <p:sp>
        <p:nvSpPr>
          <p:cNvPr id="6" name="Rounded Rectangle 5"/>
          <p:cNvSpPr/>
          <p:nvPr/>
        </p:nvSpPr>
        <p:spPr>
          <a:xfrm>
            <a:off x="777240" y="5029200"/>
            <a:ext cx="10515600" cy="1051560"/>
          </a:xfrm>
          <a:prstGeom prst="roundRect">
            <a:avLst/>
          </a:prstGeom>
          <a:solidFill>
            <a:srgbClr val="FEF2F2"/>
          </a:solidFill>
          <a:ln w="15875">
            <a:solidFill>
              <a:srgbClr val="DD34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5212080"/>
            <a:ext cx="9966960" cy="777239"/>
          </a:xfrm>
          <a:prstGeom prst="rect">
            <a:avLst/>
          </a:prstGeom>
          <a:noFill/>
        </p:spPr>
        <p:txBody>
          <a:bodyPr wrap="square" lIns="0" rIns="0" tIns="0" bIns="0">
            <a:spAutoFit/>
          </a:bodyPr>
          <a:lstStyle/>
          <a:p>
            <a:pPr algn="l">
              <a:lnSpc>
                <a:spcPct val="115000"/>
              </a:lnSpc>
            </a:pPr>
            <a:r>
              <a:rPr sz="1400" b="1">
                <a:solidFill>
                  <a:srgbClr val="991B1B"/>
                </a:solidFill>
                <a:latin typeface="Segoe UI"/>
              </a:rPr>
              <a:t>Recall@3 over twenty tools is a low bar — the top three are fifteen percent of the corpus. It is a floor for proceeding, never a claim of quality, and nothing here tests whether detection survives density.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RISKS</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could make this phase produce noise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4023360"/>
          </a:xfrm>
          <a:prstGeom prst="rect">
            <a:avLst/>
          </a:prstGeom>
          <a:noFill/>
        </p:spPr>
        <p:txBody>
          <a:bodyPr wrap="square" lIns="0" rIns="0" tIns="0" bIns="0">
            <a:spAutoFit/>
          </a:bodyPr>
          <a:lstStyle/>
          <a:p>
            <a:pPr>
              <a:lnSpc>
                <a:spcPct val="115000"/>
              </a:lnSpc>
              <a:spcAft>
                <a:spcPts val="900"/>
              </a:spcAft>
            </a:pPr>
            <a:r>
              <a:rPr sz="1300" b="1">
                <a:solidFill>
                  <a:srgbClr val="0F172A"/>
                </a:solidFill>
                <a:latin typeface="Segoe UI"/>
              </a:rPr>
              <a:t>The eval set can end up measuring you.</a:t>
            </a:r>
            <a:r>
              <a:rPr sz="1300">
                <a:solidFill>
                  <a:srgbClr val="475569"/>
                </a:solidFill>
                <a:latin typeface="Segoe UI"/>
              </a:rPr>
              <a:t>  Queries written after the descriptions inherit their vocabulary. Writing blind and freezing the set is the mitigation, and it is the cheapest correction in the phase.</a:t>
            </a:r>
          </a:p>
          <a:p>
            <a:pPr>
              <a:lnSpc>
                <a:spcPct val="115000"/>
              </a:lnSpc>
              <a:spcAft>
                <a:spcPts val="900"/>
              </a:spcAft>
            </a:pPr>
            <a:r>
              <a:rPr sz="1300" b="1">
                <a:solidFill>
                  <a:srgbClr val="0F172A"/>
                </a:solidFill>
                <a:latin typeface="Segoe UI"/>
              </a:rPr>
              <a:t>Tool descriptions set the ceiling.</a:t>
            </a:r>
            <a:r>
              <a:rPr sz="1300">
                <a:solidFill>
                  <a:srgbClr val="475569"/>
                </a:solidFill>
                <a:latin typeface="Segoe UI"/>
              </a:rPr>
              <a:t>  Twenty carelessly written descriptions produce bad recall and a gap log full of false gaps.</a:t>
            </a:r>
          </a:p>
          <a:p>
            <a:pPr>
              <a:lnSpc>
                <a:spcPct val="115000"/>
              </a:lnSpc>
              <a:spcAft>
                <a:spcPts val="900"/>
              </a:spcAft>
            </a:pPr>
            <a:r>
              <a:rPr sz="1300" b="1">
                <a:solidFill>
                  <a:srgbClr val="0F172A"/>
                </a:solidFill>
                <a:latin typeface="Segoe UI"/>
              </a:rPr>
              <a:t>Twenty tools cannot test density.</a:t>
            </a:r>
            <a:r>
              <a:rPr sz="1300">
                <a:solidFill>
                  <a:srgbClr val="475569"/>
                </a:solidFill>
                <a:latin typeface="Segoe UI"/>
              </a:rPr>
              <a:t>  Whatever the gate says, it says nothing about whether detection still works at two thousand tools. That risk carries forward into Phase 1 unmeasured.</a:t>
            </a:r>
          </a:p>
          <a:p>
            <a:pPr>
              <a:lnSpc>
                <a:spcPct val="115000"/>
              </a:lnSpc>
              <a:spcAft>
                <a:spcPts val="900"/>
              </a:spcAft>
            </a:pPr>
            <a:r>
              <a:rPr sz="1300" b="1">
                <a:solidFill>
                  <a:srgbClr val="0F172A"/>
                </a:solidFill>
                <a:latin typeface="Segoe UI"/>
              </a:rPr>
              <a:t>Region drift.</a:t>
            </a:r>
            <a:r>
              <a:rPr sz="1300">
                <a:solidFill>
                  <a:srgbClr val="475569"/>
                </a:solidFill>
                <a:latin typeface="Segoe UI"/>
              </a:rPr>
              <a:t>  Bedrock in one region and tables in another is the most common way a weekend disappears.</a:t>
            </a:r>
          </a:p>
          <a:p>
            <a:pPr>
              <a:lnSpc>
                <a:spcPct val="115000"/>
              </a:lnSpc>
              <a:spcAft>
                <a:spcPts val="900"/>
              </a:spcAft>
            </a:pPr>
            <a:r>
              <a:rPr sz="1300" b="1">
                <a:solidFill>
                  <a:srgbClr val="0F172A"/>
                </a:solidFill>
                <a:latin typeface="Segoe UI"/>
              </a:rPr>
              <a:t>Cold start is not a technical problem.</a:t>
            </a:r>
            <a:r>
              <a:rPr sz="1300">
                <a:solidFill>
                  <a:srgbClr val="475569"/>
                </a:solidFill>
                <a:latin typeface="Segoe UI"/>
              </a:rPr>
              <a:t>  No agents without tools, no tools without agent traffic. Seeding is the mitigation; the gaps board is a product on its own.</a:t>
            </a:r>
          </a:p>
          <a:p>
            <a:pPr>
              <a:lnSpc>
                <a:spcPct val="115000"/>
              </a:lnSpc>
              <a:spcAft>
                <a:spcPts val="900"/>
              </a:spcAft>
            </a:pPr>
            <a:r>
              <a:rPr sz="1300" b="1">
                <a:solidFill>
                  <a:srgbClr val="0F172A"/>
                </a:solidFill>
                <a:latin typeface="Segoe UI"/>
              </a:rPr>
              <a:t>The account clock.</a:t>
            </a:r>
            <a:r>
              <a:rPr sz="1300">
                <a:solidFill>
                  <a:srgbClr val="475569"/>
                </a:solidFill>
                <a:latin typeface="Segoe UI"/>
              </a:rPr>
              <a:t>  Free Plan credits run out and the plan lapses. Everything lives in CDK so a rebuild is one command.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OPEN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Nine assumptions to confirm or overrule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None of these were specified in PROJECT.md or CLAUDE.md.</a:t>
            </a:r>
          </a:p>
        </p:txBody>
      </p:sp>
      <p:graphicFrame>
        <p:nvGraphicFramePr>
          <p:cNvPr id="6" name="Table 5"/>
          <p:cNvGraphicFramePr>
            <a:graphicFrameLocks noGrp="1"/>
          </p:cNvGraphicFramePr>
          <p:nvPr/>
        </p:nvGraphicFramePr>
        <p:xfrm>
          <a:off x="777240" y="2350008"/>
          <a:ext cx="10515600" cy="2651760"/>
        </p:xfrm>
        <a:graphic>
          <a:graphicData uri="http://schemas.openxmlformats.org/drawingml/2006/table">
            <a:tbl>
              <a:tblPr firstRow="1" bandRow="1">
                <a:tableStyleId>{5C22544A-7EE6-4342-B048-85BDC9FD1C3A}</a:tableStyleId>
              </a:tblPr>
              <a:tblGrid>
                <a:gridCol w="2011680"/>
                <a:gridCol w="3200400"/>
                <a:gridCol w="5303520"/>
              </a:tblGrid>
              <a:tr h="294640">
                <a:tc>
                  <a:txBody>
                    <a:bodyPr/>
                    <a:lstStyle/>
                    <a:p>
                      <a:r>
                        <a:rPr sz="1100" b="1">
                          <a:solidFill>
                            <a:srgbClr val="FFFFFF"/>
                          </a:solidFill>
                          <a:latin typeface="Segoe UI"/>
                        </a:rPr>
                        <a:t>Decision</a:t>
                      </a:r>
                    </a:p>
                  </a:txBody>
                  <a:tcPr>
                    <a:solidFill>
                      <a:srgbClr val="0F172A"/>
                    </a:solidFill>
                  </a:tcPr>
                </a:tc>
                <a:tc>
                  <a:txBody>
                    <a:bodyPr/>
                    <a:lstStyle/>
                    <a:p>
                      <a:r>
                        <a:rPr sz="1100" b="1">
                          <a:solidFill>
                            <a:srgbClr val="FFFFFF"/>
                          </a:solidFill>
                          <a:latin typeface="Segoe UI"/>
                        </a:rPr>
                        <a:t>Assumed</a:t>
                      </a:r>
                    </a:p>
                  </a:txBody>
                  <a:tcPr>
                    <a:solidFill>
                      <a:srgbClr val="0F172A"/>
                    </a:solidFill>
                  </a:tcPr>
                </a:tc>
                <a:tc>
                  <a:txBody>
                    <a:bodyPr/>
                    <a:lstStyle/>
                    <a:p>
                      <a:r>
                        <a:rPr sz="1100" b="1">
                          <a:solidFill>
                            <a:srgbClr val="FFFFFF"/>
                          </a:solidFill>
                          <a:latin typeface="Segoe UI"/>
                        </a:rPr>
                        <a:t>Why</a:t>
                      </a:r>
                    </a:p>
                  </a:txBody>
                  <a:tcPr>
                    <a:solidFill>
                      <a:srgbClr val="0F172A"/>
                    </a:solidFill>
                  </a:tcPr>
                </a:tc>
              </a:tr>
              <a:tr h="294640">
                <a:tc>
                  <a:txBody>
                    <a:bodyPr/>
                    <a:lstStyle/>
                    <a:p>
                      <a:r>
                        <a:rPr sz="1100">
                          <a:solidFill>
                            <a:srgbClr val="475569"/>
                          </a:solidFill>
                          <a:latin typeface="Segoe UI"/>
                        </a:rPr>
                        <a:t>Language</a:t>
                      </a:r>
                    </a:p>
                  </a:txBody>
                  <a:tcPr>
                    <a:solidFill>
                      <a:srgbClr val="FFFFFF"/>
                    </a:solidFill>
                  </a:tcPr>
                </a:tc>
                <a:tc>
                  <a:txBody>
                    <a:bodyPr/>
                    <a:lstStyle/>
                    <a:p>
                      <a:r>
                        <a:rPr sz="1100">
                          <a:solidFill>
                            <a:srgbClr val="475569"/>
                          </a:solidFill>
                          <a:latin typeface="Segoe UI"/>
                        </a:rPr>
                        <a:t>TypeScript / Node 20</a:t>
                      </a:r>
                    </a:p>
                  </a:txBody>
                  <a:tcPr>
                    <a:solidFill>
                      <a:srgbClr val="FFFFFF"/>
                    </a:solidFill>
                  </a:tcPr>
                </a:tc>
                <a:tc>
                  <a:txBody>
                    <a:bodyPr/>
                    <a:lstStyle/>
                    <a:p>
                      <a:r>
                        <a:rPr sz="1100">
                          <a:solidFill>
                            <a:srgbClr val="475569"/>
                          </a:solidFill>
                          <a:latin typeface="Segoe UI"/>
                        </a:rPr>
                        <a:t>CLAUDE.md defines a tool as an MCP server</a:t>
                      </a:r>
                    </a:p>
                  </a:txBody>
                  <a:tcPr>
                    <a:solidFill>
                      <a:srgbClr val="FFFFFF"/>
                    </a:solidFill>
                  </a:tcPr>
                </a:tc>
              </a:tr>
              <a:tr h="294640">
                <a:tc>
                  <a:txBody>
                    <a:bodyPr/>
                    <a:lstStyle/>
                    <a:p>
                      <a:r>
                        <a:rPr sz="1100">
                          <a:solidFill>
                            <a:srgbClr val="475569"/>
                          </a:solidFill>
                          <a:latin typeface="Segoe UI"/>
                        </a:rPr>
                        <a:t>Compute</a:t>
                      </a:r>
                    </a:p>
                  </a:txBody>
                  <a:tcPr>
                    <a:solidFill>
                      <a:srgbClr val="F8FAFC"/>
                    </a:solidFill>
                  </a:tcPr>
                </a:tc>
                <a:tc>
                  <a:txBody>
                    <a:bodyPr/>
                    <a:lstStyle/>
                    <a:p>
                      <a:r>
                        <a:rPr sz="1100">
                          <a:solidFill>
                            <a:srgbClr val="475569"/>
                          </a:solidFill>
                          <a:latin typeface="Segoe UI"/>
                        </a:rPr>
                        <a:t>Lambda + Function URLs</a:t>
                      </a:r>
                    </a:p>
                  </a:txBody>
                  <a:tcPr>
                    <a:solidFill>
                      <a:srgbClr val="F8FAFC"/>
                    </a:solidFill>
                  </a:tcPr>
                </a:tc>
                <a:tc>
                  <a:txBody>
                    <a:bodyPr/>
                    <a:lstStyle/>
                    <a:p>
                      <a:r>
                        <a:rPr sz="1100">
                          <a:solidFill>
                            <a:srgbClr val="475569"/>
                          </a:solidFill>
                          <a:latin typeface="Segoe UI"/>
                        </a:rPr>
                        <a:t>Always free; skips API Gateway</a:t>
                      </a:r>
                    </a:p>
                  </a:txBody>
                  <a:tcPr>
                    <a:solidFill>
                      <a:srgbClr val="F8FAFC"/>
                    </a:solidFill>
                  </a:tcPr>
                </a:tc>
              </a:tr>
              <a:tr h="294640">
                <a:tc>
                  <a:txBody>
                    <a:bodyPr/>
                    <a:lstStyle/>
                    <a:p>
                      <a:r>
                        <a:rPr sz="1100">
                          <a:solidFill>
                            <a:srgbClr val="475569"/>
                          </a:solidFill>
                          <a:latin typeface="Segoe UI"/>
                        </a:rPr>
                        <a:t>Store</a:t>
                      </a:r>
                    </a:p>
                  </a:txBody>
                  <a:tcPr>
                    <a:solidFill>
                      <a:srgbClr val="FFFFFF"/>
                    </a:solidFill>
                  </a:tcPr>
                </a:tc>
                <a:tc>
                  <a:txBody>
                    <a:bodyPr/>
                    <a:lstStyle/>
                    <a:p>
                      <a:r>
                        <a:rPr sz="1100">
                          <a:solidFill>
                            <a:srgbClr val="475569"/>
                          </a:solidFill>
                          <a:latin typeface="Segoe UI"/>
                        </a:rPr>
                        <a:t>DynamoDB, provisioned</a:t>
                      </a:r>
                    </a:p>
                  </a:txBody>
                  <a:tcPr>
                    <a:solidFill>
                      <a:srgbClr val="FFFFFF"/>
                    </a:solidFill>
                  </a:tcPr>
                </a:tc>
                <a:tc>
                  <a:txBody>
                    <a:bodyPr/>
                    <a:lstStyle/>
                    <a:p>
                      <a:r>
                        <a:rPr sz="1100">
                          <a:solidFill>
                            <a:srgbClr val="475569"/>
                          </a:solidFill>
                          <a:latin typeface="Segoe UI"/>
                        </a:rPr>
                        <a:t>Always free at 25 GB and 25/25</a:t>
                      </a:r>
                    </a:p>
                  </a:txBody>
                  <a:tcPr>
                    <a:solidFill>
                      <a:srgbClr val="FFFFFF"/>
                    </a:solidFill>
                  </a:tcPr>
                </a:tc>
              </a:tr>
              <a:tr h="294640">
                <a:tc>
                  <a:txBody>
                    <a:bodyPr/>
                    <a:lstStyle/>
                    <a:p>
                      <a:r>
                        <a:rPr sz="1100">
                          <a:solidFill>
                            <a:srgbClr val="475569"/>
                          </a:solidFill>
                          <a:latin typeface="Segoe UI"/>
                        </a:rPr>
                        <a:t>Vector search</a:t>
                      </a:r>
                    </a:p>
                  </a:txBody>
                  <a:tcPr>
                    <a:solidFill>
                      <a:srgbClr val="F8FAFC"/>
                    </a:solidFill>
                  </a:tcPr>
                </a:tc>
                <a:tc>
                  <a:txBody>
                    <a:bodyPr/>
                    <a:lstStyle/>
                    <a:p>
                      <a:r>
                        <a:rPr sz="1100">
                          <a:solidFill>
                            <a:srgbClr val="475569"/>
                          </a:solidFill>
                          <a:latin typeface="Segoe UI"/>
                        </a:rPr>
                        <a:t>Brute-force cosine</a:t>
                      </a:r>
                    </a:p>
                  </a:txBody>
                  <a:tcPr>
                    <a:solidFill>
                      <a:srgbClr val="F8FAFC"/>
                    </a:solidFill>
                  </a:tcPr>
                </a:tc>
                <a:tc>
                  <a:txBody>
                    <a:bodyPr/>
                    <a:lstStyle/>
                    <a:p>
                      <a:r>
                        <a:rPr sz="1100">
                          <a:solidFill>
                            <a:srgbClr val="475569"/>
                          </a:solidFill>
                          <a:latin typeface="Segoe UI"/>
                        </a:rPr>
                        <a:t>20 tools needs no database</a:t>
                      </a:r>
                    </a:p>
                  </a:txBody>
                  <a:tcPr>
                    <a:solidFill>
                      <a:srgbClr val="F8FAFC"/>
                    </a:solidFill>
                  </a:tcPr>
                </a:tc>
              </a:tr>
              <a:tr h="294640">
                <a:tc>
                  <a:txBody>
                    <a:bodyPr/>
                    <a:lstStyle/>
                    <a:p>
                      <a:r>
                        <a:rPr sz="1100">
                          <a:solidFill>
                            <a:srgbClr val="475569"/>
                          </a:solidFill>
                          <a:latin typeface="Segoe UI"/>
                        </a:rPr>
                        <a:t>Embeddings</a:t>
                      </a:r>
                    </a:p>
                  </a:txBody>
                  <a:tcPr>
                    <a:solidFill>
                      <a:srgbClr val="FFFFFF"/>
                    </a:solidFill>
                  </a:tcPr>
                </a:tc>
                <a:tc>
                  <a:txBody>
                    <a:bodyPr/>
                    <a:lstStyle/>
                    <a:p>
                      <a:r>
                        <a:rPr sz="1100">
                          <a:solidFill>
                            <a:srgbClr val="475569"/>
                          </a:solidFill>
                          <a:latin typeface="Segoe UI"/>
                        </a:rPr>
                        <a:t>Bedrock Titan V2</a:t>
                      </a:r>
                    </a:p>
                  </a:txBody>
                  <a:tcPr>
                    <a:solidFill>
                      <a:srgbClr val="FFFFFF"/>
                    </a:solidFill>
                  </a:tcPr>
                </a:tc>
                <a:tc>
                  <a:txBody>
                    <a:bodyPr/>
                    <a:lstStyle/>
                    <a:p>
                      <a:r>
                        <a:rPr sz="1100">
                          <a:solidFill>
                            <a:srgbClr val="475569"/>
                          </a:solidFill>
                          <a:latin typeface="Segoe UI"/>
                        </a:rPr>
                        <a:t>Native to AWS, costs cents</a:t>
                      </a:r>
                    </a:p>
                  </a:txBody>
                  <a:tcPr>
                    <a:solidFill>
                      <a:srgbClr val="FFFFFF"/>
                    </a:solidFill>
                  </a:tcPr>
                </a:tc>
              </a:tr>
              <a:tr h="294640">
                <a:tc>
                  <a:txBody>
                    <a:bodyPr/>
                    <a:lstStyle/>
                    <a:p>
                      <a:r>
                        <a:rPr sz="1100">
                          <a:solidFill>
                            <a:srgbClr val="475569"/>
                          </a:solidFill>
                          <a:latin typeface="Segoe UI"/>
                        </a:rPr>
                        <a:t>IaC</a:t>
                      </a:r>
                    </a:p>
                  </a:txBody>
                  <a:tcPr>
                    <a:solidFill>
                      <a:srgbClr val="F8FAFC"/>
                    </a:solidFill>
                  </a:tcPr>
                </a:tc>
                <a:tc>
                  <a:txBody>
                    <a:bodyPr/>
                    <a:lstStyle/>
                    <a:p>
                      <a:r>
                        <a:rPr sz="1100">
                          <a:solidFill>
                            <a:srgbClr val="475569"/>
                          </a:solidFill>
                          <a:latin typeface="Segoe UI"/>
                        </a:rPr>
                        <a:t>AWS CDK (TypeScript)</a:t>
                      </a:r>
                    </a:p>
                  </a:txBody>
                  <a:tcPr>
                    <a:solidFill>
                      <a:srgbClr val="F8FAFC"/>
                    </a:solidFill>
                  </a:tcPr>
                </a:tc>
                <a:tc>
                  <a:txBody>
                    <a:bodyPr/>
                    <a:lstStyle/>
                    <a:p>
                      <a:r>
                        <a:rPr sz="1100">
                          <a:solidFill>
                            <a:srgbClr val="475569"/>
                          </a:solidFill>
                          <a:latin typeface="Segoe UI"/>
                        </a:rPr>
                        <a:t>Same language as the services</a:t>
                      </a:r>
                    </a:p>
                  </a:txBody>
                  <a:tcPr>
                    <a:solidFill>
                      <a:srgbClr val="F8FAFC"/>
                    </a:solidFill>
                  </a:tcPr>
                </a:tc>
              </a:tr>
              <a:tr h="294640">
                <a:tc>
                  <a:txBody>
                    <a:bodyPr/>
                    <a:lstStyle/>
                    <a:p>
                      <a:r>
                        <a:rPr sz="1100">
                          <a:solidFill>
                            <a:srgbClr val="475569"/>
                          </a:solidFill>
                          <a:latin typeface="Segoe UI"/>
                        </a:rPr>
                        <a:t>Surface</a:t>
                      </a:r>
                    </a:p>
                  </a:txBody>
                  <a:tcPr>
                    <a:solidFill>
                      <a:srgbClr val="FFFFFF"/>
                    </a:solidFill>
                  </a:tcPr>
                </a:tc>
                <a:tc>
                  <a:txBody>
                    <a:bodyPr/>
                    <a:lstStyle/>
                    <a:p>
                      <a:r>
                        <a:rPr sz="1100">
                          <a:solidFill>
                            <a:srgbClr val="475569"/>
                          </a:solidFill>
                          <a:latin typeface="Segoe UI"/>
                        </a:rPr>
                        <a:t>HTTP API + CLI only</a:t>
                      </a:r>
                    </a:p>
                  </a:txBody>
                  <a:tcPr>
                    <a:solidFill>
                      <a:srgbClr val="FFFFFF"/>
                    </a:solidFill>
                  </a:tcPr>
                </a:tc>
                <a:tc>
                  <a:txBody>
                    <a:bodyPr/>
                    <a:lstStyle/>
                    <a:p>
                      <a:r>
                        <a:rPr sz="1100">
                          <a:solidFill>
                            <a:srgbClr val="475569"/>
                          </a:solidFill>
                          <a:latin typeface="Segoe UI"/>
                        </a:rPr>
                        <a:t>Roadmap says read the log by hand</a:t>
                      </a:r>
                    </a:p>
                  </a:txBody>
                  <a:tcPr>
                    <a:solidFill>
                      <a:srgbClr val="FFFFFF"/>
                    </a:solidFill>
                  </a:tcPr>
                </a:tc>
              </a:tr>
              <a:tr h="294640">
                <a:tc>
                  <a:txBody>
                    <a:bodyPr/>
                    <a:lstStyle/>
                    <a:p>
                      <a:r>
                        <a:rPr sz="1100">
                          <a:solidFill>
                            <a:srgbClr val="475569"/>
                          </a:solidFill>
                          <a:latin typeface="Segoe UI"/>
                        </a:rPr>
                        <a:t>Execution</a:t>
                      </a:r>
                    </a:p>
                  </a:txBody>
                  <a:tcPr>
                    <a:solidFill>
                      <a:srgbClr val="F8FAFC"/>
                    </a:solidFill>
                  </a:tcPr>
                </a:tc>
                <a:tc>
                  <a:txBody>
                    <a:bodyPr/>
                    <a:lstStyle/>
                    <a:p>
                      <a:r>
                        <a:rPr sz="1100">
                          <a:solidFill>
                            <a:srgbClr val="475569"/>
                          </a:solidFill>
                          <a:latin typeface="Segoe UI"/>
                        </a:rPr>
                        <a:t>Out of scope</a:t>
                      </a:r>
                    </a:p>
                  </a:txBody>
                  <a:tcPr>
                    <a:solidFill>
                      <a:srgbClr val="F8FAFC"/>
                    </a:solidFill>
                  </a:tcPr>
                </a:tc>
                <a:tc>
                  <a:txBody>
                    <a:bodyPr/>
                    <a:lstStyle/>
                    <a:p>
                      <a:r>
                        <a:rPr sz="1100">
                          <a:solidFill>
                            <a:srgbClr val="475569"/>
                          </a:solidFill>
                          <a:latin typeface="Segoe UI"/>
                        </a:rPr>
                        <a:t>Keeps the sandbox invariant untriggered</a:t>
                      </a:r>
                    </a:p>
                  </a:txBody>
                  <a:tcPr>
                    <a:solidFill>
                      <a:srgbClr val="F8FAFC"/>
                    </a:solidFill>
                  </a:tcPr>
                </a:tc>
              </a:tr>
              <a:tr h="294023">
                <a:tc>
                  <a:txBody>
                    <a:bodyPr/>
                    <a:lstStyle/>
                    <a:p>
                      <a:r>
                        <a:rPr sz="1100">
                          <a:solidFill>
                            <a:srgbClr val="475569"/>
                          </a:solidFill>
                          <a:latin typeface="Segoe UI"/>
                        </a:rPr>
                        <a:t>Eval queries</a:t>
                      </a:r>
                    </a:p>
                  </a:txBody>
                  <a:tcPr>
                    <a:solidFill>
                      <a:srgbClr val="F8FAFC"/>
                    </a:solidFill>
                  </a:tcPr>
                </a:tc>
                <a:tc>
                  <a:txBody>
                    <a:bodyPr/>
                    <a:lstStyle/>
                    <a:p>
                      <a:r>
                        <a:rPr sz="1100">
                          <a:solidFill>
                            <a:srgbClr val="475569"/>
                          </a:solidFill>
                          <a:latin typeface="Segoe UI"/>
                        </a:rPr>
                        <a:t>Written blind, non-Amazon model</a:t>
                      </a:r>
                    </a:p>
                  </a:txBody>
                  <a:tcPr>
                    <a:solidFill>
                      <a:srgbClr val="F8FAFC"/>
                    </a:solidFill>
                  </a:tcPr>
                </a:tc>
                <a:tc>
                  <a:txBody>
                    <a:bodyPr/>
                    <a:lstStyle/>
                    <a:p>
                      <a:r>
                        <a:rPr sz="1100">
                          <a:solidFill>
                            <a:srgbClr val="475569"/>
                          </a:solidFill>
                          <a:latin typeface="Segoe UI"/>
                        </a:rPr>
                        <a:t>Keeps query vocabulary independent of Titan</a:t>
                      </a:r>
                    </a:p>
                  </a:txBody>
                  <a:tcPr>
                    <a:solidFill>
                      <a:srgbClr val="F8FAFC"/>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280160"/>
            <a:ext cx="10058400" cy="320040"/>
          </a:xfrm>
          <a:prstGeom prst="rect">
            <a:avLst/>
          </a:prstGeom>
          <a:noFill/>
        </p:spPr>
        <p:txBody>
          <a:bodyPr wrap="square" lIns="0" rIns="0" tIns="0" bIns="0">
            <a:spAutoFit/>
          </a:bodyPr>
          <a:lstStyle/>
          <a:p>
            <a:pPr algn="l">
              <a:lnSpc>
                <a:spcPct val="100000"/>
              </a:lnSpc>
            </a:pPr>
            <a:r>
              <a:rPr sz="1300" b="1">
                <a:solidFill>
                  <a:srgbClr val="ED7100"/>
                </a:solidFill>
                <a:latin typeface="Segoe UI"/>
              </a:rPr>
              <a:t>NEXT</a:t>
            </a:r>
          </a:p>
        </p:txBody>
      </p:sp>
      <p:sp>
        <p:nvSpPr>
          <p:cNvPr id="4" name="TextBox 3"/>
          <p:cNvSpPr txBox="1"/>
          <p:nvPr/>
        </p:nvSpPr>
        <p:spPr>
          <a:xfrm>
            <a:off x="1005840" y="1691640"/>
            <a:ext cx="10241280" cy="731520"/>
          </a:xfrm>
          <a:prstGeom prst="rect">
            <a:avLst/>
          </a:prstGeom>
          <a:noFill/>
        </p:spPr>
        <p:txBody>
          <a:bodyPr wrap="square" lIns="0" rIns="0" tIns="0" bIns="0">
            <a:spAutoFit/>
          </a:bodyPr>
          <a:lstStyle/>
          <a:p>
            <a:pPr algn="l">
              <a:lnSpc>
                <a:spcPct val="100000"/>
              </a:lnSpc>
            </a:pPr>
            <a:r>
              <a:rPr sz="3800" b="1">
                <a:solidFill>
                  <a:srgbClr val="FFFFFF"/>
                </a:solidFill>
                <a:latin typeface="Segoe UI"/>
              </a:rPr>
              <a:t>Where this goes from here</a:t>
            </a:r>
          </a:p>
        </p:txBody>
      </p:sp>
      <p:sp>
        <p:nvSpPr>
          <p:cNvPr id="5" name="Oval 4"/>
          <p:cNvSpPr/>
          <p:nvPr/>
        </p:nvSpPr>
        <p:spPr>
          <a:xfrm>
            <a:off x="1005840" y="2852928"/>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1</a:t>
            </a:r>
          </a:p>
        </p:txBody>
      </p:sp>
      <p:sp>
        <p:nvSpPr>
          <p:cNvPr id="6" name="TextBox 5"/>
          <p:cNvSpPr txBox="1"/>
          <p:nvPr/>
        </p:nvSpPr>
        <p:spPr>
          <a:xfrm>
            <a:off x="1536192" y="2898648"/>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Confirm or overrule the nine assumptions</a:t>
            </a:r>
          </a:p>
        </p:txBody>
      </p:sp>
      <p:sp>
        <p:nvSpPr>
          <p:cNvPr id="7" name="Oval 6"/>
          <p:cNvSpPr/>
          <p:nvPr/>
        </p:nvSpPr>
        <p:spPr>
          <a:xfrm>
            <a:off x="1005840" y="3419856"/>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2</a:t>
            </a:r>
          </a:p>
        </p:txBody>
      </p:sp>
      <p:sp>
        <p:nvSpPr>
          <p:cNvPr id="8" name="TextBox 7"/>
          <p:cNvSpPr txBox="1"/>
          <p:nvPr/>
        </p:nvSpPr>
        <p:spPr>
          <a:xfrm>
            <a:off x="1536192" y="3465576"/>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Confirm the account type, and check the credit expiry in billing</a:t>
            </a:r>
          </a:p>
        </p:txBody>
      </p:sp>
      <p:sp>
        <p:nvSpPr>
          <p:cNvPr id="9" name="Oval 8"/>
          <p:cNvSpPr/>
          <p:nvPr/>
        </p:nvSpPr>
        <p:spPr>
          <a:xfrm>
            <a:off x="1005840" y="3986783"/>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3</a:t>
            </a:r>
          </a:p>
        </p:txBody>
      </p:sp>
      <p:sp>
        <p:nvSpPr>
          <p:cNvPr id="10" name="TextBox 9"/>
          <p:cNvSpPr txBox="1"/>
          <p:nvPr/>
        </p:nvSpPr>
        <p:spPr>
          <a:xfrm>
            <a:off x="1536192" y="4032503"/>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Pick the region and enable Bedrock Titan V2 model access there</a:t>
            </a:r>
          </a:p>
        </p:txBody>
      </p:sp>
      <p:sp>
        <p:nvSpPr>
          <p:cNvPr id="11" name="Oval 10"/>
          <p:cNvSpPr/>
          <p:nvPr/>
        </p:nvSpPr>
        <p:spPr>
          <a:xfrm>
            <a:off x="1005840" y="4553712"/>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4</a:t>
            </a:r>
          </a:p>
        </p:txBody>
      </p:sp>
      <p:sp>
        <p:nvSpPr>
          <p:cNvPr id="12" name="TextBox 11"/>
          <p:cNvSpPr txBox="1"/>
          <p:nvPr/>
        </p:nvSpPr>
        <p:spPr>
          <a:xfrm>
            <a:off x="1536192" y="4599431"/>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Write the eval queries blind, before seeding anything</a:t>
            </a:r>
          </a:p>
        </p:txBody>
      </p:sp>
      <p:sp>
        <p:nvSpPr>
          <p:cNvPr id="13" name="Oval 12"/>
          <p:cNvSpPr/>
          <p:nvPr/>
        </p:nvSpPr>
        <p:spPr>
          <a:xfrm>
            <a:off x="1005840" y="5120640"/>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5</a:t>
            </a:r>
          </a:p>
        </p:txBody>
      </p:sp>
      <p:sp>
        <p:nvSpPr>
          <p:cNvPr id="14" name="TextBox 13"/>
          <p:cNvSpPr txBox="1"/>
          <p:nvPr/>
        </p:nvSpPr>
        <p:spPr>
          <a:xfrm>
            <a:off x="1536192" y="5166359"/>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Create issues #1-#14, then start #1 and #3 in parallel</a:t>
            </a:r>
          </a:p>
        </p:txBody>
      </p:sp>
      <p:sp>
        <p:nvSpPr>
          <p:cNvPr id="15" name="TextBox 14"/>
          <p:cNvSpPr txBox="1"/>
          <p:nvPr/>
        </p:nvSpPr>
        <p:spPr>
          <a:xfrm>
            <a:off x="1005840" y="5943600"/>
            <a:ext cx="10515600" cy="274320"/>
          </a:xfrm>
          <a:prstGeom prst="rect">
            <a:avLst/>
          </a:prstGeom>
          <a:noFill/>
        </p:spPr>
        <p:txBody>
          <a:bodyPr wrap="square" lIns="0" rIns="0" tIns="0" bIns="0">
            <a:spAutoFit/>
          </a:bodyPr>
          <a:lstStyle/>
          <a:p>
            <a:pPr algn="l">
              <a:lnSpc>
                <a:spcPct val="100000"/>
              </a:lnSpc>
            </a:pPr>
            <a:r>
              <a:rPr sz="1100" b="0">
                <a:solidFill>
                  <a:srgbClr val="64748B"/>
                </a:solidFill>
                <a:latin typeface="Segoe UI"/>
              </a:rPr>
              <a:t>Plan: docs/plans/phase-0-plan.md   ·   Board: miro.com/app/board/uXjVHpGFCos=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INSTRUMENT</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Writing the eval set without contaminating it</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4023360"/>
          </a:xfrm>
          <a:prstGeom prst="rect">
            <a:avLst/>
          </a:prstGeom>
          <a:noFill/>
        </p:spPr>
        <p:txBody>
          <a:bodyPr wrap="square" lIns="0" rIns="0" tIns="0" bIns="0">
            <a:spAutoFit/>
          </a:bodyPr>
          <a:lstStyle/>
          <a:p>
            <a:pPr>
              <a:lnSpc>
                <a:spcPct val="115000"/>
              </a:lnSpc>
              <a:spcAft>
                <a:spcPts val="1100"/>
              </a:spcAft>
            </a:pPr>
            <a:r>
              <a:rPr sz="1400" b="1">
                <a:solidFill>
                  <a:srgbClr val="0F172A"/>
                </a:solidFill>
                <a:latin typeface="Segoe UI"/>
              </a:rPr>
              <a:t>The trap is ordering.</a:t>
            </a:r>
            <a:r>
              <a:rPr sz="1400">
                <a:solidFill>
                  <a:srgbClr val="475569"/>
                </a:solidFill>
                <a:latin typeface="Segoe UI"/>
              </a:rPr>
              <a:t>  Write twenty descriptions, then write queries to test them, and the queries come out phrased the way the descriptions were phrased. Recall looks excellent and has measured your own vocabulary.</a:t>
            </a:r>
          </a:p>
          <a:p>
            <a:pPr>
              <a:lnSpc>
                <a:spcPct val="115000"/>
              </a:lnSpc>
              <a:spcAft>
                <a:spcPts val="1100"/>
              </a:spcAft>
            </a:pPr>
            <a:r>
              <a:rPr sz="1400" b="1">
                <a:solidFill>
                  <a:srgbClr val="0F172A"/>
                </a:solidFill>
                <a:latin typeface="Segoe UI"/>
              </a:rPr>
              <a:t>So write the queries first.</a:t>
            </a:r>
            <a:r>
              <a:rPr sz="1400">
                <a:solidFill>
                  <a:srgbClr val="475569"/>
                </a:solidFill>
                <a:latin typeface="Segoe UI"/>
              </a:rPr>
              <a:t>  All 50+ authored before a single tool is seeded, from the task side — what an agent needs mid-task, not what a tool is called.</a:t>
            </a:r>
          </a:p>
          <a:p>
            <a:pPr>
              <a:lnSpc>
                <a:spcPct val="115000"/>
              </a:lnSpc>
              <a:spcAft>
                <a:spcPts val="1100"/>
              </a:spcAft>
            </a:pPr>
            <a:r>
              <a:rPr sz="1400" b="1">
                <a:solidFill>
                  <a:srgbClr val="0F172A"/>
                </a:solidFill>
                <a:latin typeface="Segoe UI"/>
              </a:rPr>
              <a:t>Draft them with a different model.</a:t>
            </a:r>
            <a:r>
              <a:rPr sz="1400">
                <a:solidFill>
                  <a:srgbClr val="475569"/>
                </a:solidFill>
                <a:latin typeface="Segoe UI"/>
              </a:rPr>
              <a:t>  Generating candidates with a non-Amazon model keeps the query vocabulary independent of the model that will embed both sides.</a:t>
            </a:r>
          </a:p>
          <a:p>
            <a:pPr>
              <a:lnSpc>
                <a:spcPct val="115000"/>
              </a:lnSpc>
              <a:spcAft>
                <a:spcPts val="1100"/>
              </a:spcAft>
            </a:pPr>
            <a:r>
              <a:rPr sz="1400" b="1">
                <a:solidFill>
                  <a:srgbClr val="0F172A"/>
                </a:solidFill>
                <a:latin typeface="Segoe UI"/>
              </a:rPr>
              <a:t>Freeze the set before seeding.</a:t>
            </a:r>
            <a:r>
              <a:rPr sz="1400">
                <a:solidFill>
                  <a:srgbClr val="475569"/>
                </a:solidFill>
                <a:latin typeface="Segoe UI"/>
              </a:rPr>
              <a:t>  Once tools exist the set is closed. Editing a query after watching it fail turns the harness into a mirror.</a:t>
            </a:r>
          </a:p>
          <a:p>
            <a:pPr>
              <a:lnSpc>
                <a:spcPct val="115000"/>
              </a:lnSpc>
              <a:spcAft>
                <a:spcPts val="1100"/>
              </a:spcAft>
            </a:pPr>
            <a:r>
              <a:rPr sz="1400" b="1">
                <a:solidFill>
                  <a:srgbClr val="0F172A"/>
                </a:solidFill>
                <a:latin typeface="Segoe UI"/>
              </a:rPr>
              <a:t>Label after freezing, not during.</a:t>
            </a:r>
            <a:r>
              <a:rPr sz="1400">
                <a:solidFill>
                  <a:srgbClr val="475569"/>
                </a:solidFill>
                <a:latin typeface="Segoe UI"/>
              </a:rPr>
              <a:t>  Deciding which tool should win happens once the seeded set exists — the queries themselves never change at that point.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THRESHOLD T</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 is an output of Phase 0, not an input</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4023360"/>
          </a:xfrm>
          <a:prstGeom prst="rect">
            <a:avLst/>
          </a:prstGeom>
          <a:noFill/>
        </p:spPr>
        <p:txBody>
          <a:bodyPr wrap="square" lIns="0" rIns="0" tIns="0" bIns="0">
            <a:spAutoFit/>
          </a:bodyPr>
          <a:lstStyle/>
          <a:p>
            <a:pPr>
              <a:lnSpc>
                <a:spcPct val="115000"/>
              </a:lnSpc>
              <a:spcAft>
                <a:spcPts val="1100"/>
              </a:spcAft>
            </a:pPr>
            <a:r>
              <a:rPr sz="1400" b="1">
                <a:solidFill>
                  <a:srgbClr val="0F172A"/>
                </a:solidFill>
                <a:latin typeface="Segoe UI"/>
              </a:rPr>
              <a:t>Right now T is a guess.</a:t>
            </a:r>
            <a:r>
              <a:rPr sz="1400">
                <a:solidFill>
                  <a:srgbClr val="475569"/>
                </a:solidFill>
                <a:latin typeface="Segoe UI"/>
              </a:rPr>
              <a:t>  Too low and nothing logs; too high and everything does. A guessed value silently decides how many gaps the phase appears to find.</a:t>
            </a:r>
          </a:p>
          <a:p>
            <a:pPr>
              <a:lnSpc>
                <a:spcPct val="115000"/>
              </a:lnSpc>
              <a:spcAft>
                <a:spcPts val="1100"/>
              </a:spcAft>
            </a:pPr>
            <a:r>
              <a:rPr sz="1400" b="1">
                <a:solidFill>
                  <a:srgbClr val="0F172A"/>
                </a:solidFill>
                <a:latin typeface="Segoe UI"/>
              </a:rPr>
              <a:t>The eval run produces the data to choose it.</a:t>
            </a:r>
            <a:r>
              <a:rPr sz="1400">
                <a:solidFill>
                  <a:srgbClr val="475569"/>
                </a:solidFill>
                <a:latin typeface="Segoe UI"/>
              </a:rPr>
              <a:t>  Answerable queries yield one distribution of top scores. The known-unanswerable ones yield another.</a:t>
            </a:r>
          </a:p>
          <a:p>
            <a:pPr>
              <a:lnSpc>
                <a:spcPct val="115000"/>
              </a:lnSpc>
              <a:spcAft>
                <a:spcPts val="1100"/>
              </a:spcAft>
            </a:pPr>
            <a:r>
              <a:rPr sz="1400" b="1">
                <a:solidFill>
                  <a:srgbClr val="0F172A"/>
                </a:solidFill>
                <a:latin typeface="Segoe UI"/>
              </a:rPr>
              <a:t>Pick T where the two separate best.</a:t>
            </a:r>
            <a:r>
              <a:rPr sz="1400">
                <a:solidFill>
                  <a:srgbClr val="475569"/>
                </a:solidFill>
                <a:latin typeface="Segoe UI"/>
              </a:rPr>
              <a:t>  Then report the overlap between them, not just the chosen value — the overlap is what says how reliable any threshold can be.</a:t>
            </a:r>
          </a:p>
          <a:p>
            <a:pPr>
              <a:lnSpc>
                <a:spcPct val="115000"/>
              </a:lnSpc>
              <a:spcAft>
                <a:spcPts val="1100"/>
              </a:spcAft>
            </a:pPr>
            <a:r>
              <a:rPr sz="1400" b="1">
                <a:solidFill>
                  <a:srgbClr val="0F172A"/>
                </a:solidFill>
                <a:latin typeface="Segoe UI"/>
              </a:rPr>
              <a:t>Heavy overlap is the real finding.</a:t>
            </a:r>
            <a:r>
              <a:rPr sz="1400">
                <a:solidFill>
                  <a:srgbClr val="475569"/>
                </a:solidFill>
                <a:latin typeface="Segoe UI"/>
              </a:rPr>
              <a:t>  If no value of T cleanly separates the two, semantic distance alone cannot tell a gap from a miss. That is an answer, and it is worth six weeks to have it.</a:t>
            </a:r>
          </a:p>
          <a:p>
            <a:pPr>
              <a:lnSpc>
                <a:spcPct val="115000"/>
              </a:lnSpc>
              <a:spcAft>
                <a:spcPts val="1100"/>
              </a:spcAft>
            </a:pPr>
            <a:r>
              <a:rPr sz="1400" b="1">
                <a:solidFill>
                  <a:srgbClr val="0F172A"/>
                </a:solidFill>
                <a:latin typeface="Segoe UI"/>
              </a:rPr>
              <a:t>Keep stamping T on every gap row.</a:t>
            </a:r>
            <a:r>
              <a:rPr sz="1400">
                <a:solidFill>
                  <a:srgbClr val="475569"/>
                </a:solidFill>
                <a:latin typeface="Segoe UI"/>
              </a:rPr>
              <a:t>  Already in the plan, and it stays right either way — old records remain interpretable after the value moves.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FAIL PATH</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happens if the gate does not clear</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4023360"/>
          </a:xfrm>
          <a:prstGeom prst="rect">
            <a:avLst/>
          </a:prstGeom>
          <a:noFill/>
        </p:spPr>
        <p:txBody>
          <a:bodyPr wrap="square" lIns="0" rIns="0" tIns="0" bIns="0">
            <a:spAutoFit/>
          </a:bodyPr>
          <a:lstStyle/>
          <a:p>
            <a:pPr>
              <a:lnSpc>
                <a:spcPct val="115000"/>
              </a:lnSpc>
              <a:spcAft>
                <a:spcPts val="1100"/>
              </a:spcAft>
            </a:pPr>
            <a:r>
              <a:rPr sz="1400" b="1">
                <a:solidFill>
                  <a:srgbClr val="0F172A"/>
                </a:solidFill>
                <a:latin typeface="Segoe UI"/>
              </a:rPr>
              <a:t>First, rewrite the descriptions.</a:t>
            </a:r>
            <a:r>
              <a:rPr sz="1400">
                <a:solidFill>
                  <a:srgbClr val="475569"/>
                </a:solidFill>
                <a:latin typeface="Segoe UI"/>
              </a:rPr>
              <a:t>  Cheapest and most often the cause. Descriptions set the recall ceiling, and twenty of them can be rewritten in a day.</a:t>
            </a:r>
          </a:p>
          <a:p>
            <a:pPr>
              <a:lnSpc>
                <a:spcPct val="115000"/>
              </a:lnSpc>
              <a:spcAft>
                <a:spcPts val="1100"/>
              </a:spcAft>
            </a:pPr>
            <a:r>
              <a:rPr sz="1400" b="1">
                <a:solidFill>
                  <a:srgbClr val="0F172A"/>
                </a:solidFill>
                <a:latin typeface="Segoe UI"/>
              </a:rPr>
              <a:t>Second, add lexical retrieval alongside the vectors.</a:t>
            </a:r>
            <a:r>
              <a:rPr sz="1400">
                <a:solidFill>
                  <a:srgbClr val="475569"/>
                </a:solidFill>
                <a:latin typeface="Segoe UI"/>
              </a:rPr>
              <a:t>  Hybrid BM25 plus cosine recovers exact-name and jargon matches that embeddings routinely lose. No new infrastructure at this size.</a:t>
            </a:r>
          </a:p>
          <a:p>
            <a:pPr>
              <a:lnSpc>
                <a:spcPct val="115000"/>
              </a:lnSpc>
              <a:spcAft>
                <a:spcPts val="1100"/>
              </a:spcAft>
            </a:pPr>
            <a:r>
              <a:rPr sz="1400" b="1">
                <a:solidFill>
                  <a:srgbClr val="0F172A"/>
                </a:solidFill>
                <a:latin typeface="Segoe UI"/>
              </a:rPr>
              <a:t>Third, swap the embedding model.</a:t>
            </a:r>
            <a:r>
              <a:rPr sz="1400">
                <a:solidFill>
                  <a:srgbClr val="475569"/>
                </a:solidFill>
                <a:latin typeface="Segoe UI"/>
              </a:rPr>
              <a:t>  Titan out, another in. One file if the interface from #5 held — which is the reason that issue exists.</a:t>
            </a:r>
          </a:p>
          <a:p>
            <a:pPr>
              <a:lnSpc>
                <a:spcPct val="115000"/>
              </a:lnSpc>
              <a:spcAft>
                <a:spcPts val="1100"/>
              </a:spcAft>
            </a:pPr>
            <a:r>
              <a:rPr sz="1400" b="1">
                <a:solidFill>
                  <a:srgbClr val="0F172A"/>
                </a:solidFill>
                <a:latin typeface="Segoe UI"/>
              </a:rPr>
              <a:t>Not on the list: lowering the gate.</a:t>
            </a:r>
            <a:r>
              <a:rPr sz="1400">
                <a:solidFill>
                  <a:srgbClr val="475569"/>
                </a:solidFill>
                <a:latin typeface="Segoe UI"/>
              </a:rPr>
              <a:t>  0.84 is not basically fine. Decide the response now, while the number is still hypothetical and six weeks of work are not yet sunk into wanting it to pass.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BUILD DETAIL</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Four smaller corrections worth making now</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4023360"/>
          </a:xfrm>
          <a:prstGeom prst="rect">
            <a:avLst/>
          </a:prstGeom>
          <a:noFill/>
        </p:spPr>
        <p:txBody>
          <a:bodyPr wrap="square" lIns="0" rIns="0" tIns="0" bIns="0">
            <a:spAutoFit/>
          </a:bodyPr>
          <a:lstStyle/>
          <a:p>
            <a:pPr>
              <a:lnSpc>
                <a:spcPct val="115000"/>
              </a:lnSpc>
              <a:spcAft>
                <a:spcPts val="1100"/>
              </a:spcAft>
            </a:pPr>
            <a:r>
              <a:rPr sz="1400" b="1">
                <a:solidFill>
                  <a:srgbClr val="0F172A"/>
                </a:solidFill>
                <a:latin typeface="Segoe UI"/>
              </a:rPr>
              <a:t>One authority for vectors.</a:t>
            </a:r>
            <a:r>
              <a:rPr sz="1400">
                <a:solidFill>
                  <a:srgbClr val="475569"/>
                </a:solidFill>
                <a:latin typeface="Segoe UI"/>
              </a:rPr>
              <a:t>  The tool row and the S3 snapshot both hold them. Name the row as the source and the snapshot as a derived cache, with a rebuild command — or they drift and nobody notices.</a:t>
            </a:r>
          </a:p>
          <a:p>
            <a:pPr>
              <a:lnSpc>
                <a:spcPct val="115000"/>
              </a:lnSpc>
              <a:spcAft>
                <a:spcPts val="1100"/>
              </a:spcAft>
            </a:pPr>
            <a:r>
              <a:rPr sz="1400" b="1">
                <a:solidFill>
                  <a:srgbClr val="0F172A"/>
                </a:solidFill>
                <a:latin typeface="Segoe UI"/>
              </a:rPr>
              <a:t>One embedding function, one interface.</a:t>
            </a:r>
            <a:r>
              <a:rPr sz="1400">
                <a:solidFill>
                  <a:srgbClr val="475569"/>
                </a:solidFill>
                <a:latin typeface="Segoe UI"/>
              </a:rPr>
              <a:t>  Registry and search must embed through the same code path. Different preprocessing on the two sides is a silent and very common recall killer, and the swap in the fail path depends on it.</a:t>
            </a:r>
          </a:p>
          <a:p>
            <a:pPr>
              <a:lnSpc>
                <a:spcPct val="115000"/>
              </a:lnSpc>
              <a:spcAft>
                <a:spcPts val="1100"/>
              </a:spcAft>
            </a:pPr>
            <a:r>
              <a:rPr sz="1400" b="1">
                <a:solidFill>
                  <a:srgbClr val="0F172A"/>
                </a:solidFill>
                <a:latin typeface="Segoe UI"/>
              </a:rPr>
              <a:t>The seeds may not need working wrappers.</a:t>
            </a:r>
            <a:r>
              <a:rPr sz="1400">
                <a:solidFill>
                  <a:srgbClr val="475569"/>
                </a:solidFill>
                <a:latin typeface="Segoe UI"/>
              </a:rPr>
              <a:t>  Phase 0 never executes anything and search only reads descriptions. Registering realistic metadata could cut the largest item — but Phase 1 needs real endpoints, so make it a choice.</a:t>
            </a:r>
          </a:p>
          <a:p>
            <a:pPr>
              <a:lnSpc>
                <a:spcPct val="115000"/>
              </a:lnSpc>
              <a:spcAft>
                <a:spcPts val="1100"/>
              </a:spcAft>
            </a:pPr>
            <a:r>
              <a:rPr sz="1400" b="1">
                <a:solidFill>
                  <a:srgbClr val="0F172A"/>
                </a:solidFill>
                <a:latin typeface="Segoe UI"/>
              </a:rPr>
              <a:t>Close the open Function URL before Phase 1.</a:t>
            </a:r>
            <a:r>
              <a:rPr sz="1400">
                <a:solidFill>
                  <a:srgbClr val="475569"/>
                </a:solidFill>
                <a:latin typeface="Segoe UI"/>
              </a:rPr>
              <a:t>  An unauthenticated URL that calls Bedrock is an unbounded cost surface. The $5 alarm caps a dev phase; it is not a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