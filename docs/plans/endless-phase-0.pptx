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057400"/>
            <a:ext cx="10058400" cy="365760"/>
          </a:xfrm>
          <a:prstGeom prst="rect">
            <a:avLst/>
          </a:prstGeom>
          <a:noFill/>
        </p:spPr>
        <p:txBody>
          <a:bodyPr wrap="square" lIns="0" rIns="0" tIns="0" bIns="0">
            <a:spAutoFit/>
          </a:bodyPr>
          <a:lstStyle/>
          <a:p>
            <a:pPr algn="l">
              <a:lnSpc>
                <a:spcPct val="100000"/>
              </a:lnSpc>
            </a:pPr>
            <a:r>
              <a:rPr sz="1300" b="1">
                <a:solidFill>
                  <a:srgbClr val="ED7100"/>
                </a:solidFill>
                <a:latin typeface="Segoe UI"/>
              </a:rPr>
              <a:t>ENDLESS</a:t>
            </a:r>
          </a:p>
        </p:txBody>
      </p:sp>
      <p:sp>
        <p:nvSpPr>
          <p:cNvPr id="4" name="TextBox 3"/>
          <p:cNvSpPr txBox="1"/>
          <p:nvPr/>
        </p:nvSpPr>
        <p:spPr>
          <a:xfrm>
            <a:off x="1005840" y="2514600"/>
            <a:ext cx="10241280" cy="1097280"/>
          </a:xfrm>
          <a:prstGeom prst="rect">
            <a:avLst/>
          </a:prstGeom>
          <a:noFill/>
        </p:spPr>
        <p:txBody>
          <a:bodyPr wrap="square" lIns="0" rIns="0" tIns="0" bIns="0">
            <a:spAutoFit/>
          </a:bodyPr>
          <a:lstStyle/>
          <a:p>
            <a:pPr algn="l">
              <a:lnSpc>
                <a:spcPct val="100000"/>
              </a:lnSpc>
            </a:pPr>
            <a:r>
              <a:rPr sz="4800" b="1">
                <a:solidFill>
                  <a:srgbClr val="FFFFFF"/>
                </a:solidFill>
                <a:latin typeface="Segoe UI"/>
              </a:rPr>
              <a:t>Phase 0 — Validate the Loop</a:t>
            </a:r>
          </a:p>
        </p:txBody>
      </p:sp>
      <p:sp>
        <p:nvSpPr>
          <p:cNvPr id="5" name="TextBox 4"/>
          <p:cNvSpPr txBox="1"/>
          <p:nvPr/>
        </p:nvSpPr>
        <p:spPr>
          <a:xfrm>
            <a:off x="1005840" y="3703320"/>
            <a:ext cx="9326880" cy="822960"/>
          </a:xfrm>
          <a:prstGeom prst="rect">
            <a:avLst/>
          </a:prstGeom>
          <a:noFill/>
        </p:spPr>
        <p:txBody>
          <a:bodyPr wrap="square" lIns="0" rIns="0" tIns="0" bIns="0">
            <a:spAutoFit/>
          </a:bodyPr>
          <a:lstStyle/>
          <a:p>
            <a:pPr algn="l">
              <a:lnSpc>
                <a:spcPct val="120000"/>
              </a:lnSpc>
            </a:pPr>
            <a:r>
              <a:rPr sz="1700" b="0">
                <a:solidFill>
                  <a:srgbClr val="94A3B8"/>
                </a:solidFill>
                <a:latin typeface="Segoe UI"/>
              </a:rPr>
              <a:t>The smallest system that can tell a real unsolved need from a search failure. Built on AWS always-free services.</a:t>
            </a:r>
          </a:p>
        </p:txBody>
      </p:sp>
      <p:sp>
        <p:nvSpPr>
          <p:cNvPr id="6" name="TextBox 5"/>
          <p:cNvSpPr txBox="1"/>
          <p:nvPr/>
        </p:nvSpPr>
        <p:spPr>
          <a:xfrm>
            <a:off x="1005840" y="5806440"/>
            <a:ext cx="10058400" cy="274320"/>
          </a:xfrm>
          <a:prstGeom prst="rect">
            <a:avLst/>
          </a:prstGeom>
          <a:noFill/>
        </p:spPr>
        <p:txBody>
          <a:bodyPr wrap="square" lIns="0" rIns="0" tIns="0" bIns="0">
            <a:spAutoFit/>
          </a:bodyPr>
          <a:lstStyle/>
          <a:p>
            <a:pPr algn="l">
              <a:lnSpc>
                <a:spcPct val="100000"/>
              </a:lnSpc>
            </a:pPr>
            <a:r>
              <a:rPr sz="1150" b="0">
                <a:solidFill>
                  <a:srgbClr val="64748B"/>
                </a:solidFill>
                <a:latin typeface="Segoe UI"/>
              </a:rPr>
              <a:t>Endlessandothers/Endlessproject   ·   8 September 2026   ·   12 issues   ·   about 6 weeks   ·   under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CONTEXT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What Endless is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A shared universe of small tools that AI agents discover and call.</a:t>
            </a:r>
          </a:p>
        </p:txBody>
      </p:sp>
      <p:sp>
        <p:nvSpPr>
          <p:cNvPr id="6" name="TextBox 5"/>
          <p:cNvSpPr txBox="1"/>
          <p:nvPr/>
        </p:nvSpPr>
        <p:spPr>
          <a:xfrm>
            <a:off x="777240" y="2350008"/>
            <a:ext cx="10515600" cy="329184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The inversion.</a:t>
            </a:r>
            <a:r>
              <a:rPr sz="1500">
                <a:solidFill>
                  <a:srgbClr val="475569"/>
                </a:solidFill>
                <a:latin typeface="Segoe UI"/>
              </a:rPr>
              <a:t>  Most tool marketplaces are static directories: you publish and hope. Endless logs every agent search that finds nothing, so normal usage generates demand signal for free. Creators stop guessing what to build and read what agents repeatedly failed to find.</a:t>
            </a:r>
          </a:p>
          <a:p>
            <a:pPr>
              <a:lnSpc>
                <a:spcPct val="115000"/>
              </a:lnSpc>
              <a:spcAft>
                <a:spcPts val="1000"/>
              </a:spcAft>
            </a:pPr>
            <a:r>
              <a:rPr sz="1500" b="1">
                <a:solidFill>
                  <a:srgbClr val="0F172A"/>
                </a:solidFill>
                <a:latin typeface="Segoe UI"/>
              </a:rPr>
              <a:t>Phantom layer.</a:t>
            </a:r>
            <a:r>
              <a:rPr sz="1500">
                <a:solidFill>
                  <a:srgbClr val="475569"/>
                </a:solidFill>
                <a:latin typeface="Segoe UI"/>
              </a:rPr>
              <a:t>  The machine substrate — registry, semantic search, gap logging, gravity scoring, routing, sandboxed execution. Ranking here is earned through usage and cannot be purchased.</a:t>
            </a:r>
          </a:p>
          <a:p>
            <a:pPr>
              <a:lnSpc>
                <a:spcPct val="115000"/>
              </a:lnSpc>
              <a:spcAft>
                <a:spcPts val="1000"/>
              </a:spcAft>
            </a:pPr>
            <a:r>
              <a:rPr sz="1500" b="1">
                <a:solidFill>
                  <a:srgbClr val="0F172A"/>
                </a:solidFill>
                <a:latin typeface="Segoe UI"/>
              </a:rPr>
              <a:t>Visual layer.</a:t>
            </a:r>
            <a:r>
              <a:rPr sz="1500">
                <a:solidFill>
                  <a:srgbClr val="475569"/>
                </a:solidFill>
                <a:latin typeface="Segoe UI"/>
              </a:rPr>
              <a:t>  A navigable 3D world where tools render as celestial bodies sized by their real standing. Sponsorship and paid placement live here only, and it never writes ranking back.</a:t>
            </a:r>
          </a:p>
        </p:txBody>
      </p:sp>
      <p:sp>
        <p:nvSpPr>
          <p:cNvPr id="7" name="Rounded Rectangle 6"/>
          <p:cNvSpPr/>
          <p:nvPr/>
        </p:nvSpPr>
        <p:spPr>
          <a:xfrm>
            <a:off x="777240" y="5257800"/>
            <a:ext cx="10515600" cy="86868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468112"/>
            <a:ext cx="9966960" cy="548640"/>
          </a:xfrm>
          <a:prstGeom prst="rect">
            <a:avLst/>
          </a:prstGeom>
          <a:noFill/>
        </p:spPr>
        <p:txBody>
          <a:bodyPr wrap="square" lIns="0" rIns="0" tIns="0" bIns="0">
            <a:spAutoFit/>
          </a:bodyPr>
          <a:lstStyle/>
          <a:p>
            <a:pPr algn="l">
              <a:lnSpc>
                <a:spcPct val="115000"/>
              </a:lnSpc>
            </a:pPr>
            <a:r>
              <a:rPr sz="1400" b="1">
                <a:solidFill>
                  <a:srgbClr val="7C2D12"/>
                </a:solidFill>
                <a:latin typeface="Segoe UI"/>
              </a:rPr>
              <a:t>Money buys what humans see. Merit decides what agents use. Collapsing the two would destroy the reason an agent can be trusted to pick well.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PURPOSE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Phase 0 exists to answer one question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Everything in this phase is built to produce evidence for it.</a:t>
            </a:r>
          </a:p>
        </p:txBody>
      </p:sp>
      <p:sp>
        <p:nvSpPr>
          <p:cNvPr id="6" name="Rounded Rectangle 5"/>
          <p:cNvSpPr/>
          <p:nvPr/>
        </p:nvSpPr>
        <p:spPr>
          <a:xfrm>
            <a:off x="777240" y="2441448"/>
            <a:ext cx="10515600" cy="123444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43000" y="2734056"/>
            <a:ext cx="9875520" cy="731520"/>
          </a:xfrm>
          <a:prstGeom prst="rect">
            <a:avLst/>
          </a:prstGeom>
          <a:noFill/>
        </p:spPr>
        <p:txBody>
          <a:bodyPr wrap="square" lIns="0" rIns="0" tIns="0" bIns="0">
            <a:spAutoFit/>
          </a:bodyPr>
          <a:lstStyle/>
          <a:p>
            <a:pPr algn="l">
              <a:lnSpc>
                <a:spcPct val="110000"/>
              </a:lnSpc>
            </a:pPr>
            <a:r>
              <a:rPr sz="2400" b="1">
                <a:solidFill>
                  <a:srgbClr val="FFFFFF"/>
                </a:solidFill>
                <a:latin typeface="Segoe UI"/>
              </a:rPr>
              <a:t>Is a logged gap real evidence of an unsolved need, or just a search failure?</a:t>
            </a:r>
          </a:p>
        </p:txBody>
      </p:sp>
      <p:sp>
        <p:nvSpPr>
          <p:cNvPr id="8" name="TextBox 7"/>
          <p:cNvSpPr txBox="1"/>
          <p:nvPr/>
        </p:nvSpPr>
        <p:spPr>
          <a:xfrm>
            <a:off x="777240" y="3904487"/>
            <a:ext cx="10515600" cy="269748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Why it decides everything.</a:t>
            </a:r>
            <a:r>
              <a:rPr sz="1500">
                <a:solidFill>
                  <a:srgbClr val="475569"/>
                </a:solidFill>
                <a:latin typeface="Segoe UI"/>
              </a:rPr>
              <a:t>  The entire pitch of Endless is that gap logs are a usage-verified map of real unsolved problems. If the signal is noisy, creators are handed a roadmap of nothing, and the core value proposition collapses.</a:t>
            </a:r>
          </a:p>
          <a:p>
            <a:pPr>
              <a:lnSpc>
                <a:spcPct val="115000"/>
              </a:lnSpc>
              <a:spcAft>
                <a:spcPts val="1000"/>
              </a:spcAft>
            </a:pPr>
            <a:r>
              <a:rPr sz="1500" b="1">
                <a:solidFill>
                  <a:srgbClr val="0F172A"/>
                </a:solidFill>
                <a:latin typeface="Segoe UI"/>
              </a:rPr>
              <a:t>PROJECT.md already flags it.</a:t>
            </a:r>
            <a:r>
              <a:rPr sz="1500">
                <a:solidFill>
                  <a:srgbClr val="475569"/>
                </a:solidFill>
                <a:latin typeface="Segoe UI"/>
              </a:rPr>
              <a:t>  Distinguishing 'no tool exists' from 'the agent searched badly' is named as genuinely unsolved. Search quality has to be strong before gap logging means anything.</a:t>
            </a:r>
          </a:p>
          <a:p>
            <a:pPr>
              <a:lnSpc>
                <a:spcPct val="115000"/>
              </a:lnSpc>
              <a:spcAft>
                <a:spcPts val="1000"/>
              </a:spcAft>
            </a:pPr>
            <a:r>
              <a:rPr sz="1500" b="1">
                <a:solidFill>
                  <a:srgbClr val="0F172A"/>
                </a:solidFill>
                <a:latin typeface="Segoe UI"/>
              </a:rPr>
              <a:t>So the gate is measured, not asserted.</a:t>
            </a:r>
            <a:r>
              <a:rPr sz="1500">
                <a:solidFill>
                  <a:srgbClr val="475569"/>
                </a:solidFill>
                <a:latin typeface="Segoe UI"/>
              </a:rPr>
              <a:t>  Phase 0 refuses to treat any gap as evidence until a labelled eval set shows recall@3 of at least 0.9.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SCOPE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What is in Phase 0, and what is deliberately not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828800"/>
          <a:ext cx="10515600" cy="2066543"/>
        </p:xfrm>
        <a:graphic>
          <a:graphicData uri="http://schemas.openxmlformats.org/drawingml/2006/table">
            <a:tbl>
              <a:tblPr firstRow="1" bandRow="1">
                <a:tableStyleId>{5C22544A-7EE6-4342-B048-85BDC9FD1C3A}</a:tableStyleId>
              </a:tblPr>
              <a:tblGrid>
                <a:gridCol w="4937760"/>
                <a:gridCol w="5577840"/>
              </a:tblGrid>
              <a:tr h="295220">
                <a:tc>
                  <a:txBody>
                    <a:bodyPr/>
                    <a:lstStyle/>
                    <a:p>
                      <a:r>
                        <a:rPr sz="1200" b="1">
                          <a:solidFill>
                            <a:srgbClr val="FFFFFF"/>
                          </a:solidFill>
                          <a:latin typeface="Segoe UI"/>
                        </a:rPr>
                        <a:t>In scope</a:t>
                      </a:r>
                    </a:p>
                  </a:txBody>
                  <a:tcPr>
                    <a:solidFill>
                      <a:srgbClr val="0F172A"/>
                    </a:solidFill>
                  </a:tcPr>
                </a:tc>
                <a:tc>
                  <a:txBody>
                    <a:bodyPr/>
                    <a:lstStyle/>
                    <a:p>
                      <a:r>
                        <a:rPr sz="1200" b="1">
                          <a:solidFill>
                            <a:srgbClr val="FFFFFF"/>
                          </a:solidFill>
                          <a:latin typeface="Segoe UI"/>
                        </a:rPr>
                        <a:t>Out of scope — and why</a:t>
                      </a:r>
                    </a:p>
                  </a:txBody>
                  <a:tcPr>
                    <a:solidFill>
                      <a:srgbClr val="0F172A"/>
                    </a:solidFill>
                  </a:tcPr>
                </a:tc>
              </a:tr>
              <a:tr h="295220">
                <a:tc>
                  <a:txBody>
                    <a:bodyPr/>
                    <a:lstStyle/>
                    <a:p>
                      <a:r>
                        <a:rPr sz="1200">
                          <a:solidFill>
                            <a:srgbClr val="475569"/>
                          </a:solidFill>
                          <a:latin typeface="Segoe UI"/>
                        </a:rPr>
                        <a:t>Tool registry with immutable versions</a:t>
                      </a:r>
                    </a:p>
                  </a:txBody>
                  <a:tcPr>
                    <a:solidFill>
                      <a:srgbClr val="FFFFFF"/>
                    </a:solidFill>
                  </a:tcPr>
                </a:tc>
                <a:tc>
                  <a:txBody>
                    <a:bodyPr/>
                    <a:lstStyle/>
                    <a:p>
                      <a:r>
                        <a:rPr sz="1200">
                          <a:solidFill>
                            <a:srgbClr val="475569"/>
                          </a:solidFill>
                          <a:latin typeface="Segoe UI"/>
                        </a:rPr>
                        <a:t>Sandboxed execution — Phase 0 never runs a tool</a:t>
                      </a:r>
                    </a:p>
                  </a:txBody>
                  <a:tcPr>
                    <a:solidFill>
                      <a:srgbClr val="FFFFFF"/>
                    </a:solidFill>
                  </a:tcPr>
                </a:tc>
              </a:tr>
              <a:tr h="295220">
                <a:tc>
                  <a:txBody>
                    <a:bodyPr/>
                    <a:lstStyle/>
                    <a:p>
                      <a:r>
                        <a:rPr sz="1200">
                          <a:solidFill>
                            <a:srgbClr val="475569"/>
                          </a:solidFill>
                          <a:latin typeface="Segoe UI"/>
                        </a:rPr>
                        <a:t>Semantic search over registered tools</a:t>
                      </a:r>
                    </a:p>
                  </a:txBody>
                  <a:tcPr>
                    <a:solidFill>
                      <a:srgbClr val="F8FAFC"/>
                    </a:solidFill>
                  </a:tcPr>
                </a:tc>
                <a:tc>
                  <a:txBody>
                    <a:bodyPr/>
                    <a:lstStyle/>
                    <a:p>
                      <a:r>
                        <a:rPr sz="1200">
                          <a:solidFill>
                            <a:srgbClr val="475569"/>
                          </a:solidFill>
                          <a:latin typeface="Segoe UI"/>
                        </a:rPr>
                        <a:t>Gravity scoring, mass and brightness — Phase 2</a:t>
                      </a:r>
                    </a:p>
                  </a:txBody>
                  <a:tcPr>
                    <a:solidFill>
                      <a:srgbClr val="F8FAFC"/>
                    </a:solidFill>
                  </a:tcPr>
                </a:tc>
              </a:tr>
              <a:tr h="295220">
                <a:tc>
                  <a:txBody>
                    <a:bodyPr/>
                    <a:lstStyle/>
                    <a:p>
                      <a:r>
                        <a:rPr sz="1200">
                          <a:solidFill>
                            <a:srgbClr val="475569"/>
                          </a:solidFill>
                          <a:latin typeface="Segoe UI"/>
                        </a:rPr>
                        <a:t>Append-only, provenance-tagged event log</a:t>
                      </a:r>
                    </a:p>
                  </a:txBody>
                  <a:tcPr>
                    <a:solidFill>
                      <a:srgbClr val="FFFFFF"/>
                    </a:solidFill>
                  </a:tcPr>
                </a:tc>
                <a:tc>
                  <a:txBody>
                    <a:bodyPr/>
                    <a:lstStyle/>
                    <a:p>
                      <a:r>
                        <a:rPr sz="1200">
                          <a:solidFill>
                            <a:srgbClr val="475569"/>
                          </a:solidFill>
                          <a:latin typeface="Segoe UI"/>
                        </a:rPr>
                        <a:t>Mini LLMs, heartbeats, routing — Phase 3</a:t>
                      </a:r>
                    </a:p>
                  </a:txBody>
                  <a:tcPr>
                    <a:solidFill>
                      <a:srgbClr val="FFFFFF"/>
                    </a:solidFill>
                  </a:tcPr>
                </a:tc>
              </a:tr>
              <a:tr h="295220">
                <a:tc>
                  <a:txBody>
                    <a:bodyPr/>
                    <a:lstStyle/>
                    <a:p>
                      <a:r>
                        <a:rPr sz="1200">
                          <a:solidFill>
                            <a:srgbClr val="475569"/>
                          </a:solidFill>
                          <a:latin typeface="Segoe UI"/>
                        </a:rPr>
                        <a:t>Gap detection and gap log</a:t>
                      </a:r>
                    </a:p>
                  </a:txBody>
                  <a:tcPr>
                    <a:solidFill>
                      <a:srgbClr val="F8FAFC"/>
                    </a:solidFill>
                  </a:tcPr>
                </a:tc>
                <a:tc>
                  <a:txBody>
                    <a:bodyPr/>
                    <a:lstStyle/>
                    <a:p>
                      <a:r>
                        <a:rPr sz="1200">
                          <a:solidFill>
                            <a:srgbClr val="475569"/>
                          </a:solidFill>
                          <a:latin typeface="Segoe UI"/>
                        </a:rPr>
                        <a:t>The 3D visual layer — Phase 4</a:t>
                      </a:r>
                    </a:p>
                  </a:txBody>
                  <a:tcPr>
                    <a:solidFill>
                      <a:srgbClr val="F8FAFC"/>
                    </a:solidFill>
                  </a:tcPr>
                </a:tc>
              </a:tr>
              <a:tr h="295220">
                <a:tc>
                  <a:txBody>
                    <a:bodyPr/>
                    <a:lstStyle/>
                    <a:p>
                      <a:r>
                        <a:rPr sz="1200">
                          <a:solidFill>
                            <a:srgbClr val="475569"/>
                          </a:solidFill>
                          <a:latin typeface="Segoe UI"/>
                        </a:rPr>
                        <a:t>15-20 seeded tools wrapping public APIs</a:t>
                      </a:r>
                    </a:p>
                  </a:txBody>
                  <a:tcPr>
                    <a:solidFill>
                      <a:srgbClr val="FFFFFF"/>
                    </a:solidFill>
                  </a:tcPr>
                </a:tc>
                <a:tc>
                  <a:txBody>
                    <a:bodyPr/>
                    <a:lstStyle/>
                    <a:p>
                      <a:r>
                        <a:rPr sz="1200">
                          <a:solidFill>
                            <a:srgbClr val="475569"/>
                          </a:solidFill>
                          <a:latin typeface="Segoe UI"/>
                        </a:rPr>
                        <a:t>Billing, payouts, sponsorship — Phase 6</a:t>
                      </a:r>
                    </a:p>
                  </a:txBody>
                  <a:tcPr>
                    <a:solidFill>
                      <a:srgbClr val="FFFFFF"/>
                    </a:solidFill>
                  </a:tcPr>
                </a:tc>
              </a:tr>
              <a:tr h="295223">
                <a:tc>
                  <a:txBody>
                    <a:bodyPr/>
                    <a:lstStyle/>
                    <a:p>
                      <a:r>
                        <a:rPr sz="1200">
                          <a:solidFill>
                            <a:srgbClr val="475569"/>
                          </a:solidFill>
                          <a:latin typeface="Segoe UI"/>
                        </a:rPr>
                        <a:t>Labelled eval set and recall@k harness</a:t>
                      </a:r>
                    </a:p>
                  </a:txBody>
                  <a:tcPr>
                    <a:solidFill>
                      <a:srgbClr val="F8FAFC"/>
                    </a:solidFill>
                  </a:tcPr>
                </a:tc>
                <a:tc>
                  <a:txBody>
                    <a:bodyPr/>
                    <a:lstStyle/>
                    <a:p>
                      <a:r>
                        <a:rPr sz="1200">
                          <a:solidFill>
                            <a:srgbClr val="475569"/>
                          </a:solidFill>
                          <a:latin typeface="Segoe UI"/>
                        </a:rPr>
                        <a:t>Any user interface — CLI only for now</a:t>
                      </a:r>
                    </a:p>
                  </a:txBody>
                  <a:tcPr>
                    <a:solidFill>
                      <a:srgbClr val="F8FAFC"/>
                    </a:solidFill>
                  </a:tcPr>
                </a:tc>
              </a:tr>
            </a:tbl>
          </a:graphicData>
        </a:graphic>
      </p:graphicFrame>
      <p:sp>
        <p:nvSpPr>
          <p:cNvPr id="6" name="TextBox 5"/>
          <p:cNvSpPr txBox="1"/>
          <p:nvPr/>
        </p:nvSpPr>
        <p:spPr>
          <a:xfrm>
            <a:off x="777240" y="4389120"/>
            <a:ext cx="10515600" cy="1371600"/>
          </a:xfrm>
          <a:prstGeom prst="rect">
            <a:avLst/>
          </a:prstGeom>
          <a:noFill/>
        </p:spPr>
        <p:txBody>
          <a:bodyPr wrap="square" lIns="0" rIns="0" tIns="0" bIns="0">
            <a:spAutoFit/>
          </a:bodyPr>
          <a:lstStyle/>
          <a:p>
            <a:pPr algn="l">
              <a:lnSpc>
                <a:spcPct val="125000"/>
              </a:lnSpc>
            </a:pPr>
            <a:r>
              <a:rPr sz="1400" b="0">
                <a:solidFill>
                  <a:srgbClr val="475569"/>
                </a:solidFill>
                <a:latin typeface="Segoe UI"/>
              </a:rPr>
              <a:t>The scope risk is real. PROJECT.md names it: the full vision is five products at once — a registry, a routing system, a 3D world, a sandbox platform and a two-sided economy. Building all of it before anyone uses it is the most likely way this fails. Phases 0-2 need no 3D and no LLM routing, which is why this plan stops hard at the edge of Phase 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AWS free-tier architecture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Every box below sits inside an always-free monthly limit, except the teal one.</a:t>
            </a:r>
          </a:p>
        </p:txBody>
      </p:sp>
      <p:sp>
        <p:nvSpPr>
          <p:cNvPr id="6" name="Rounded Rectangle 5"/>
          <p:cNvSpPr/>
          <p:nvPr/>
        </p:nvSpPr>
        <p:spPr>
          <a:xfrm>
            <a:off x="777240" y="3355848"/>
            <a:ext cx="1783080" cy="86868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96112" y="3474720"/>
            <a:ext cx="475488" cy="475488"/>
          </a:xfrm>
          <a:prstGeom prst="round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IN</a:t>
            </a:r>
          </a:p>
        </p:txBody>
      </p:sp>
      <p:sp>
        <p:nvSpPr>
          <p:cNvPr id="8" name="TextBox 7"/>
          <p:cNvSpPr txBox="1"/>
          <p:nvPr/>
        </p:nvSpPr>
        <p:spPr>
          <a:xfrm>
            <a:off x="1490472" y="3502152"/>
            <a:ext cx="960119"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Agent / CLI</a:t>
            </a:r>
          </a:p>
        </p:txBody>
      </p:sp>
      <p:sp>
        <p:nvSpPr>
          <p:cNvPr id="9" name="TextBox 8"/>
          <p:cNvSpPr txBox="1"/>
          <p:nvPr/>
        </p:nvSpPr>
        <p:spPr>
          <a:xfrm>
            <a:off x="1490472" y="3776472"/>
            <a:ext cx="960119"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the caller</a:t>
            </a:r>
          </a:p>
        </p:txBody>
      </p:sp>
      <p:sp>
        <p:nvSpPr>
          <p:cNvPr id="10" name="Right Arrow 9"/>
          <p:cNvSpPr/>
          <p:nvPr/>
        </p:nvSpPr>
        <p:spPr>
          <a:xfrm>
            <a:off x="2697480" y="3657600"/>
            <a:ext cx="384048"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2322575"/>
            <a:ext cx="3291840" cy="228600"/>
          </a:xfrm>
          <a:prstGeom prst="rect">
            <a:avLst/>
          </a:prstGeom>
          <a:noFill/>
        </p:spPr>
        <p:txBody>
          <a:bodyPr wrap="square" lIns="0" rIns="0" tIns="0" bIns="0">
            <a:spAutoFit/>
          </a:bodyPr>
          <a:lstStyle/>
          <a:p>
            <a:pPr algn="l">
              <a:lnSpc>
                <a:spcPct val="100000"/>
              </a:lnSpc>
            </a:pPr>
            <a:r>
              <a:rPr sz="950" b="1">
                <a:solidFill>
                  <a:srgbClr val="ED7100"/>
                </a:solidFill>
                <a:latin typeface="Segoe UI"/>
              </a:rPr>
              <a:t>COMPUTE — LAMBDA FUNCTION URLS</a:t>
            </a:r>
          </a:p>
        </p:txBody>
      </p:sp>
      <p:sp>
        <p:nvSpPr>
          <p:cNvPr id="12" name="Rounded Rectangle 11"/>
          <p:cNvSpPr/>
          <p:nvPr/>
        </p:nvSpPr>
        <p:spPr>
          <a:xfrm>
            <a:off x="3200400" y="2596896"/>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319272" y="2715768"/>
            <a:ext cx="475488" cy="475488"/>
          </a:xfrm>
          <a:prstGeom prst="round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Ln</a:t>
            </a:r>
          </a:p>
        </p:txBody>
      </p:sp>
      <p:sp>
        <p:nvSpPr>
          <p:cNvPr id="14" name="TextBox 13"/>
          <p:cNvSpPr txBox="1"/>
          <p:nvPr/>
        </p:nvSpPr>
        <p:spPr>
          <a:xfrm>
            <a:off x="3913632" y="2743200"/>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registry-fn</a:t>
            </a:r>
          </a:p>
        </p:txBody>
      </p:sp>
      <p:sp>
        <p:nvSpPr>
          <p:cNvPr id="15" name="TextBox 14"/>
          <p:cNvSpPr txBox="1"/>
          <p:nvPr/>
        </p:nvSpPr>
        <p:spPr>
          <a:xfrm>
            <a:off x="3913632" y="3017520"/>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tool CRUD, immutable versions</a:t>
            </a:r>
          </a:p>
        </p:txBody>
      </p:sp>
      <p:sp>
        <p:nvSpPr>
          <p:cNvPr id="16" name="Rounded Rectangle 15"/>
          <p:cNvSpPr/>
          <p:nvPr/>
        </p:nvSpPr>
        <p:spPr>
          <a:xfrm>
            <a:off x="3200400" y="3456432"/>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319272" y="3575303"/>
            <a:ext cx="475488" cy="475488"/>
          </a:xfrm>
          <a:prstGeom prst="round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Ln</a:t>
            </a:r>
          </a:p>
        </p:txBody>
      </p:sp>
      <p:sp>
        <p:nvSpPr>
          <p:cNvPr id="18" name="TextBox 17"/>
          <p:cNvSpPr txBox="1"/>
          <p:nvPr/>
        </p:nvSpPr>
        <p:spPr>
          <a:xfrm>
            <a:off x="3913632" y="3602736"/>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search-fn</a:t>
            </a:r>
          </a:p>
        </p:txBody>
      </p:sp>
      <p:sp>
        <p:nvSpPr>
          <p:cNvPr id="19" name="TextBox 18"/>
          <p:cNvSpPr txBox="1"/>
          <p:nvPr/>
        </p:nvSpPr>
        <p:spPr>
          <a:xfrm>
            <a:off x="3913632" y="3877056"/>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embed, cosine rank, gap check</a:t>
            </a:r>
          </a:p>
        </p:txBody>
      </p:sp>
      <p:sp>
        <p:nvSpPr>
          <p:cNvPr id="20" name="Rounded Rectangle 19"/>
          <p:cNvSpPr/>
          <p:nvPr/>
        </p:nvSpPr>
        <p:spPr>
          <a:xfrm>
            <a:off x="3200400" y="4315968"/>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3319272" y="4434840"/>
            <a:ext cx="475488" cy="475488"/>
          </a:xfrm>
          <a:prstGeom prst="round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Ln</a:t>
            </a:r>
          </a:p>
        </p:txBody>
      </p:sp>
      <p:sp>
        <p:nvSpPr>
          <p:cNvPr id="22" name="TextBox 21"/>
          <p:cNvSpPr txBox="1"/>
          <p:nvPr/>
        </p:nvSpPr>
        <p:spPr>
          <a:xfrm>
            <a:off x="3913632" y="4462272"/>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events-fn</a:t>
            </a:r>
          </a:p>
        </p:txBody>
      </p:sp>
      <p:sp>
        <p:nvSpPr>
          <p:cNvPr id="23" name="TextBox 22"/>
          <p:cNvSpPr txBox="1"/>
          <p:nvPr/>
        </p:nvSpPr>
        <p:spPr>
          <a:xfrm>
            <a:off x="3913632" y="4736592"/>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append-only writer</a:t>
            </a:r>
          </a:p>
        </p:txBody>
      </p:sp>
      <p:sp>
        <p:nvSpPr>
          <p:cNvPr id="24" name="Right Arrow 23"/>
          <p:cNvSpPr/>
          <p:nvPr/>
        </p:nvSpPr>
        <p:spPr>
          <a:xfrm>
            <a:off x="6355080" y="3657600"/>
            <a:ext cx="384048" cy="274320"/>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49440" y="2322575"/>
            <a:ext cx="3291840" cy="228600"/>
          </a:xfrm>
          <a:prstGeom prst="rect">
            <a:avLst/>
          </a:prstGeom>
          <a:noFill/>
        </p:spPr>
        <p:txBody>
          <a:bodyPr wrap="square" lIns="0" rIns="0" tIns="0" bIns="0">
            <a:spAutoFit/>
          </a:bodyPr>
          <a:lstStyle/>
          <a:p>
            <a:pPr algn="l">
              <a:lnSpc>
                <a:spcPct val="100000"/>
              </a:lnSpc>
            </a:pPr>
            <a:r>
              <a:rPr sz="950" b="1">
                <a:solidFill>
                  <a:srgbClr val="C925D1"/>
                </a:solidFill>
                <a:latin typeface="Segoe UI"/>
              </a:rPr>
              <a:t>STORAGE — DYNAMODB (25 GB FREE)</a:t>
            </a:r>
          </a:p>
        </p:txBody>
      </p:sp>
      <p:sp>
        <p:nvSpPr>
          <p:cNvPr id="26" name="Rounded Rectangle 25"/>
          <p:cNvSpPr/>
          <p:nvPr/>
        </p:nvSpPr>
        <p:spPr>
          <a:xfrm>
            <a:off x="6903720" y="2596896"/>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022592" y="2715768"/>
            <a:ext cx="475488" cy="475488"/>
          </a:xfrm>
          <a:prstGeom prst="roundRect">
            <a:avLst/>
          </a:prstGeom>
          <a:solidFill>
            <a:srgbClr val="C925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DB</a:t>
            </a:r>
          </a:p>
        </p:txBody>
      </p:sp>
      <p:sp>
        <p:nvSpPr>
          <p:cNvPr id="28" name="TextBox 27"/>
          <p:cNvSpPr txBox="1"/>
          <p:nvPr/>
        </p:nvSpPr>
        <p:spPr>
          <a:xfrm>
            <a:off x="7616952" y="2743200"/>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tools</a:t>
            </a:r>
          </a:p>
        </p:txBody>
      </p:sp>
      <p:sp>
        <p:nvSpPr>
          <p:cNvPr id="29" name="TextBox 28"/>
          <p:cNvSpPr txBox="1"/>
          <p:nvPr/>
        </p:nvSpPr>
        <p:spPr>
          <a:xfrm>
            <a:off x="7616952" y="3017520"/>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PK tool_id / SK version</a:t>
            </a:r>
          </a:p>
        </p:txBody>
      </p:sp>
      <p:sp>
        <p:nvSpPr>
          <p:cNvPr id="30" name="Rounded Rectangle 29"/>
          <p:cNvSpPr/>
          <p:nvPr/>
        </p:nvSpPr>
        <p:spPr>
          <a:xfrm>
            <a:off x="6903720" y="3456432"/>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7022592" y="3575303"/>
            <a:ext cx="475488" cy="475488"/>
          </a:xfrm>
          <a:prstGeom prst="roundRect">
            <a:avLst/>
          </a:prstGeom>
          <a:solidFill>
            <a:srgbClr val="C925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DB</a:t>
            </a:r>
          </a:p>
        </p:txBody>
      </p:sp>
      <p:sp>
        <p:nvSpPr>
          <p:cNvPr id="32" name="TextBox 31"/>
          <p:cNvSpPr txBox="1"/>
          <p:nvPr/>
        </p:nvSpPr>
        <p:spPr>
          <a:xfrm>
            <a:off x="7616952" y="3602736"/>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events</a:t>
            </a:r>
          </a:p>
        </p:txBody>
      </p:sp>
      <p:sp>
        <p:nvSpPr>
          <p:cNvPr id="33" name="TextBox 32"/>
          <p:cNvSpPr txBox="1"/>
          <p:nvPr/>
        </p:nvSpPr>
        <p:spPr>
          <a:xfrm>
            <a:off x="7616952" y="3877056"/>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append-only, provenance</a:t>
            </a:r>
          </a:p>
        </p:txBody>
      </p:sp>
      <p:sp>
        <p:nvSpPr>
          <p:cNvPr id="34" name="Rounded Rectangle 33"/>
          <p:cNvSpPr/>
          <p:nvPr/>
        </p:nvSpPr>
        <p:spPr>
          <a:xfrm>
            <a:off x="6903720" y="4315968"/>
            <a:ext cx="301752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7022592" y="4434840"/>
            <a:ext cx="475488" cy="475488"/>
          </a:xfrm>
          <a:prstGeom prst="roundRect">
            <a:avLst/>
          </a:prstGeom>
          <a:solidFill>
            <a:srgbClr val="C925D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DB</a:t>
            </a:r>
          </a:p>
        </p:txBody>
      </p:sp>
      <p:sp>
        <p:nvSpPr>
          <p:cNvPr id="36" name="TextBox 35"/>
          <p:cNvSpPr txBox="1"/>
          <p:nvPr/>
        </p:nvSpPr>
        <p:spPr>
          <a:xfrm>
            <a:off x="7616952" y="4462272"/>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gaps</a:t>
            </a:r>
          </a:p>
        </p:txBody>
      </p:sp>
      <p:sp>
        <p:nvSpPr>
          <p:cNvPr id="37" name="TextBox 36"/>
          <p:cNvSpPr txBox="1"/>
          <p:nvPr/>
        </p:nvSpPr>
        <p:spPr>
          <a:xfrm>
            <a:off x="7616952" y="4736592"/>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append-only, provenance</a:t>
            </a:r>
          </a:p>
        </p:txBody>
      </p:sp>
      <p:sp>
        <p:nvSpPr>
          <p:cNvPr id="38" name="Rounded Rectangle 37"/>
          <p:cNvSpPr/>
          <p:nvPr/>
        </p:nvSpPr>
        <p:spPr>
          <a:xfrm>
            <a:off x="10058400" y="3456432"/>
            <a:ext cx="1737360" cy="77724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10177272" y="3575303"/>
            <a:ext cx="475488" cy="475488"/>
          </a:xfrm>
          <a:prstGeom prst="roundRect">
            <a:avLst/>
          </a:prstGeom>
          <a:solidFill>
            <a:srgbClr val="01A8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ML</a:t>
            </a:r>
          </a:p>
        </p:txBody>
      </p:sp>
      <p:sp>
        <p:nvSpPr>
          <p:cNvPr id="40" name="TextBox 39"/>
          <p:cNvSpPr txBox="1"/>
          <p:nvPr/>
        </p:nvSpPr>
        <p:spPr>
          <a:xfrm>
            <a:off x="10771632" y="3602736"/>
            <a:ext cx="914399"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Bedrock</a:t>
            </a:r>
          </a:p>
        </p:txBody>
      </p:sp>
      <p:sp>
        <p:nvSpPr>
          <p:cNvPr id="41" name="TextBox 40"/>
          <p:cNvSpPr txBox="1"/>
          <p:nvPr/>
        </p:nvSpPr>
        <p:spPr>
          <a:xfrm>
            <a:off x="10771632" y="3877056"/>
            <a:ext cx="914399"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Titan Embeddings V2</a:t>
            </a:r>
          </a:p>
        </p:txBody>
      </p:sp>
      <p:sp>
        <p:nvSpPr>
          <p:cNvPr id="42" name="TextBox 41"/>
          <p:cNvSpPr txBox="1"/>
          <p:nvPr/>
        </p:nvSpPr>
        <p:spPr>
          <a:xfrm>
            <a:off x="10058400" y="4297679"/>
            <a:ext cx="1828800" cy="274320"/>
          </a:xfrm>
          <a:prstGeom prst="rect">
            <a:avLst/>
          </a:prstGeom>
          <a:noFill/>
        </p:spPr>
        <p:txBody>
          <a:bodyPr wrap="square" lIns="0" rIns="0" tIns="0" bIns="0">
            <a:spAutoFit/>
          </a:bodyPr>
          <a:lstStyle/>
          <a:p>
            <a:pPr algn="l">
              <a:lnSpc>
                <a:spcPct val="100000"/>
              </a:lnSpc>
            </a:pPr>
            <a:r>
              <a:rPr sz="900" b="1">
                <a:solidFill>
                  <a:srgbClr val="01A88D"/>
                </a:solidFill>
                <a:latin typeface="Segoe UI"/>
              </a:rPr>
              <a:t>ONLY PAID COMPONENT</a:t>
            </a:r>
          </a:p>
        </p:txBody>
      </p:sp>
      <p:sp>
        <p:nvSpPr>
          <p:cNvPr id="43" name="Rounded Rectangle 42"/>
          <p:cNvSpPr/>
          <p:nvPr/>
        </p:nvSpPr>
        <p:spPr>
          <a:xfrm>
            <a:off x="3200400" y="5276088"/>
            <a:ext cx="3017520" cy="73152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3319272" y="5394959"/>
            <a:ext cx="475488" cy="475488"/>
          </a:xfrm>
          <a:prstGeom prst="roundRect">
            <a:avLst/>
          </a:prstGeom>
          <a:solidFill>
            <a:srgbClr val="7AA11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S3</a:t>
            </a:r>
          </a:p>
        </p:txBody>
      </p:sp>
      <p:sp>
        <p:nvSpPr>
          <p:cNvPr id="45" name="TextBox 44"/>
          <p:cNvSpPr txBox="1"/>
          <p:nvPr/>
        </p:nvSpPr>
        <p:spPr>
          <a:xfrm>
            <a:off x="3913632" y="5422392"/>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S3</a:t>
            </a:r>
          </a:p>
        </p:txBody>
      </p:sp>
      <p:sp>
        <p:nvSpPr>
          <p:cNvPr id="46" name="TextBox 45"/>
          <p:cNvSpPr txBox="1"/>
          <p:nvPr/>
        </p:nvSpPr>
        <p:spPr>
          <a:xfrm>
            <a:off x="3913632" y="5696712"/>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vector snapshots, warm start</a:t>
            </a:r>
          </a:p>
        </p:txBody>
      </p:sp>
      <p:sp>
        <p:nvSpPr>
          <p:cNvPr id="47" name="Rounded Rectangle 46"/>
          <p:cNvSpPr/>
          <p:nvPr/>
        </p:nvSpPr>
        <p:spPr>
          <a:xfrm>
            <a:off x="6903720" y="5276088"/>
            <a:ext cx="3017520" cy="731520"/>
          </a:xfrm>
          <a:prstGeom prst="roundRect">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7022592" y="5394959"/>
            <a:ext cx="475488" cy="475488"/>
          </a:xfrm>
          <a:prstGeom prst="roundRect">
            <a:avLst/>
          </a:prstGeom>
          <a:solidFill>
            <a:srgbClr val="E715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a:rPr>
              <a:t>CW</a:t>
            </a:r>
          </a:p>
        </p:txBody>
      </p:sp>
      <p:sp>
        <p:nvSpPr>
          <p:cNvPr id="49" name="TextBox 48"/>
          <p:cNvSpPr txBox="1"/>
          <p:nvPr/>
        </p:nvSpPr>
        <p:spPr>
          <a:xfrm>
            <a:off x="7616952" y="5422392"/>
            <a:ext cx="2194560" cy="274320"/>
          </a:xfrm>
          <a:prstGeom prst="rect">
            <a:avLst/>
          </a:prstGeom>
          <a:noFill/>
        </p:spPr>
        <p:txBody>
          <a:bodyPr wrap="square" lIns="0" rIns="0" tIns="0" bIns="0">
            <a:spAutoFit/>
          </a:bodyPr>
          <a:lstStyle/>
          <a:p>
            <a:pPr algn="l">
              <a:lnSpc>
                <a:spcPct val="100000"/>
              </a:lnSpc>
            </a:pPr>
            <a:r>
              <a:rPr sz="1300" b="1">
                <a:solidFill>
                  <a:srgbClr val="0F172A"/>
                </a:solidFill>
                <a:latin typeface="Segoe UI"/>
              </a:rPr>
              <a:t>CloudWatch</a:t>
            </a:r>
          </a:p>
        </p:txBody>
      </p:sp>
      <p:sp>
        <p:nvSpPr>
          <p:cNvPr id="50" name="TextBox 49"/>
          <p:cNvSpPr txBox="1"/>
          <p:nvPr/>
        </p:nvSpPr>
        <p:spPr>
          <a:xfrm>
            <a:off x="7616952" y="5696712"/>
            <a:ext cx="2194560" cy="457200"/>
          </a:xfrm>
          <a:prstGeom prst="rect">
            <a:avLst/>
          </a:prstGeom>
          <a:noFill/>
        </p:spPr>
        <p:txBody>
          <a:bodyPr wrap="square" lIns="0" rIns="0" tIns="0" bIns="0">
            <a:spAutoFit/>
          </a:bodyPr>
          <a:lstStyle/>
          <a:p>
            <a:pPr algn="l">
              <a:lnSpc>
                <a:spcPct val="105000"/>
              </a:lnSpc>
            </a:pPr>
            <a:r>
              <a:rPr sz="1050" b="0">
                <a:solidFill>
                  <a:srgbClr val="475569"/>
                </a:solidFill>
                <a:latin typeface="Segoe UI"/>
              </a:rPr>
              <a:t>logs and the $5 billing alarm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WALKTHROUGH</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The request path, step by step</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02336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1.  Caller asks.</a:t>
            </a:r>
            <a:r>
              <a:rPr sz="1400">
                <a:solidFill>
                  <a:srgbClr val="475569"/>
                </a:solidFill>
                <a:latin typeface="Segoe UI"/>
              </a:rPr>
              <a:t>  An agent or the CLI posts a natural-language query to the search-fn Lambda Function URL.</a:t>
            </a:r>
          </a:p>
          <a:p>
            <a:pPr>
              <a:lnSpc>
                <a:spcPct val="115000"/>
              </a:lnSpc>
              <a:spcAft>
                <a:spcPts val="1100"/>
              </a:spcAft>
            </a:pPr>
            <a:r>
              <a:rPr sz="1400" b="1">
                <a:solidFill>
                  <a:srgbClr val="0F172A"/>
                </a:solidFill>
                <a:latin typeface="Segoe UI"/>
              </a:rPr>
              <a:t>2.  Query is embedded.</a:t>
            </a:r>
            <a:r>
              <a:rPr sz="1400">
                <a:solidFill>
                  <a:srgbClr val="475569"/>
                </a:solidFill>
                <a:latin typeface="Segoe UI"/>
              </a:rPr>
              <a:t>  search-fn calls Bedrock Titan Embeddings V2 and gets back a vector. This is the only network call that costs money.</a:t>
            </a:r>
          </a:p>
          <a:p>
            <a:pPr>
              <a:lnSpc>
                <a:spcPct val="115000"/>
              </a:lnSpc>
              <a:spcAft>
                <a:spcPts val="1100"/>
              </a:spcAft>
            </a:pPr>
            <a:r>
              <a:rPr sz="1400" b="1">
                <a:solidFill>
                  <a:srgbClr val="0F172A"/>
                </a:solidFill>
                <a:latin typeface="Segoe UI"/>
              </a:rPr>
              <a:t>3.  Ranking happens in memory.</a:t>
            </a:r>
            <a:r>
              <a:rPr sz="1400">
                <a:solidFill>
                  <a:srgbClr val="475569"/>
                </a:solidFill>
                <a:latin typeface="Segoe UI"/>
              </a:rPr>
              <a:t>  Tool vectors were loaded once at cold start and cached in module scope. Cosine similarity over ~20 vectors is sub-millisecond.</a:t>
            </a:r>
          </a:p>
          <a:p>
            <a:pPr>
              <a:lnSpc>
                <a:spcPct val="115000"/>
              </a:lnSpc>
              <a:spcAft>
                <a:spcPts val="1100"/>
              </a:spcAft>
            </a:pPr>
            <a:r>
              <a:rPr sz="1400" b="1">
                <a:solidFill>
                  <a:srgbClr val="0F172A"/>
                </a:solidFill>
                <a:latin typeface="Segoe UI"/>
              </a:rPr>
              <a:t>4.  An event is written, always.</a:t>
            </a:r>
            <a:r>
              <a:rPr sz="1400">
                <a:solidFill>
                  <a:srgbClr val="475569"/>
                </a:solidFill>
                <a:latin typeface="Segoe UI"/>
              </a:rPr>
              <a:t>  Success or failure, search-fn emits an event carrying the agent id and session id before it returns. Scoring in later phases is recomputed from this log, so it must be complete now.</a:t>
            </a:r>
          </a:p>
          <a:p>
            <a:pPr>
              <a:lnSpc>
                <a:spcPct val="115000"/>
              </a:lnSpc>
              <a:spcAft>
                <a:spcPts val="1100"/>
              </a:spcAft>
            </a:pPr>
            <a:r>
              <a:rPr sz="1400" b="1">
                <a:solidFill>
                  <a:srgbClr val="0F172A"/>
                </a:solidFill>
                <a:latin typeface="Segoe UI"/>
              </a:rPr>
              <a:t>5.  A gap is logged, conditionally.</a:t>
            </a:r>
            <a:r>
              <a:rPr sz="1400">
                <a:solidFill>
                  <a:srgbClr val="475569"/>
                </a:solidFill>
                <a:latin typeface="Segoe UI"/>
              </a:rPr>
              <a:t>  If the top score falls below threshold T, or the caller explicitly rejects every result, a gap record is appended — storing the full top-k with scores and the value of T that was in force.</a:t>
            </a:r>
          </a:p>
          <a:p>
            <a:pPr>
              <a:lnSpc>
                <a:spcPct val="115000"/>
              </a:lnSpc>
              <a:spcAft>
                <a:spcPts val="1100"/>
              </a:spcAft>
            </a:pPr>
            <a:r>
              <a:rPr sz="1400" b="1">
                <a:solidFill>
                  <a:srgbClr val="0F172A"/>
                </a:solidFill>
                <a:latin typeface="Segoe UI"/>
              </a:rPr>
              <a:t>6.  A human reads the log.</a:t>
            </a:r>
            <a:r>
              <a:rPr sz="1400">
                <a:solidFill>
                  <a:srgbClr val="475569"/>
                </a:solidFill>
                <a:latin typeface="Segoe UI"/>
              </a:rPr>
              <a:t>  The phase ends with you reading gaps by hand and judging each one. That is the deliverable: evidence, not infrastructure.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DESIGN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How the architecture enforces the invariants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CLAUDE.md lists five non-negotiables. Three are live in Phase 0.</a:t>
            </a:r>
          </a:p>
        </p:txBody>
      </p:sp>
      <p:graphicFrame>
        <p:nvGraphicFramePr>
          <p:cNvPr id="6" name="Table 5"/>
          <p:cNvGraphicFramePr>
            <a:graphicFrameLocks noGrp="1"/>
          </p:cNvGraphicFramePr>
          <p:nvPr/>
        </p:nvGraphicFramePr>
        <p:xfrm>
          <a:off x="777240" y="2395727"/>
          <a:ext cx="10515600" cy="1773936"/>
        </p:xfrm>
        <a:graphic>
          <a:graphicData uri="http://schemas.openxmlformats.org/drawingml/2006/table">
            <a:tbl>
              <a:tblPr firstRow="1" bandRow="1">
                <a:tableStyleId>{5C22544A-7EE6-4342-B048-85BDC9FD1C3A}</a:tableStyleId>
              </a:tblPr>
              <a:tblGrid>
                <a:gridCol w="4754880"/>
                <a:gridCol w="5760720"/>
              </a:tblGrid>
              <a:tr h="295656">
                <a:tc>
                  <a:txBody>
                    <a:bodyPr/>
                    <a:lstStyle/>
                    <a:p>
                      <a:r>
                        <a:rPr sz="1200" b="1">
                          <a:solidFill>
                            <a:srgbClr val="FFFFFF"/>
                          </a:solidFill>
                          <a:latin typeface="Segoe UI"/>
                        </a:rPr>
                        <a:t>Invariant</a:t>
                      </a:r>
                    </a:p>
                  </a:txBody>
                  <a:tcPr>
                    <a:solidFill>
                      <a:srgbClr val="0F172A"/>
                    </a:solidFill>
                  </a:tcPr>
                </a:tc>
                <a:tc>
                  <a:txBody>
                    <a:bodyPr/>
                    <a:lstStyle/>
                    <a:p>
                      <a:r>
                        <a:rPr sz="1200" b="1">
                          <a:solidFill>
                            <a:srgbClr val="FFFFFF"/>
                          </a:solidFill>
                          <a:latin typeface="Segoe UI"/>
                        </a:rPr>
                        <a:t>How Phase 0 enforces it</a:t>
                      </a:r>
                    </a:p>
                  </a:txBody>
                  <a:tcPr>
                    <a:solidFill>
                      <a:srgbClr val="0F172A"/>
                    </a:solidFill>
                  </a:tcPr>
                </a:tc>
              </a:tr>
              <a:tr h="295656">
                <a:tc>
                  <a:txBody>
                    <a:bodyPr/>
                    <a:lstStyle/>
                    <a:p>
                      <a:r>
                        <a:rPr sz="1200">
                          <a:solidFill>
                            <a:srgbClr val="475569"/>
                          </a:solidFill>
                          <a:latin typeface="Segoe UI"/>
                        </a:rPr>
                        <a:t>Gap logs are append-only and provenance-tagged</a:t>
                      </a:r>
                    </a:p>
                  </a:txBody>
                  <a:tcPr>
                    <a:solidFill>
                      <a:srgbClr val="FFFFFF"/>
                    </a:solidFill>
                  </a:tcPr>
                </a:tc>
                <a:tc>
                  <a:txBody>
                    <a:bodyPr/>
                    <a:lstStyle/>
                    <a:p>
                      <a:r>
                        <a:rPr sz="1200">
                          <a:solidFill>
                            <a:srgbClr val="475569"/>
                          </a:solidFill>
                          <a:latin typeface="Segoe UI"/>
                        </a:rPr>
                        <a:t>IAM grants PutItem and Query but not UpdateItem or DeleteItem</a:t>
                      </a:r>
                    </a:p>
                  </a:txBody>
                  <a:tcPr>
                    <a:solidFill>
                      <a:srgbClr val="FFFFFF"/>
                    </a:solidFill>
                  </a:tcPr>
                </a:tc>
              </a:tr>
              <a:tr h="295656">
                <a:tc>
                  <a:txBody>
                    <a:bodyPr/>
                    <a:lstStyle/>
                    <a:p>
                      <a:r>
                        <a:rPr sz="1200">
                          <a:solidFill>
                            <a:srgbClr val="475569"/>
                          </a:solidFill>
                          <a:latin typeface="Segoe UI"/>
                        </a:rPr>
                        <a:t>Tool versions are immutable once published</a:t>
                      </a:r>
                    </a:p>
                  </a:txBody>
                  <a:tcPr>
                    <a:solidFill>
                      <a:srgbClr val="F8FAFC"/>
                    </a:solidFill>
                  </a:tcPr>
                </a:tc>
                <a:tc>
                  <a:txBody>
                    <a:bodyPr/>
                    <a:lstStyle/>
                    <a:p>
                      <a:r>
                        <a:rPr sz="1200">
                          <a:solidFill>
                            <a:srgbClr val="475569"/>
                          </a:solidFill>
                          <a:latin typeface="Segoe UI"/>
                        </a:rPr>
                        <a:t>Re-registering writes a new SK version; a test proves no mutation</a:t>
                      </a:r>
                    </a:p>
                  </a:txBody>
                  <a:tcPr>
                    <a:solidFill>
                      <a:srgbClr val="F8FAFC"/>
                    </a:solidFill>
                  </a:tcPr>
                </a:tc>
              </a:tr>
              <a:tr h="295656">
                <a:tc>
                  <a:txBody>
                    <a:bodyPr/>
                    <a:lstStyle/>
                    <a:p>
                      <a:r>
                        <a:rPr sz="1200">
                          <a:solidFill>
                            <a:srgbClr val="475569"/>
                          </a:solidFill>
                          <a:latin typeface="Segoe UI"/>
                        </a:rPr>
                        <a:t>Scoring recomputable from the event log</a:t>
                      </a:r>
                    </a:p>
                  </a:txBody>
                  <a:tcPr>
                    <a:solidFill>
                      <a:srgbClr val="FFFFFF"/>
                    </a:solidFill>
                  </a:tcPr>
                </a:tc>
                <a:tc>
                  <a:txBody>
                    <a:bodyPr/>
                    <a:lstStyle/>
                    <a:p>
                      <a:r>
                        <a:rPr sz="1200">
                          <a:solidFill>
                            <a:srgbClr val="475569"/>
                          </a:solidFill>
                          <a:latin typeface="Segoe UI"/>
                        </a:rPr>
                        <a:t>Every search emits an event; a test replays the log to recompute</a:t>
                      </a:r>
                    </a:p>
                  </a:txBody>
                  <a:tcPr>
                    <a:solidFill>
                      <a:srgbClr val="FFFFFF"/>
                    </a:solidFill>
                  </a:tcPr>
                </a:tc>
              </a:tr>
              <a:tr h="295656">
                <a:tc>
                  <a:txBody>
                    <a:bodyPr/>
                    <a:lstStyle/>
                    <a:p>
                      <a:r>
                        <a:rPr sz="1200">
                          <a:solidFill>
                            <a:srgbClr val="475569"/>
                          </a:solidFill>
                          <a:latin typeface="Segoe UI"/>
                        </a:rPr>
                        <a:t>All third-party code runs sandboxed</a:t>
                      </a:r>
                    </a:p>
                  </a:txBody>
                  <a:tcPr>
                    <a:solidFill>
                      <a:srgbClr val="F8FAFC"/>
                    </a:solidFill>
                  </a:tcPr>
                </a:tc>
                <a:tc>
                  <a:txBody>
                    <a:bodyPr/>
                    <a:lstStyle/>
                    <a:p>
                      <a:r>
                        <a:rPr sz="1200">
                          <a:solidFill>
                            <a:srgbClr val="475569"/>
                          </a:solidFill>
                          <a:latin typeface="Segoe UI"/>
                        </a:rPr>
                        <a:t>Not yet triggered — Phase 0 never executes a registered tool</a:t>
                      </a:r>
                    </a:p>
                  </a:txBody>
                  <a:tcPr>
                    <a:solidFill>
                      <a:srgbClr val="F8FAFC"/>
                    </a:solidFill>
                  </a:tcPr>
                </a:tc>
              </a:tr>
              <a:tr h="295656">
                <a:tc>
                  <a:txBody>
                    <a:bodyPr/>
                    <a:lstStyle/>
                    <a:p>
                      <a:r>
                        <a:rPr sz="1200">
                          <a:solidFill>
                            <a:srgbClr val="475569"/>
                          </a:solidFill>
                          <a:latin typeface="Segoe UI"/>
                        </a:rPr>
                        <a:t>Money never affects agent-facing ranking</a:t>
                      </a:r>
                    </a:p>
                  </a:txBody>
                  <a:tcPr>
                    <a:solidFill>
                      <a:srgbClr val="FFFFFF"/>
                    </a:solidFill>
                  </a:tcPr>
                </a:tc>
                <a:tc>
                  <a:txBody>
                    <a:bodyPr/>
                    <a:lstStyle/>
                    <a:p>
                      <a:r>
                        <a:rPr sz="1200">
                          <a:solidFill>
                            <a:srgbClr val="475569"/>
                          </a:solidFill>
                          <a:latin typeface="Segoe UI"/>
                        </a:rPr>
                        <a:t>Not yet triggered — no money, no ranking, no visual layer</a:t>
                      </a:r>
                    </a:p>
                  </a:txBody>
                  <a:tcPr>
                    <a:solidFill>
                      <a:srgbClr val="FFFFFF"/>
                    </a:solidFill>
                  </a:tcPr>
                </a:tc>
              </a:tr>
            </a:tbl>
          </a:graphicData>
        </a:graphic>
      </p:graphicFrame>
      <p:sp>
        <p:nvSpPr>
          <p:cNvPr id="7" name="TextBox 6"/>
          <p:cNvSpPr txBox="1"/>
          <p:nvPr/>
        </p:nvSpPr>
        <p:spPr>
          <a:xfrm>
            <a:off x="777240" y="4727448"/>
            <a:ext cx="10515600" cy="914400"/>
          </a:xfrm>
          <a:prstGeom prst="rect">
            <a:avLst/>
          </a:prstGeom>
          <a:noFill/>
        </p:spPr>
        <p:txBody>
          <a:bodyPr wrap="square" lIns="0" rIns="0" tIns="0" bIns="0">
            <a:spAutoFit/>
          </a:bodyPr>
          <a:lstStyle/>
          <a:p>
            <a:pPr algn="l">
              <a:lnSpc>
                <a:spcPct val="125000"/>
              </a:lnSpc>
            </a:pPr>
            <a:r>
              <a:rPr sz="1400" b="0">
                <a:solidFill>
                  <a:srgbClr val="475569"/>
                </a:solidFill>
                <a:latin typeface="Segoe UI"/>
              </a:rPr>
              <a:t>The last two are scope decisions, not oversights. The moment execution arrives in Phase 1, mandatory sandboxing gates everything — it is the invariant that must be built before the first untrusted tool runs.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KEY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The deliberate non-decision: no vector database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310896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Phase 0 has 15-20 tools.</a:t>
            </a:r>
            <a:r>
              <a:rPr sz="1500">
                <a:solidFill>
                  <a:srgbClr val="475569"/>
                </a:solidFill>
                <a:latin typeface="Segoe UI"/>
              </a:rPr>
              <a:t>  Cosine similarity over 20 vectors held in Lambda memory is sub-millisecond and costs nothing at all.</a:t>
            </a:r>
          </a:p>
          <a:p>
            <a:pPr>
              <a:lnSpc>
                <a:spcPct val="115000"/>
              </a:lnSpc>
              <a:spcAft>
                <a:spcPts val="1000"/>
              </a:spcAft>
            </a:pPr>
            <a:r>
              <a:rPr sz="1500" b="1">
                <a:solidFill>
                  <a:srgbClr val="0F172A"/>
                </a:solidFill>
                <a:latin typeface="Segoe UI"/>
              </a:rPr>
              <a:t>A vector store would answer none of the phase's questions.</a:t>
            </a:r>
            <a:r>
              <a:rPr sz="1500">
                <a:solidFill>
                  <a:srgbClr val="475569"/>
                </a:solidFill>
                <a:latin typeface="Segoe UI"/>
              </a:rPr>
              <a:t>  Standing up OpenSearch or pgvector for 20 rows spends the phase on infrastructure instead of evidence — and OpenSearch is not always-free.</a:t>
            </a:r>
          </a:p>
          <a:p>
            <a:pPr>
              <a:lnSpc>
                <a:spcPct val="115000"/>
              </a:lnSpc>
              <a:spcAft>
                <a:spcPts val="1000"/>
              </a:spcAft>
            </a:pPr>
            <a:r>
              <a:rPr sz="1500" b="1">
                <a:solidFill>
                  <a:srgbClr val="0F172A"/>
                </a:solidFill>
                <a:latin typeface="Segoe UI"/>
              </a:rPr>
              <a:t>The interface is what matters.</a:t>
            </a:r>
            <a:r>
              <a:rPr sz="1500">
                <a:solidFill>
                  <a:srgbClr val="475569"/>
                </a:solidFill>
                <a:latin typeface="Segoe UI"/>
              </a:rPr>
              <a:t>  Search sits behind an interface with a single implementation, so the store can be swapped in Phase 1 without touching a single caller.</a:t>
            </a:r>
          </a:p>
          <a:p>
            <a:pPr>
              <a:lnSpc>
                <a:spcPct val="115000"/>
              </a:lnSpc>
              <a:spcAft>
                <a:spcPts val="1000"/>
              </a:spcAft>
            </a:pPr>
            <a:r>
              <a:rPr sz="1500" b="1">
                <a:solidFill>
                  <a:srgbClr val="0F172A"/>
                </a:solidFill>
                <a:latin typeface="Segoe UI"/>
              </a:rPr>
              <a:t>Choose it later, with data.</a:t>
            </a:r>
            <a:r>
              <a:rPr sz="1500">
                <a:solidFill>
                  <a:srgbClr val="475569"/>
                </a:solidFill>
                <a:latin typeface="Segoe UI"/>
              </a:rPr>
              <a:t>  The Phase 1 vector store gets picked using real query distributions from Phase 0, rather than guessed at now.</a:t>
            </a:r>
          </a:p>
        </p:txBody>
      </p:sp>
      <p:sp>
        <p:nvSpPr>
          <p:cNvPr id="6" name="Rounded Rectangle 5"/>
          <p:cNvSpPr/>
          <p:nvPr/>
        </p:nvSpPr>
        <p:spPr>
          <a:xfrm>
            <a:off x="777240" y="5120640"/>
            <a:ext cx="10515600" cy="1005840"/>
          </a:xfrm>
          <a:prstGeom prst="roundRect">
            <a:avLst/>
          </a:prstGeom>
          <a:solidFill>
            <a:srgbClr val="F0FDF4"/>
          </a:solid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349240"/>
            <a:ext cx="9966960" cy="640080"/>
          </a:xfrm>
          <a:prstGeom prst="rect">
            <a:avLst/>
          </a:prstGeom>
          <a:noFill/>
        </p:spPr>
        <p:txBody>
          <a:bodyPr wrap="square" lIns="0" rIns="0" tIns="0" bIns="0">
            <a:spAutoFit/>
          </a:bodyPr>
          <a:lstStyle/>
          <a:p>
            <a:pPr algn="l">
              <a:lnSpc>
                <a:spcPct val="115000"/>
              </a:lnSpc>
            </a:pPr>
            <a:r>
              <a:rPr sz="1350" b="0">
                <a:solidFill>
                  <a:srgbClr val="14532D"/>
                </a:solidFill>
                <a:latin typeface="Segoe UI"/>
              </a:rPr>
              <a:t>The same reasoning picked Lambda Function URLs over API Gateway: Lambda and DynamoDB are always free, API Gateway is free for 12 months only. Given the free-tier change, that distinction matters.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COST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AWS changed the free tier — the plan is built around it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828800"/>
          <a:ext cx="10515600" cy="1481328"/>
        </p:xfrm>
        <a:graphic>
          <a:graphicData uri="http://schemas.openxmlformats.org/drawingml/2006/table">
            <a:tbl>
              <a:tblPr firstRow="1" bandRow="1">
                <a:tableStyleId>{5C22544A-7EE6-4342-B048-85BDC9FD1C3A}</a:tableStyleId>
              </a:tblPr>
              <a:tblGrid>
                <a:gridCol w="2377440"/>
                <a:gridCol w="3840480"/>
                <a:gridCol w="4297680"/>
              </a:tblGrid>
              <a:tr h="296265">
                <a:tc>
                  <a:txBody>
                    <a:bodyPr/>
                    <a:lstStyle/>
                    <a:p>
                      <a:r>
                        <a:rPr sz="1200" b="1">
                          <a:solidFill>
                            <a:srgbClr val="FFFFFF"/>
                          </a:solidFill>
                          <a:latin typeface="Segoe UI"/>
                        </a:rPr>
                        <a:t> </a:t>
                      </a:r>
                    </a:p>
                  </a:txBody>
                  <a:tcPr>
                    <a:solidFill>
                      <a:srgbClr val="0F172A"/>
                    </a:solidFill>
                  </a:tcPr>
                </a:tc>
                <a:tc>
                  <a:txBody>
                    <a:bodyPr/>
                    <a:lstStyle/>
                    <a:p>
                      <a:r>
                        <a:rPr sz="1200" b="1">
                          <a:solidFill>
                            <a:srgbClr val="FFFFFF"/>
                          </a:solidFill>
                          <a:latin typeface="Segoe UI"/>
                        </a:rPr>
                        <a:t>Legacy free tier</a:t>
                      </a:r>
                    </a:p>
                  </a:txBody>
                  <a:tcPr>
                    <a:solidFill>
                      <a:srgbClr val="0F172A"/>
                    </a:solidFill>
                  </a:tcPr>
                </a:tc>
                <a:tc>
                  <a:txBody>
                    <a:bodyPr/>
                    <a:lstStyle/>
                    <a:p>
                      <a:r>
                        <a:rPr sz="1200" b="1">
                          <a:solidFill>
                            <a:srgbClr val="FFFFFF"/>
                          </a:solidFill>
                          <a:latin typeface="Segoe UI"/>
                        </a:rPr>
                        <a:t>Free Plan (since 9 July 2025)</a:t>
                      </a:r>
                    </a:p>
                  </a:txBody>
                  <a:tcPr>
                    <a:solidFill>
                      <a:srgbClr val="0F172A"/>
                    </a:solidFill>
                  </a:tcPr>
                </a:tc>
              </a:tr>
              <a:tr h="296265">
                <a:tc>
                  <a:txBody>
                    <a:bodyPr/>
                    <a:lstStyle/>
                    <a:p>
                      <a:r>
                        <a:rPr sz="1200">
                          <a:solidFill>
                            <a:srgbClr val="475569"/>
                          </a:solidFill>
                          <a:latin typeface="Segoe UI"/>
                        </a:rPr>
                        <a:t>Who gets it</a:t>
                      </a:r>
                    </a:p>
                  </a:txBody>
                  <a:tcPr>
                    <a:solidFill>
                      <a:srgbClr val="FFFFFF"/>
                    </a:solidFill>
                  </a:tcPr>
                </a:tc>
                <a:tc>
                  <a:txBody>
                    <a:bodyPr/>
                    <a:lstStyle/>
                    <a:p>
                      <a:r>
                        <a:rPr sz="1200">
                          <a:solidFill>
                            <a:srgbClr val="475569"/>
                          </a:solidFill>
                          <a:latin typeface="Segoe UI"/>
                        </a:rPr>
                        <a:t>Accounts opened before 9 Jul 2025</a:t>
                      </a:r>
                    </a:p>
                  </a:txBody>
                  <a:tcPr>
                    <a:solidFill>
                      <a:srgbClr val="FFFFFF"/>
                    </a:solidFill>
                  </a:tcPr>
                </a:tc>
                <a:tc>
                  <a:txBody>
                    <a:bodyPr/>
                    <a:lstStyle/>
                    <a:p>
                      <a:r>
                        <a:rPr sz="1200">
                          <a:solidFill>
                            <a:srgbClr val="475569"/>
                          </a:solidFill>
                          <a:latin typeface="Segoe UI"/>
                        </a:rPr>
                        <a:t>All new accounts</a:t>
                      </a:r>
                    </a:p>
                  </a:txBody>
                  <a:tcPr>
                    <a:solidFill>
                      <a:srgbClr val="FFFFFF"/>
                    </a:solidFill>
                  </a:tcPr>
                </a:tc>
              </a:tr>
              <a:tr h="296265">
                <a:tc>
                  <a:txBody>
                    <a:bodyPr/>
                    <a:lstStyle/>
                    <a:p>
                      <a:r>
                        <a:rPr sz="1200">
                          <a:solidFill>
                            <a:srgbClr val="475569"/>
                          </a:solidFill>
                          <a:latin typeface="Segoe UI"/>
                        </a:rPr>
                        <a:t>Shape</a:t>
                      </a:r>
                    </a:p>
                  </a:txBody>
                  <a:tcPr>
                    <a:solidFill>
                      <a:srgbClr val="F8FAFC"/>
                    </a:solidFill>
                  </a:tcPr>
                </a:tc>
                <a:tc>
                  <a:txBody>
                    <a:bodyPr/>
                    <a:lstStyle/>
                    <a:p>
                      <a:r>
                        <a:rPr sz="1200">
                          <a:solidFill>
                            <a:srgbClr val="475569"/>
                          </a:solidFill>
                          <a:latin typeface="Segoe UI"/>
                        </a:rPr>
                        <a:t>12 months of per-service limits</a:t>
                      </a:r>
                    </a:p>
                  </a:txBody>
                  <a:tcPr>
                    <a:solidFill>
                      <a:srgbClr val="F8FAFC"/>
                    </a:solidFill>
                  </a:tcPr>
                </a:tc>
                <a:tc>
                  <a:txBody>
                    <a:bodyPr/>
                    <a:lstStyle/>
                    <a:p>
                      <a:r>
                        <a:rPr sz="1200">
                          <a:solidFill>
                            <a:srgbClr val="475569"/>
                          </a:solidFill>
                          <a:latin typeface="Segoe UI"/>
                        </a:rPr>
                        <a:t>$100 credit, up to $200, over 6 months</a:t>
                      </a:r>
                    </a:p>
                  </a:txBody>
                  <a:tcPr>
                    <a:solidFill>
                      <a:srgbClr val="F8FAFC"/>
                    </a:solidFill>
                  </a:tcPr>
                </a:tc>
              </a:tr>
              <a:tr h="296265">
                <a:tc>
                  <a:txBody>
                    <a:bodyPr/>
                    <a:lstStyle/>
                    <a:p>
                      <a:r>
                        <a:rPr sz="1200">
                          <a:solidFill>
                            <a:srgbClr val="475569"/>
                          </a:solidFill>
                          <a:latin typeface="Segoe UI"/>
                        </a:rPr>
                        <a:t>What happens at the end</a:t>
                      </a:r>
                    </a:p>
                  </a:txBody>
                  <a:tcPr>
                    <a:solidFill>
                      <a:srgbClr val="FFFFFF"/>
                    </a:solidFill>
                  </a:tcPr>
                </a:tc>
                <a:tc>
                  <a:txBody>
                    <a:bodyPr/>
                    <a:lstStyle/>
                    <a:p>
                      <a:r>
                        <a:rPr sz="1200">
                          <a:solidFill>
                            <a:srgbClr val="475569"/>
                          </a:solidFill>
                          <a:latin typeface="Segoe UI"/>
                        </a:rPr>
                        <a:t>Tier expires, billing continues</a:t>
                      </a:r>
                    </a:p>
                  </a:txBody>
                  <a:tcPr>
                    <a:solidFill>
                      <a:srgbClr val="FFFFFF"/>
                    </a:solidFill>
                  </a:tcPr>
                </a:tc>
                <a:tc>
                  <a:txBody>
                    <a:bodyPr/>
                    <a:lstStyle/>
                    <a:p>
                      <a:r>
                        <a:rPr sz="1200">
                          <a:solidFill>
                            <a:srgbClr val="475569"/>
                          </a:solidFill>
                          <a:latin typeface="Segoe UI"/>
                        </a:rPr>
                        <a:t>The account itself closes</a:t>
                      </a:r>
                    </a:p>
                  </a:txBody>
                  <a:tcPr>
                    <a:solidFill>
                      <a:srgbClr val="FFFFFF"/>
                    </a:solidFill>
                  </a:tcPr>
                </a:tc>
              </a:tr>
              <a:tr h="296268">
                <a:tc>
                  <a:txBody>
                    <a:bodyPr/>
                    <a:lstStyle/>
                    <a:p>
                      <a:r>
                        <a:rPr sz="1200">
                          <a:solidFill>
                            <a:srgbClr val="475569"/>
                          </a:solidFill>
                          <a:latin typeface="Segoe UI"/>
                        </a:rPr>
                        <a:t>Always-free services</a:t>
                      </a:r>
                    </a:p>
                  </a:txBody>
                  <a:tcPr>
                    <a:solidFill>
                      <a:srgbClr val="F8FAFC"/>
                    </a:solidFill>
                  </a:tcPr>
                </a:tc>
                <a:tc>
                  <a:txBody>
                    <a:bodyPr/>
                    <a:lstStyle/>
                    <a:p>
                      <a:r>
                        <a:rPr sz="1200">
                          <a:solidFill>
                            <a:srgbClr val="475569"/>
                          </a:solidFill>
                          <a:latin typeface="Segoe UI"/>
                        </a:rPr>
                        <a:t>Unaffected</a:t>
                      </a:r>
                    </a:p>
                  </a:txBody>
                  <a:tcPr>
                    <a:solidFill>
                      <a:srgbClr val="F8FAFC"/>
                    </a:solidFill>
                  </a:tcPr>
                </a:tc>
                <a:tc>
                  <a:txBody>
                    <a:bodyPr/>
                    <a:lstStyle/>
                    <a:p>
                      <a:r>
                        <a:rPr sz="1200">
                          <a:solidFill>
                            <a:srgbClr val="475569"/>
                          </a:solidFill>
                          <a:latin typeface="Segoe UI"/>
                        </a:rPr>
                        <a:t>Unaffected</a:t>
                      </a:r>
                    </a:p>
                  </a:txBody>
                  <a:tcPr>
                    <a:solidFill>
                      <a:srgbClr val="F8FAFC"/>
                    </a:solidFill>
                  </a:tcPr>
                </a:tc>
              </a:tr>
            </a:tbl>
          </a:graphicData>
        </a:graphic>
      </p:graphicFrame>
      <p:sp>
        <p:nvSpPr>
          <p:cNvPr id="6" name="TextBox 5"/>
          <p:cNvSpPr txBox="1"/>
          <p:nvPr/>
        </p:nvSpPr>
        <p:spPr>
          <a:xfrm>
            <a:off x="777240" y="3931920"/>
            <a:ext cx="10515600" cy="21945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design response.</a:t>
            </a:r>
            <a:r>
              <a:rPr sz="1400">
                <a:solidFill>
                  <a:srgbClr val="475569"/>
                </a:solidFill>
                <a:latin typeface="Segoe UI"/>
              </a:rPr>
              <a:t>  Lean on always-free limits — Lambda (1M requests and 400k GB-seconds per month) and DynamoDB (25 GB) — so the plan works under either account type.</a:t>
            </a:r>
          </a:p>
          <a:p>
            <a:pPr>
              <a:lnSpc>
                <a:spcPct val="115000"/>
              </a:lnSpc>
              <a:spcAft>
                <a:spcPts val="1000"/>
              </a:spcAft>
            </a:pPr>
            <a:r>
              <a:rPr sz="1400" b="1">
                <a:solidFill>
                  <a:srgbClr val="0F172A"/>
                </a:solidFill>
                <a:latin typeface="Segoe UI"/>
              </a:rPr>
              <a:t>Total cost for the phase: under $2.</a:t>
            </a:r>
            <a:r>
              <a:rPr sz="1400">
                <a:solidFill>
                  <a:srgbClr val="475569"/>
                </a:solidFill>
                <a:latin typeface="Segoe UI"/>
              </a:rPr>
              <a:t>  Embeddings for 20 tool descriptions plus a few thousand queries is well under a million tokens at roughly $0.02 per million.</a:t>
            </a:r>
          </a:p>
          <a:p>
            <a:pPr>
              <a:lnSpc>
                <a:spcPct val="115000"/>
              </a:lnSpc>
              <a:spcAft>
                <a:spcPts val="1000"/>
              </a:spcAft>
            </a:pPr>
            <a:r>
              <a:rPr sz="1400" b="1">
                <a:solidFill>
                  <a:srgbClr val="0F172A"/>
                </a:solidFill>
                <a:latin typeface="Segoe UI"/>
              </a:rPr>
              <a:t>Set the $5 billing alarm on day one.</a:t>
            </a:r>
            <a:r>
              <a:rPr sz="1400">
                <a:solidFill>
                  <a:srgbClr val="475569"/>
                </a:solidFill>
                <a:latin typeface="Segoe UI"/>
              </a:rPr>
              <a:t>  It is issue #3, not an afterthought. A 6-week phase inside a 6-month clock is comfortable — but do not let it drift.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Twelve issues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T-shirt estimates for one developer.</a:t>
            </a:r>
          </a:p>
        </p:txBody>
      </p:sp>
      <p:graphicFrame>
        <p:nvGraphicFramePr>
          <p:cNvPr id="6" name="Table 5"/>
          <p:cNvGraphicFramePr>
            <a:graphicFrameLocks noGrp="1"/>
          </p:cNvGraphicFramePr>
          <p:nvPr/>
        </p:nvGraphicFramePr>
        <p:xfrm>
          <a:off x="777240" y="2304288"/>
          <a:ext cx="10515600" cy="3822191"/>
        </p:xfrm>
        <a:graphic>
          <a:graphicData uri="http://schemas.openxmlformats.org/drawingml/2006/table">
            <a:tbl>
              <a:tblPr firstRow="1" bandRow="1">
                <a:tableStyleId>{5C22544A-7EE6-4342-B048-85BDC9FD1C3A}</a:tableStyleId>
              </a:tblPr>
              <a:tblGrid>
                <a:gridCol w="548640"/>
                <a:gridCol w="6766560"/>
                <a:gridCol w="1005840"/>
                <a:gridCol w="2194560"/>
              </a:tblGrid>
              <a:tr h="294014">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Issue</a:t>
                      </a:r>
                    </a:p>
                  </a:txBody>
                  <a:tcPr>
                    <a:solidFill>
                      <a:srgbClr val="0F172A"/>
                    </a:solidFill>
                  </a:tcPr>
                </a:tc>
                <a:tc>
                  <a:txBody>
                    <a:bodyPr/>
                    <a:lstStyle/>
                    <a:p>
                      <a:r>
                        <a:rPr sz="1100" b="1">
                          <a:solidFill>
                            <a:srgbClr val="FFFFFF"/>
                          </a:solidFill>
                          <a:latin typeface="Segoe UI"/>
                        </a:rPr>
                        <a:t>Est.</a:t>
                      </a:r>
                    </a:p>
                  </a:txBody>
                  <a:tcPr>
                    <a:solidFill>
                      <a:srgbClr val="0F172A"/>
                    </a:solidFill>
                  </a:tcPr>
                </a:tc>
                <a:tc>
                  <a:txBody>
                    <a:bodyPr/>
                    <a:lstStyle/>
                    <a:p>
                      <a:r>
                        <a:rPr sz="1100" b="1">
                          <a:solidFill>
                            <a:srgbClr val="FFFFFF"/>
                          </a:solidFill>
                          <a:latin typeface="Segoe UI"/>
                        </a:rPr>
                        <a:t>Depends on</a:t>
                      </a:r>
                    </a:p>
                  </a:txBody>
                  <a:tcPr>
                    <a:solidFill>
                      <a:srgbClr val="0F172A"/>
                    </a:solidFill>
                  </a:tcPr>
                </a:tc>
              </a:tr>
              <a:tr h="294014">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Scaffold repo with the phantom/visual split</a:t>
                      </a:r>
                    </a:p>
                  </a:txBody>
                  <a:tcPr>
                    <a:solidFill>
                      <a:srgbClr val="FFFFFF"/>
                    </a:solidFill>
                  </a:tcPr>
                </a:tc>
                <a:tc>
                  <a:txBody>
                    <a:bodyPr/>
                    <a:lstStyle/>
                    <a:p>
                      <a:r>
                        <a:rPr sz="1100">
                          <a:solidFill>
                            <a:srgbClr val="475569"/>
                          </a:solidFill>
                          <a:latin typeface="Segoe UI"/>
                        </a:rPr>
                        <a:t>S</a:t>
                      </a:r>
                    </a:p>
                  </a:txBody>
                  <a:tcPr>
                    <a:solidFill>
                      <a:srgbClr val="FFFFFF"/>
                    </a:solidFill>
                  </a:tcPr>
                </a:tc>
                <a:tc>
                  <a:txBody>
                    <a:bodyPr/>
                    <a:lstStyle/>
                    <a:p>
                      <a:r>
                        <a:rPr sz="1100">
                          <a:solidFill>
                            <a:srgbClr val="475569"/>
                          </a:solidFill>
                          <a:latin typeface="Segoe UI"/>
                        </a:rPr>
                        <a:t>-</a:t>
                      </a:r>
                    </a:p>
                  </a:txBody>
                  <a:tcPr>
                    <a:solidFill>
                      <a:srgbClr val="FFFFFF"/>
                    </a:solidFill>
                  </a:tcPr>
                </a:tc>
              </a:tr>
              <a:tr h="294014">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Define shared schemas: tool, event, gap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a:t>
                      </a:r>
                    </a:p>
                  </a:txBody>
                  <a:tcPr>
                    <a:solidFill>
                      <a:srgbClr val="F8FAFC"/>
                    </a:solidFill>
                  </a:tcPr>
                </a:tc>
              </a:tr>
              <a:tr h="294014">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CDK stack: tables, IAM, billing alarm</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1</a:t>
                      </a:r>
                    </a:p>
                  </a:txBody>
                  <a:tcPr>
                    <a:solidFill>
                      <a:srgbClr val="FFFFFF"/>
                    </a:solidFill>
                  </a:tcPr>
                </a:tc>
              </a:tr>
              <a:tr h="294014">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Registry service with immutable versioning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2, 3</a:t>
                      </a:r>
                    </a:p>
                  </a:txBody>
                  <a:tcPr>
                    <a:solidFill>
                      <a:srgbClr val="F8FAFC"/>
                    </a:solidFill>
                  </a:tcPr>
                </a:tc>
              </a:tr>
              <a:tr h="294014">
                <a:tc>
                  <a:txBody>
                    <a:bodyPr/>
                    <a:lstStyle/>
                    <a:p>
                      <a:r>
                        <a:rPr sz="1100">
                          <a:solidFill>
                            <a:srgbClr val="475569"/>
                          </a:solidFill>
                          <a:latin typeface="Segoe UI"/>
                        </a:rPr>
                        <a:t>5</a:t>
                      </a:r>
                    </a:p>
                  </a:txBody>
                  <a:tcPr>
                    <a:solidFill>
                      <a:srgbClr val="FFFFFF"/>
                    </a:solidFill>
                  </a:tcPr>
                </a:tc>
                <a:tc>
                  <a:txBody>
                    <a:bodyPr/>
                    <a:lstStyle/>
                    <a:p>
                      <a:r>
                        <a:rPr sz="1100">
                          <a:solidFill>
                            <a:srgbClr val="475569"/>
                          </a:solidFill>
                          <a:latin typeface="Segoe UI"/>
                        </a:rPr>
                        <a:t>Embedding pipeline on Bedrock Titan V2</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3</a:t>
                      </a:r>
                    </a:p>
                  </a:txBody>
                  <a:tcPr>
                    <a:solidFill>
                      <a:srgbClr val="FFFFFF"/>
                    </a:solidFill>
                  </a:tcPr>
                </a:tc>
              </a:tr>
              <a:tr h="294014">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Semantic search endpoint</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4, 5</a:t>
                      </a:r>
                    </a:p>
                  </a:txBody>
                  <a:tcPr>
                    <a:solidFill>
                      <a:srgbClr val="F8FAFC"/>
                    </a:solidFill>
                  </a:tcPr>
                </a:tc>
              </a:tr>
              <a:tr h="294014">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Append-only event log with provenance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2, 3</a:t>
                      </a:r>
                    </a:p>
                  </a:txBody>
                  <a:tcPr>
                    <a:solidFill>
                      <a:srgbClr val="FFFFFF"/>
                    </a:solidFill>
                  </a:tcPr>
                </a:tc>
              </a:tr>
              <a:tr h="294014">
                <a:tc>
                  <a:txBody>
                    <a:bodyPr/>
                    <a:lstStyle/>
                    <a:p>
                      <a:r>
                        <a:rPr sz="1100">
                          <a:solidFill>
                            <a:srgbClr val="475569"/>
                          </a:solidFill>
                          <a:latin typeface="Segoe UI"/>
                        </a:rPr>
                        <a:t>8</a:t>
                      </a:r>
                    </a:p>
                  </a:txBody>
                  <a:tcPr>
                    <a:solidFill>
                      <a:srgbClr val="F8FAFC"/>
                    </a:solidFill>
                  </a:tcPr>
                </a:tc>
                <a:tc>
                  <a:txBody>
                    <a:bodyPr/>
                    <a:lstStyle/>
                    <a:p>
                      <a:r>
                        <a:rPr sz="1100">
                          <a:solidFill>
                            <a:srgbClr val="475569"/>
                          </a:solidFill>
                          <a:latin typeface="Segoe UI"/>
                        </a:rPr>
                        <a:t>Gap detection and gap log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6, 7</a:t>
                      </a:r>
                    </a:p>
                  </a:txBody>
                  <a:tcPr>
                    <a:solidFill>
                      <a:srgbClr val="F8FAFC"/>
                    </a:solidFill>
                  </a:tcPr>
                </a:tc>
              </a:tr>
              <a:tr h="294014">
                <a:tc>
                  <a:txBody>
                    <a:bodyPr/>
                    <a:lstStyle/>
                    <a:p>
                      <a:r>
                        <a:rPr sz="1100">
                          <a:solidFill>
                            <a:srgbClr val="475569"/>
                          </a:solidFill>
                          <a:latin typeface="Segoe UI"/>
                        </a:rPr>
                        <a:t>9</a:t>
                      </a:r>
                    </a:p>
                  </a:txBody>
                  <a:tcPr>
                    <a:solidFill>
                      <a:srgbClr val="FFFFFF"/>
                    </a:solidFill>
                  </a:tcPr>
                </a:tc>
                <a:tc>
                  <a:txBody>
                    <a:bodyPr/>
                    <a:lstStyle/>
                    <a:p>
                      <a:r>
                        <a:rPr sz="1100">
                          <a:solidFill>
                            <a:srgbClr val="475569"/>
                          </a:solidFill>
                          <a:latin typeface="Segoe UI"/>
                        </a:rPr>
                        <a:t>Seed 15-20 tools wrapping public APIs</a:t>
                      </a:r>
                    </a:p>
                  </a:txBody>
                  <a:tcPr>
                    <a:solidFill>
                      <a:srgbClr val="FFFFFF"/>
                    </a:solidFill>
                  </a:tcPr>
                </a:tc>
                <a:tc>
                  <a:txBody>
                    <a:bodyPr/>
                    <a:lstStyle/>
                    <a:p>
                      <a:r>
                        <a:rPr sz="1100">
                          <a:solidFill>
                            <a:srgbClr val="475569"/>
                          </a:solidFill>
                          <a:latin typeface="Segoe UI"/>
                        </a:rPr>
                        <a:t>L</a:t>
                      </a:r>
                    </a:p>
                  </a:txBody>
                  <a:tcPr>
                    <a:solidFill>
                      <a:srgbClr val="FFFFFF"/>
                    </a:solidFill>
                  </a:tcPr>
                </a:tc>
                <a:tc>
                  <a:txBody>
                    <a:bodyPr/>
                    <a:lstStyle/>
                    <a:p>
                      <a:r>
                        <a:rPr sz="1100">
                          <a:solidFill>
                            <a:srgbClr val="475569"/>
                          </a:solidFill>
                          <a:latin typeface="Segoe UI"/>
                        </a:rPr>
                        <a:t>4</a:t>
                      </a:r>
                    </a:p>
                  </a:txBody>
                  <a:tcPr>
                    <a:solidFill>
                      <a:srgbClr val="FFFFFF"/>
                    </a:solidFill>
                  </a:tcPr>
                </a:tc>
              </a:tr>
              <a:tr h="294014">
                <a:tc>
                  <a:txBody>
                    <a:bodyPr/>
                    <a:lstStyle/>
                    <a:p>
                      <a:r>
                        <a:rPr sz="1100">
                          <a:solidFill>
                            <a:srgbClr val="475569"/>
                          </a:solidFill>
                          <a:latin typeface="Segoe UI"/>
                        </a:rPr>
                        <a:t>10</a:t>
                      </a:r>
                    </a:p>
                  </a:txBody>
                  <a:tcPr>
                    <a:solidFill>
                      <a:srgbClr val="F8FAFC"/>
                    </a:solidFill>
                  </a:tcPr>
                </a:tc>
                <a:tc>
                  <a:txBody>
                    <a:bodyPr/>
                    <a:lstStyle/>
                    <a:p>
                      <a:r>
                        <a:rPr sz="1100">
                          <a:solidFill>
                            <a:srgbClr val="475569"/>
                          </a:solidFill>
                          <a:latin typeface="Segoe UI"/>
                        </a:rPr>
                        <a:t>Labelled eval set and recall@k harness</a:t>
                      </a:r>
                    </a:p>
                  </a:txBody>
                  <a:tcPr>
                    <a:solidFill>
                      <a:srgbClr val="F8FAFC"/>
                    </a:solidFill>
                  </a:tcPr>
                </a:tc>
                <a:tc>
                  <a:txBody>
                    <a:bodyPr/>
                    <a:lstStyle/>
                    <a:p>
                      <a:r>
                        <a:rPr sz="1100">
                          <a:solidFill>
                            <a:srgbClr val="475569"/>
                          </a:solidFill>
                          <a:latin typeface="Segoe UI"/>
                        </a:rPr>
                        <a:t>L</a:t>
                      </a:r>
                    </a:p>
                  </a:txBody>
                  <a:tcPr>
                    <a:solidFill>
                      <a:srgbClr val="F8FAFC"/>
                    </a:solidFill>
                  </a:tcPr>
                </a:tc>
                <a:tc>
                  <a:txBody>
                    <a:bodyPr/>
                    <a:lstStyle/>
                    <a:p>
                      <a:r>
                        <a:rPr sz="1100">
                          <a:solidFill>
                            <a:srgbClr val="475569"/>
                          </a:solidFill>
                          <a:latin typeface="Segoe UI"/>
                        </a:rPr>
                        <a:t>6, 9</a:t>
                      </a:r>
                    </a:p>
                  </a:txBody>
                  <a:tcPr>
                    <a:solidFill>
                      <a:srgbClr val="F8FAFC"/>
                    </a:solidFill>
                  </a:tcPr>
                </a:tc>
              </a:tr>
              <a:tr h="294014">
                <a:tc>
                  <a:txBody>
                    <a:bodyPr/>
                    <a:lstStyle/>
                    <a:p>
                      <a:r>
                        <a:rPr sz="1100">
                          <a:solidFill>
                            <a:srgbClr val="475569"/>
                          </a:solidFill>
                          <a:latin typeface="Segoe UI"/>
                        </a:rPr>
                        <a:t>11</a:t>
                      </a:r>
                    </a:p>
                  </a:txBody>
                  <a:tcPr>
                    <a:solidFill>
                      <a:srgbClr val="FFFFFF"/>
                    </a:solidFill>
                  </a:tcPr>
                </a:tc>
                <a:tc>
                  <a:txBody>
                    <a:bodyPr/>
                    <a:lstStyle/>
                    <a:p>
                      <a:r>
                        <a:rPr sz="1100">
                          <a:solidFill>
                            <a:srgbClr val="475569"/>
                          </a:solidFill>
                          <a:latin typeface="Segoe UI"/>
                        </a:rPr>
                        <a:t>Query CLI and miss-log review CLI</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8, 9</a:t>
                      </a:r>
                    </a:p>
                  </a:txBody>
                  <a:tcPr>
                    <a:solidFill>
                      <a:srgbClr val="FFFFFF"/>
                    </a:solidFill>
                  </a:tcPr>
                </a:tc>
              </a:tr>
              <a:tr h="294023">
                <a:tc>
                  <a:txBody>
                    <a:bodyPr/>
                    <a:lstStyle/>
                    <a:p>
                      <a:r>
                        <a:rPr sz="1100">
                          <a:solidFill>
                            <a:srgbClr val="475569"/>
                          </a:solidFill>
                          <a:latin typeface="Segoe UI"/>
                        </a:rPr>
                        <a:t>12</a:t>
                      </a:r>
                    </a:p>
                  </a:txBody>
                  <a:tcPr>
                    <a:solidFill>
                      <a:srgbClr val="F8FAFC"/>
                    </a:solidFill>
                  </a:tcPr>
                </a:tc>
                <a:tc>
                  <a:txBody>
                    <a:bodyPr/>
                    <a:lstStyle/>
                    <a:p>
                      <a:r>
                        <a:rPr sz="1100">
                          <a:solidFill>
                            <a:srgbClr val="475569"/>
                          </a:solidFill>
                          <a:latin typeface="Segoe UI"/>
                        </a:rPr>
                        <a:t>Phase 0 findings write-up</a:t>
                      </a:r>
                    </a:p>
                  </a:txBody>
                  <a:tcPr>
                    <a:solidFill>
                      <a:srgbClr val="F8FAFC"/>
                    </a:solidFill>
                  </a:tcPr>
                </a:tc>
                <a:tc>
                  <a:txBody>
                    <a:bodyPr/>
                    <a:lstStyle/>
                    <a:p>
                      <a:r>
                        <a:rPr sz="1100">
                          <a:solidFill>
                            <a:srgbClr val="475569"/>
                          </a:solidFill>
                          <a:latin typeface="Segoe UI"/>
                        </a:rPr>
                        <a:t>S</a:t>
                      </a:r>
                    </a:p>
                  </a:txBody>
                  <a:tcPr>
                    <a:solidFill>
                      <a:srgbClr val="F8FAFC"/>
                    </a:solidFill>
                  </a:tcPr>
                </a:tc>
                <a:tc>
                  <a:txBody>
                    <a:bodyPr/>
                    <a:lstStyle/>
                    <a:p>
                      <a:r>
                        <a:rPr sz="1100">
                          <a:solidFill>
                            <a:srgbClr val="475569"/>
                          </a:solidFill>
                          <a:latin typeface="Segoe UI"/>
                        </a:rPr>
                        <a:t>10, 11</a:t>
                      </a:r>
                    </a:p>
                  </a:txBody>
                  <a:tcPr>
                    <a:solidFill>
                      <a:srgbClr val="F8FAFC"/>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SEQUENCING</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Critical path and where to parallelise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 Scaffold</a:t>
            </a:r>
          </a:p>
        </p:txBody>
      </p:sp>
      <p:sp>
        <p:nvSpPr>
          <p:cNvPr id="6" name="Right Arrow 5"/>
          <p:cNvSpPr/>
          <p:nvPr/>
        </p:nvSpPr>
        <p:spPr>
          <a:xfrm>
            <a:off x="2203704" y="2093976"/>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32888"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#3 CDK</a:t>
            </a:r>
          </a:p>
        </p:txBody>
      </p:sp>
      <p:sp>
        <p:nvSpPr>
          <p:cNvPr id="8" name="Right Arrow 7"/>
          <p:cNvSpPr/>
          <p:nvPr/>
        </p:nvSpPr>
        <p:spPr>
          <a:xfrm>
            <a:off x="3959351" y="2093976"/>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88536"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#4 Registry</a:t>
            </a:r>
          </a:p>
        </p:txBody>
      </p:sp>
      <p:sp>
        <p:nvSpPr>
          <p:cNvPr id="10" name="Right Arrow 9"/>
          <p:cNvSpPr/>
          <p:nvPr/>
        </p:nvSpPr>
        <p:spPr>
          <a:xfrm>
            <a:off x="5714999" y="2093976"/>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44183"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#6 Search</a:t>
            </a:r>
          </a:p>
        </p:txBody>
      </p:sp>
      <p:sp>
        <p:nvSpPr>
          <p:cNvPr id="12" name="Right Arrow 11"/>
          <p:cNvSpPr/>
          <p:nvPr/>
        </p:nvSpPr>
        <p:spPr>
          <a:xfrm>
            <a:off x="7470648" y="2093976"/>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99831"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#10 Eval</a:t>
            </a:r>
          </a:p>
        </p:txBody>
      </p:sp>
      <p:sp>
        <p:nvSpPr>
          <p:cNvPr id="14" name="Right Arrow 13"/>
          <p:cNvSpPr/>
          <p:nvPr/>
        </p:nvSpPr>
        <p:spPr>
          <a:xfrm>
            <a:off x="9226296" y="2093976"/>
            <a:ext cx="256032"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555480" y="1874519"/>
            <a:ext cx="1371600" cy="658368"/>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Segoe UI"/>
              </a:rPr>
              <a:t>#12 Findings</a:t>
            </a:r>
          </a:p>
        </p:txBody>
      </p:sp>
      <p:sp>
        <p:nvSpPr>
          <p:cNvPr id="16" name="TextBox 15"/>
          <p:cNvSpPr txBox="1"/>
          <p:nvPr/>
        </p:nvSpPr>
        <p:spPr>
          <a:xfrm>
            <a:off x="777240" y="2834639"/>
            <a:ext cx="10515600" cy="31089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#9 is the big one, and it runs in parallel.</a:t>
            </a:r>
            <a:r>
              <a:rPr sz="1400">
                <a:solidFill>
                  <a:srgbClr val="475569"/>
                </a:solidFill>
                <a:latin typeface="Segoe UI"/>
              </a:rPr>
              <a:t>  Seeding 15-20 tools is the largest single item, and it depends only on #4. Start it the moment the registry accepts writes and run it alongside #5 through #8.</a:t>
            </a:r>
          </a:p>
          <a:p>
            <a:pPr>
              <a:lnSpc>
                <a:spcPct val="115000"/>
              </a:lnSpc>
              <a:spcAft>
                <a:spcPts val="1000"/>
              </a:spcAft>
            </a:pPr>
            <a:r>
              <a:rPr sz="1400" b="1">
                <a:solidFill>
                  <a:srgbClr val="0F172A"/>
                </a:solidFill>
                <a:latin typeface="Segoe UI"/>
              </a:rPr>
              <a:t>#2 and #3 both unblock straight after #1.</a:t>
            </a:r>
            <a:r>
              <a:rPr sz="1400">
                <a:solidFill>
                  <a:srgbClr val="475569"/>
                </a:solidFill>
                <a:latin typeface="Segoe UI"/>
              </a:rPr>
              <a:t>  Schemas and infrastructure have no dependency on each other.</a:t>
            </a:r>
          </a:p>
          <a:p>
            <a:pPr>
              <a:lnSpc>
                <a:spcPct val="115000"/>
              </a:lnSpc>
              <a:spcAft>
                <a:spcPts val="1000"/>
              </a:spcAft>
            </a:pPr>
            <a:r>
              <a:rPr sz="1400" b="1">
                <a:solidFill>
                  <a:srgbClr val="0F172A"/>
                </a:solidFill>
                <a:latin typeface="Segoe UI"/>
              </a:rPr>
              <a:t>#10 cannot start early.</a:t>
            </a:r>
            <a:r>
              <a:rPr sz="1400">
                <a:solidFill>
                  <a:srgbClr val="475569"/>
                </a:solidFill>
                <a:latin typeface="Segoe UI"/>
              </a:rPr>
              <a:t>  The eval harness needs both working search (#6) and a seeded registry (#9). It is the last real work of the phase and the one that produces the answer.</a:t>
            </a:r>
          </a:p>
          <a:p>
            <a:pPr>
              <a:lnSpc>
                <a:spcPct val="115000"/>
              </a:lnSpc>
              <a:spcAft>
                <a:spcPts val="1000"/>
              </a:spcAft>
            </a:pPr>
            <a:r>
              <a:rPr sz="1400" b="1">
                <a:solidFill>
                  <a:srgbClr val="0F172A"/>
                </a:solidFill>
                <a:latin typeface="Segoe UI"/>
              </a:rPr>
              <a:t>Nearly half the phase is #9 plus #10.</a:t>
            </a:r>
            <a:r>
              <a:rPr sz="1400">
                <a:solidFill>
                  <a:srgbClr val="475569"/>
                </a:solidFill>
                <a:latin typeface="Segoe UI"/>
              </a:rPr>
              <a:t>  That is correct, not a mis-estimate. Those two decide whether Phase 0 produces evidence or noise.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GATE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Recall@3 of 0.9, or the gap log means nothing</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2743200"/>
          </a:xfrm>
          <a:prstGeom prst="rect">
            <a:avLst/>
          </a:prstGeom>
          <a:noFill/>
        </p:spPr>
        <p:txBody>
          <a:bodyPr wrap="square" lIns="0" rIns="0" tIns="0" bIns="0">
            <a:spAutoFit/>
          </a:bodyPr>
          <a:lstStyle/>
          <a:p>
            <a:pPr>
              <a:lnSpc>
                <a:spcPct val="115000"/>
              </a:lnSpc>
              <a:spcAft>
                <a:spcPts val="1000"/>
              </a:spcAft>
            </a:pPr>
            <a:r>
              <a:rPr sz="1500" b="1">
                <a:solidFill>
                  <a:srgbClr val="0F172A"/>
                </a:solidFill>
                <a:latin typeface="Segoe UI"/>
              </a:rPr>
              <a:t>50+ labelled queries.</a:t>
            </a:r>
            <a:r>
              <a:rPr sz="1500">
                <a:solidFill>
                  <a:srgbClr val="475569"/>
                </a:solidFill>
                <a:latin typeface="Segoe UI"/>
              </a:rPr>
              <a:t>  Each written against the seeded set and labelled with the tool that should win.</a:t>
            </a:r>
          </a:p>
          <a:p>
            <a:pPr>
              <a:lnSpc>
                <a:spcPct val="115000"/>
              </a:lnSpc>
              <a:spcAft>
                <a:spcPts val="1000"/>
              </a:spcAft>
            </a:pPr>
            <a:r>
              <a:rPr sz="1500" b="1">
                <a:solidFill>
                  <a:srgbClr val="0F172A"/>
                </a:solidFill>
                <a:latin typeface="Segoe UI"/>
              </a:rPr>
              <a:t>About 15 with no correct answer.</a:t>
            </a:r>
            <a:r>
              <a:rPr sz="1500">
                <a:solidFill>
                  <a:srgbClr val="475569"/>
                </a:solidFill>
                <a:latin typeface="Segoe UI"/>
              </a:rPr>
              <a:t>  Genuine gaps, known in advance. Without these the harness cannot measure whether real gaps are detected.</a:t>
            </a:r>
          </a:p>
          <a:p>
            <a:pPr>
              <a:lnSpc>
                <a:spcPct val="115000"/>
              </a:lnSpc>
              <a:spcAft>
                <a:spcPts val="1000"/>
              </a:spcAft>
            </a:pPr>
            <a:r>
              <a:rPr sz="1500" b="1">
                <a:solidFill>
                  <a:srgbClr val="0F172A"/>
                </a:solidFill>
                <a:latin typeface="Segoe UI"/>
              </a:rPr>
              <a:t>Three numbers reported.</a:t>
            </a:r>
            <a:r>
              <a:rPr sz="1500">
                <a:solidFill>
                  <a:srgbClr val="475569"/>
                </a:solidFill>
                <a:latin typeface="Segoe UI"/>
              </a:rPr>
              <a:t>  recall@1, recall@3, and the false-gap rate — gaps logged where a correct tool existed and search simply missed it.</a:t>
            </a:r>
          </a:p>
          <a:p>
            <a:pPr>
              <a:lnSpc>
                <a:spcPct val="115000"/>
              </a:lnSpc>
              <a:spcAft>
                <a:spcPts val="1000"/>
              </a:spcAft>
            </a:pPr>
            <a:r>
              <a:rPr sz="1500" b="1">
                <a:solidFill>
                  <a:srgbClr val="0F172A"/>
                </a:solidFill>
                <a:latin typeface="Segoe UI"/>
              </a:rPr>
              <a:t>The gate.</a:t>
            </a:r>
            <a:r>
              <a:rPr sz="1500">
                <a:solidFill>
                  <a:srgbClr val="475569"/>
                </a:solidFill>
                <a:latin typeface="Segoe UI"/>
              </a:rPr>
              <a:t>  Until recall@3 reaches 0.9, no gap is treated as evidence of anything. The number is recorded in the findings either way.</a:t>
            </a:r>
          </a:p>
        </p:txBody>
      </p:sp>
      <p:sp>
        <p:nvSpPr>
          <p:cNvPr id="6" name="Rounded Rectangle 5"/>
          <p:cNvSpPr/>
          <p:nvPr/>
        </p:nvSpPr>
        <p:spPr>
          <a:xfrm>
            <a:off x="777240" y="5029200"/>
            <a:ext cx="10515600" cy="109728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5248656"/>
            <a:ext cx="9966960" cy="731520"/>
          </a:xfrm>
          <a:prstGeom prst="rect">
            <a:avLst/>
          </a:prstGeom>
          <a:noFill/>
        </p:spPr>
        <p:txBody>
          <a:bodyPr wrap="square" lIns="0" rIns="0" tIns="0" bIns="0">
            <a:spAutoFit/>
          </a:bodyPr>
          <a:lstStyle/>
          <a:p>
            <a:pPr algn="l">
              <a:lnSpc>
                <a:spcPct val="115000"/>
              </a:lnSpc>
            </a:pPr>
            <a:r>
              <a:rPr sz="1400" b="1">
                <a:solidFill>
                  <a:srgbClr val="991B1B"/>
                </a:solidFill>
                <a:latin typeface="Segoe UI"/>
              </a:rPr>
              <a:t>A 50-query set can show that search is badly broken. It cannot prove search is good. Treat 0.9 as a floor for proceeding, never as a claim of quality.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RISKS</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What could make this phase produce noise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4206240"/>
          </a:xfrm>
          <a:prstGeom prst="rect">
            <a:avLst/>
          </a:prstGeom>
          <a:noFill/>
        </p:spPr>
        <p:txBody>
          <a:bodyPr wrap="square" lIns="0" rIns="0" tIns="0" bIns="0">
            <a:spAutoFit/>
          </a:bodyPr>
          <a:lstStyle/>
          <a:p>
            <a:pPr>
              <a:lnSpc>
                <a:spcPct val="115000"/>
              </a:lnSpc>
              <a:spcAft>
                <a:spcPts val="1100"/>
              </a:spcAft>
            </a:pPr>
            <a:r>
              <a:rPr sz="1400" b="1">
                <a:solidFill>
                  <a:srgbClr val="0F172A"/>
                </a:solidFill>
                <a:latin typeface="Segoe UI"/>
              </a:rPr>
              <a:t>Tool descriptions set the ceiling.</a:t>
            </a:r>
            <a:r>
              <a:rPr sz="1400">
                <a:solidFill>
                  <a:srgbClr val="475569"/>
                </a:solidFill>
                <a:latin typeface="Segoe UI"/>
              </a:rPr>
              <a:t>  Twenty carelessly written descriptions produce bad recall and a gap log full of false gaps — and the phase will have measured your writing, not the idea.</a:t>
            </a:r>
          </a:p>
          <a:p>
            <a:pPr>
              <a:lnSpc>
                <a:spcPct val="115000"/>
              </a:lnSpc>
              <a:spcAft>
                <a:spcPts val="1100"/>
              </a:spcAft>
            </a:pPr>
            <a:r>
              <a:rPr sz="1400" b="1">
                <a:solidFill>
                  <a:srgbClr val="0F172A"/>
                </a:solidFill>
                <a:latin typeface="Segoe UI"/>
              </a:rPr>
              <a:t>Threshold T does a lot of quiet work.</a:t>
            </a:r>
            <a:r>
              <a:rPr sz="1400">
                <a:solidFill>
                  <a:srgbClr val="475569"/>
                </a:solidFill>
                <a:latin typeface="Segoe UI"/>
              </a:rPr>
              <a:t>  Too low and nothing logs; too high and everything does. Recording T on each gap record keeps old gaps honest when the value changes.</a:t>
            </a:r>
          </a:p>
          <a:p>
            <a:pPr>
              <a:lnSpc>
                <a:spcPct val="115000"/>
              </a:lnSpc>
              <a:spcAft>
                <a:spcPts val="1100"/>
              </a:spcAft>
            </a:pPr>
            <a:r>
              <a:rPr sz="1400" b="1">
                <a:solidFill>
                  <a:srgbClr val="0F172A"/>
                </a:solidFill>
                <a:latin typeface="Segoe UI"/>
              </a:rPr>
              <a:t>Bedrock region availability.</a:t>
            </a:r>
            <a:r>
              <a:rPr sz="1400">
                <a:solidFill>
                  <a:srgbClr val="475569"/>
                </a:solidFill>
                <a:latin typeface="Segoe UI"/>
              </a:rPr>
              <a:t>  Titan Text Embeddings V2 is not in every region. Confirm it before issue #5 or the pipeline stalls.</a:t>
            </a:r>
          </a:p>
          <a:p>
            <a:pPr>
              <a:lnSpc>
                <a:spcPct val="115000"/>
              </a:lnSpc>
              <a:spcAft>
                <a:spcPts val="1100"/>
              </a:spcAft>
            </a:pPr>
            <a:r>
              <a:rPr sz="1400" b="1">
                <a:solidFill>
                  <a:srgbClr val="0F172A"/>
                </a:solidFill>
                <a:latin typeface="Segoe UI"/>
              </a:rPr>
              <a:t>Cold start is not a technical problem.</a:t>
            </a:r>
            <a:r>
              <a:rPr sz="1400">
                <a:solidFill>
                  <a:srgbClr val="475569"/>
                </a:solidFill>
                <a:latin typeface="Segoe UI"/>
              </a:rPr>
              <a:t>  Two-sided marketplace: no agents without tools, no tools without agent traffic. Seeding is the mitigation, and the gaps board is a product on its own.</a:t>
            </a:r>
          </a:p>
          <a:p>
            <a:pPr>
              <a:lnSpc>
                <a:spcPct val="115000"/>
              </a:lnSpc>
              <a:spcAft>
                <a:spcPts val="1100"/>
              </a:spcAft>
            </a:pPr>
            <a:r>
              <a:rPr sz="1400" b="1">
                <a:solidFill>
                  <a:srgbClr val="0F172A"/>
                </a:solidFill>
                <a:latin typeface="Segoe UI"/>
              </a:rPr>
              <a:t>The 6-month account clock.</a:t>
            </a:r>
            <a:r>
              <a:rPr sz="1400">
                <a:solidFill>
                  <a:srgbClr val="475569"/>
                </a:solidFill>
                <a:latin typeface="Segoe UI"/>
              </a:rPr>
              <a:t>  Under the Free Plan the account closes when credits run out. Everything lives in CDK so a rebuild in a fresh account is one command.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OPEN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200" b="1">
                <a:solidFill>
                  <a:srgbClr val="0F172A"/>
                </a:solidFill>
                <a:latin typeface="Segoe UI"/>
              </a:rPr>
              <a:t>Eight assumptions to confirm or overrule</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None of these were specified in PROJECT.md or CLAUDE.md.</a:t>
            </a:r>
          </a:p>
        </p:txBody>
      </p:sp>
      <p:graphicFrame>
        <p:nvGraphicFramePr>
          <p:cNvPr id="6" name="Table 5"/>
          <p:cNvGraphicFramePr>
            <a:graphicFrameLocks noGrp="1"/>
          </p:cNvGraphicFramePr>
          <p:nvPr/>
        </p:nvGraphicFramePr>
        <p:xfrm>
          <a:off x="777240" y="2395727"/>
          <a:ext cx="10515600" cy="2651760"/>
        </p:xfrm>
        <a:graphic>
          <a:graphicData uri="http://schemas.openxmlformats.org/drawingml/2006/table">
            <a:tbl>
              <a:tblPr firstRow="1" bandRow="1">
                <a:tableStyleId>{5C22544A-7EE6-4342-B048-85BDC9FD1C3A}</a:tableStyleId>
              </a:tblPr>
              <a:tblGrid>
                <a:gridCol w="2011680"/>
                <a:gridCol w="3200400"/>
                <a:gridCol w="5303520"/>
              </a:tblGrid>
              <a:tr h="294640">
                <a:tc>
                  <a:txBody>
                    <a:bodyPr/>
                    <a:lstStyle/>
                    <a:p>
                      <a:r>
                        <a:rPr sz="1100" b="1">
                          <a:solidFill>
                            <a:srgbClr val="FFFFFF"/>
                          </a:solidFill>
                          <a:latin typeface="Segoe UI"/>
                        </a:rPr>
                        <a:t>Decision</a:t>
                      </a:r>
                    </a:p>
                  </a:txBody>
                  <a:tcPr>
                    <a:solidFill>
                      <a:srgbClr val="0F172A"/>
                    </a:solidFill>
                  </a:tcPr>
                </a:tc>
                <a:tc>
                  <a:txBody>
                    <a:bodyPr/>
                    <a:lstStyle/>
                    <a:p>
                      <a:r>
                        <a:rPr sz="1100" b="1">
                          <a:solidFill>
                            <a:srgbClr val="FFFFFF"/>
                          </a:solidFill>
                          <a:latin typeface="Segoe UI"/>
                        </a:rPr>
                        <a:t>Assumed</a:t>
                      </a:r>
                    </a:p>
                  </a:txBody>
                  <a:tcPr>
                    <a:solidFill>
                      <a:srgbClr val="0F172A"/>
                    </a:solidFill>
                  </a:tcPr>
                </a:tc>
                <a:tc>
                  <a:txBody>
                    <a:bodyPr/>
                    <a:lstStyle/>
                    <a:p>
                      <a:r>
                        <a:rPr sz="1100" b="1">
                          <a:solidFill>
                            <a:srgbClr val="FFFFFF"/>
                          </a:solidFill>
                          <a:latin typeface="Segoe UI"/>
                        </a:rPr>
                        <a:t>Why</a:t>
                      </a:r>
                    </a:p>
                  </a:txBody>
                  <a:tcPr>
                    <a:solidFill>
                      <a:srgbClr val="0F172A"/>
                    </a:solidFill>
                  </a:tcPr>
                </a:tc>
              </a:tr>
              <a:tr h="294640">
                <a:tc>
                  <a:txBody>
                    <a:bodyPr/>
                    <a:lstStyle/>
                    <a:p>
                      <a:r>
                        <a:rPr sz="1100">
                          <a:solidFill>
                            <a:srgbClr val="475569"/>
                          </a:solidFill>
                          <a:latin typeface="Segoe UI"/>
                        </a:rPr>
                        <a:t>Language</a:t>
                      </a:r>
                    </a:p>
                  </a:txBody>
                  <a:tcPr>
                    <a:solidFill>
                      <a:srgbClr val="FFFFFF"/>
                    </a:solidFill>
                  </a:tcPr>
                </a:tc>
                <a:tc>
                  <a:txBody>
                    <a:bodyPr/>
                    <a:lstStyle/>
                    <a:p>
                      <a:r>
                        <a:rPr sz="1100">
                          <a:solidFill>
                            <a:srgbClr val="475569"/>
                          </a:solidFill>
                          <a:latin typeface="Segoe UI"/>
                        </a:rPr>
                        <a:t>TypeScript / Node 20</a:t>
                      </a:r>
                    </a:p>
                  </a:txBody>
                  <a:tcPr>
                    <a:solidFill>
                      <a:srgbClr val="FFFFFF"/>
                    </a:solidFill>
                  </a:tcPr>
                </a:tc>
                <a:tc>
                  <a:txBody>
                    <a:bodyPr/>
                    <a:lstStyle/>
                    <a:p>
                      <a:r>
                        <a:rPr sz="1100">
                          <a:solidFill>
                            <a:srgbClr val="475569"/>
                          </a:solidFill>
                          <a:latin typeface="Segoe UI"/>
                        </a:rPr>
                        <a:t>CLAUDE.md defines a tool as an MCP server</a:t>
                      </a:r>
                    </a:p>
                  </a:txBody>
                  <a:tcPr>
                    <a:solidFill>
                      <a:srgbClr val="FFFFFF"/>
                    </a:solidFill>
                  </a:tcPr>
                </a:tc>
              </a:tr>
              <a:tr h="294640">
                <a:tc>
                  <a:txBody>
                    <a:bodyPr/>
                    <a:lstStyle/>
                    <a:p>
                      <a:r>
                        <a:rPr sz="1100">
                          <a:solidFill>
                            <a:srgbClr val="475569"/>
                          </a:solidFill>
                          <a:latin typeface="Segoe UI"/>
                        </a:rPr>
                        <a:t>Compute</a:t>
                      </a:r>
                    </a:p>
                  </a:txBody>
                  <a:tcPr>
                    <a:solidFill>
                      <a:srgbClr val="F8FAFC"/>
                    </a:solidFill>
                  </a:tcPr>
                </a:tc>
                <a:tc>
                  <a:txBody>
                    <a:bodyPr/>
                    <a:lstStyle/>
                    <a:p>
                      <a:r>
                        <a:rPr sz="1100">
                          <a:solidFill>
                            <a:srgbClr val="475569"/>
                          </a:solidFill>
                          <a:latin typeface="Segoe UI"/>
                        </a:rPr>
                        <a:t>Lambda + Function URLs</a:t>
                      </a:r>
                    </a:p>
                  </a:txBody>
                  <a:tcPr>
                    <a:solidFill>
                      <a:srgbClr val="F8FAFC"/>
                    </a:solidFill>
                  </a:tcPr>
                </a:tc>
                <a:tc>
                  <a:txBody>
                    <a:bodyPr/>
                    <a:lstStyle/>
                    <a:p>
                      <a:r>
                        <a:rPr sz="1100">
                          <a:solidFill>
                            <a:srgbClr val="475569"/>
                          </a:solidFill>
                          <a:latin typeface="Segoe UI"/>
                        </a:rPr>
                        <a:t>Always free; skips API Gateway</a:t>
                      </a:r>
                    </a:p>
                  </a:txBody>
                  <a:tcPr>
                    <a:solidFill>
                      <a:srgbClr val="F8FAFC"/>
                    </a:solidFill>
                  </a:tcPr>
                </a:tc>
              </a:tr>
              <a:tr h="294640">
                <a:tc>
                  <a:txBody>
                    <a:bodyPr/>
                    <a:lstStyle/>
                    <a:p>
                      <a:r>
                        <a:rPr sz="1100">
                          <a:solidFill>
                            <a:srgbClr val="475569"/>
                          </a:solidFill>
                          <a:latin typeface="Segoe UI"/>
                        </a:rPr>
                        <a:t>Store</a:t>
                      </a:r>
                    </a:p>
                  </a:txBody>
                  <a:tcPr>
                    <a:solidFill>
                      <a:srgbClr val="FFFFFF"/>
                    </a:solidFill>
                  </a:tcPr>
                </a:tc>
                <a:tc>
                  <a:txBody>
                    <a:bodyPr/>
                    <a:lstStyle/>
                    <a:p>
                      <a:r>
                        <a:rPr sz="1100">
                          <a:solidFill>
                            <a:srgbClr val="475569"/>
                          </a:solidFill>
                          <a:latin typeface="Segoe UI"/>
                        </a:rPr>
                        <a:t>DynamoDB</a:t>
                      </a:r>
                    </a:p>
                  </a:txBody>
                  <a:tcPr>
                    <a:solidFill>
                      <a:srgbClr val="FFFFFF"/>
                    </a:solidFill>
                  </a:tcPr>
                </a:tc>
                <a:tc>
                  <a:txBody>
                    <a:bodyPr/>
                    <a:lstStyle/>
                    <a:p>
                      <a:r>
                        <a:rPr sz="1100">
                          <a:solidFill>
                            <a:srgbClr val="475569"/>
                          </a:solidFill>
                          <a:latin typeface="Segoe UI"/>
                        </a:rPr>
                        <a:t>Always free at 25 GB</a:t>
                      </a:r>
                    </a:p>
                  </a:txBody>
                  <a:tcPr>
                    <a:solidFill>
                      <a:srgbClr val="FFFFFF"/>
                    </a:solidFill>
                  </a:tcPr>
                </a:tc>
              </a:tr>
              <a:tr h="294640">
                <a:tc>
                  <a:txBody>
                    <a:bodyPr/>
                    <a:lstStyle/>
                    <a:p>
                      <a:r>
                        <a:rPr sz="1100">
                          <a:solidFill>
                            <a:srgbClr val="475569"/>
                          </a:solidFill>
                          <a:latin typeface="Segoe UI"/>
                        </a:rPr>
                        <a:t>Vector search</a:t>
                      </a:r>
                    </a:p>
                  </a:txBody>
                  <a:tcPr>
                    <a:solidFill>
                      <a:srgbClr val="F8FAFC"/>
                    </a:solidFill>
                  </a:tcPr>
                </a:tc>
                <a:tc>
                  <a:txBody>
                    <a:bodyPr/>
                    <a:lstStyle/>
                    <a:p>
                      <a:r>
                        <a:rPr sz="1100">
                          <a:solidFill>
                            <a:srgbClr val="475569"/>
                          </a:solidFill>
                          <a:latin typeface="Segoe UI"/>
                        </a:rPr>
                        <a:t>Brute-force cosine</a:t>
                      </a:r>
                    </a:p>
                  </a:txBody>
                  <a:tcPr>
                    <a:solidFill>
                      <a:srgbClr val="F8FAFC"/>
                    </a:solidFill>
                  </a:tcPr>
                </a:tc>
                <a:tc>
                  <a:txBody>
                    <a:bodyPr/>
                    <a:lstStyle/>
                    <a:p>
                      <a:r>
                        <a:rPr sz="1100">
                          <a:solidFill>
                            <a:srgbClr val="475569"/>
                          </a:solidFill>
                          <a:latin typeface="Segoe UI"/>
                        </a:rPr>
                        <a:t>20 tools does not need a database</a:t>
                      </a:r>
                    </a:p>
                  </a:txBody>
                  <a:tcPr>
                    <a:solidFill>
                      <a:srgbClr val="F8FAFC"/>
                    </a:solidFill>
                  </a:tcPr>
                </a:tc>
              </a:tr>
              <a:tr h="294640">
                <a:tc>
                  <a:txBody>
                    <a:bodyPr/>
                    <a:lstStyle/>
                    <a:p>
                      <a:r>
                        <a:rPr sz="1100">
                          <a:solidFill>
                            <a:srgbClr val="475569"/>
                          </a:solidFill>
                          <a:latin typeface="Segoe UI"/>
                        </a:rPr>
                        <a:t>Embeddings</a:t>
                      </a:r>
                    </a:p>
                  </a:txBody>
                  <a:tcPr>
                    <a:solidFill>
                      <a:srgbClr val="FFFFFF"/>
                    </a:solidFill>
                  </a:tcPr>
                </a:tc>
                <a:tc>
                  <a:txBody>
                    <a:bodyPr/>
                    <a:lstStyle/>
                    <a:p>
                      <a:r>
                        <a:rPr sz="1100">
                          <a:solidFill>
                            <a:srgbClr val="475569"/>
                          </a:solidFill>
                          <a:latin typeface="Segoe UI"/>
                        </a:rPr>
                        <a:t>Bedrock Titan V2</a:t>
                      </a:r>
                    </a:p>
                  </a:txBody>
                  <a:tcPr>
                    <a:solidFill>
                      <a:srgbClr val="FFFFFF"/>
                    </a:solidFill>
                  </a:tcPr>
                </a:tc>
                <a:tc>
                  <a:txBody>
                    <a:bodyPr/>
                    <a:lstStyle/>
                    <a:p>
                      <a:r>
                        <a:rPr sz="1100">
                          <a:solidFill>
                            <a:srgbClr val="475569"/>
                          </a:solidFill>
                          <a:latin typeface="Segoe UI"/>
                        </a:rPr>
                        <a:t>Native to AWS, costs cents</a:t>
                      </a:r>
                    </a:p>
                  </a:txBody>
                  <a:tcPr>
                    <a:solidFill>
                      <a:srgbClr val="FFFFFF"/>
                    </a:solidFill>
                  </a:tcPr>
                </a:tc>
              </a:tr>
              <a:tr h="294640">
                <a:tc>
                  <a:txBody>
                    <a:bodyPr/>
                    <a:lstStyle/>
                    <a:p>
                      <a:r>
                        <a:rPr sz="1100">
                          <a:solidFill>
                            <a:srgbClr val="475569"/>
                          </a:solidFill>
                          <a:latin typeface="Segoe UI"/>
                        </a:rPr>
                        <a:t>IaC</a:t>
                      </a:r>
                    </a:p>
                  </a:txBody>
                  <a:tcPr>
                    <a:solidFill>
                      <a:srgbClr val="F8FAFC"/>
                    </a:solidFill>
                  </a:tcPr>
                </a:tc>
                <a:tc>
                  <a:txBody>
                    <a:bodyPr/>
                    <a:lstStyle/>
                    <a:p>
                      <a:r>
                        <a:rPr sz="1100">
                          <a:solidFill>
                            <a:srgbClr val="475569"/>
                          </a:solidFill>
                          <a:latin typeface="Segoe UI"/>
                        </a:rPr>
                        <a:t>AWS CDK (TypeScript)</a:t>
                      </a:r>
                    </a:p>
                  </a:txBody>
                  <a:tcPr>
                    <a:solidFill>
                      <a:srgbClr val="F8FAFC"/>
                    </a:solidFill>
                  </a:tcPr>
                </a:tc>
                <a:tc>
                  <a:txBody>
                    <a:bodyPr/>
                    <a:lstStyle/>
                    <a:p>
                      <a:r>
                        <a:rPr sz="1100">
                          <a:solidFill>
                            <a:srgbClr val="475569"/>
                          </a:solidFill>
                          <a:latin typeface="Segoe UI"/>
                        </a:rPr>
                        <a:t>Same language as the services</a:t>
                      </a:r>
                    </a:p>
                  </a:txBody>
                  <a:tcPr>
                    <a:solidFill>
                      <a:srgbClr val="F8FAFC"/>
                    </a:solidFill>
                  </a:tcPr>
                </a:tc>
              </a:tr>
              <a:tr h="294640">
                <a:tc>
                  <a:txBody>
                    <a:bodyPr/>
                    <a:lstStyle/>
                    <a:p>
                      <a:r>
                        <a:rPr sz="1100">
                          <a:solidFill>
                            <a:srgbClr val="475569"/>
                          </a:solidFill>
                          <a:latin typeface="Segoe UI"/>
                        </a:rPr>
                        <a:t>Surface</a:t>
                      </a:r>
                    </a:p>
                  </a:txBody>
                  <a:tcPr>
                    <a:solidFill>
                      <a:srgbClr val="FFFFFF"/>
                    </a:solidFill>
                  </a:tcPr>
                </a:tc>
                <a:tc>
                  <a:txBody>
                    <a:bodyPr/>
                    <a:lstStyle/>
                    <a:p>
                      <a:r>
                        <a:rPr sz="1100">
                          <a:solidFill>
                            <a:srgbClr val="475569"/>
                          </a:solidFill>
                          <a:latin typeface="Segoe UI"/>
                        </a:rPr>
                        <a:t>HTTP API + CLI only</a:t>
                      </a:r>
                    </a:p>
                  </a:txBody>
                  <a:tcPr>
                    <a:solidFill>
                      <a:srgbClr val="FFFFFF"/>
                    </a:solidFill>
                  </a:tcPr>
                </a:tc>
                <a:tc>
                  <a:txBody>
                    <a:bodyPr/>
                    <a:lstStyle/>
                    <a:p>
                      <a:r>
                        <a:rPr sz="1100">
                          <a:solidFill>
                            <a:srgbClr val="475569"/>
                          </a:solidFill>
                          <a:latin typeface="Segoe UI"/>
                        </a:rPr>
                        <a:t>The roadmap says read the log by hand</a:t>
                      </a:r>
                    </a:p>
                  </a:txBody>
                  <a:tcPr>
                    <a:solidFill>
                      <a:srgbClr val="FFFFFF"/>
                    </a:solidFill>
                  </a:tcPr>
                </a:tc>
              </a:tr>
              <a:tr h="294640">
                <a:tc>
                  <a:txBody>
                    <a:bodyPr/>
                    <a:lstStyle/>
                    <a:p>
                      <a:r>
                        <a:rPr sz="1100">
                          <a:solidFill>
                            <a:srgbClr val="475569"/>
                          </a:solidFill>
                          <a:latin typeface="Segoe UI"/>
                        </a:rPr>
                        <a:t>Execution</a:t>
                      </a:r>
                    </a:p>
                  </a:txBody>
                  <a:tcPr>
                    <a:solidFill>
                      <a:srgbClr val="F8FAFC"/>
                    </a:solidFill>
                  </a:tcPr>
                </a:tc>
                <a:tc>
                  <a:txBody>
                    <a:bodyPr/>
                    <a:lstStyle/>
                    <a:p>
                      <a:r>
                        <a:rPr sz="1100">
                          <a:solidFill>
                            <a:srgbClr val="475569"/>
                          </a:solidFill>
                          <a:latin typeface="Segoe UI"/>
                        </a:rPr>
                        <a:t>Out of scope</a:t>
                      </a:r>
                    </a:p>
                  </a:txBody>
                  <a:tcPr>
                    <a:solidFill>
                      <a:srgbClr val="F8FAFC"/>
                    </a:solidFill>
                  </a:tcPr>
                </a:tc>
                <a:tc>
                  <a:txBody>
                    <a:bodyPr/>
                    <a:lstStyle/>
                    <a:p>
                      <a:r>
                        <a:rPr sz="1100">
                          <a:solidFill>
                            <a:srgbClr val="475569"/>
                          </a:solidFill>
                          <a:latin typeface="Segoe UI"/>
                        </a:rPr>
                        <a:t>Keeps the sandbox invariant untriggered</a:t>
                      </a:r>
                    </a:p>
                  </a:txBody>
                  <a:tcPr>
                    <a:solidFill>
                      <a:srgbClr val="F8FAFC"/>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37160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NEXT</a:t>
            </a:r>
          </a:p>
        </p:txBody>
      </p:sp>
      <p:sp>
        <p:nvSpPr>
          <p:cNvPr id="4" name="TextBox 3"/>
          <p:cNvSpPr txBox="1"/>
          <p:nvPr/>
        </p:nvSpPr>
        <p:spPr>
          <a:xfrm>
            <a:off x="1005840" y="1783080"/>
            <a:ext cx="10241280" cy="731520"/>
          </a:xfrm>
          <a:prstGeom prst="rect">
            <a:avLst/>
          </a:prstGeom>
          <a:noFill/>
        </p:spPr>
        <p:txBody>
          <a:bodyPr wrap="square" lIns="0" rIns="0" tIns="0" bIns="0">
            <a:spAutoFit/>
          </a:bodyPr>
          <a:lstStyle/>
          <a:p>
            <a:pPr algn="l">
              <a:lnSpc>
                <a:spcPct val="100000"/>
              </a:lnSpc>
            </a:pPr>
            <a:r>
              <a:rPr sz="3800" b="1">
                <a:solidFill>
                  <a:srgbClr val="FFFFFF"/>
                </a:solidFill>
                <a:latin typeface="Segoe UI"/>
              </a:rPr>
              <a:t>Where this goes from here</a:t>
            </a:r>
          </a:p>
        </p:txBody>
      </p:sp>
      <p:sp>
        <p:nvSpPr>
          <p:cNvPr id="5" name="Oval 4"/>
          <p:cNvSpPr/>
          <p:nvPr/>
        </p:nvSpPr>
        <p:spPr>
          <a:xfrm>
            <a:off x="1005840" y="2944368"/>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1</a:t>
            </a:r>
          </a:p>
        </p:txBody>
      </p:sp>
      <p:sp>
        <p:nvSpPr>
          <p:cNvPr id="6" name="TextBox 5"/>
          <p:cNvSpPr txBox="1"/>
          <p:nvPr/>
        </p:nvSpPr>
        <p:spPr>
          <a:xfrm>
            <a:off x="1536192" y="2990088"/>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or overrule the eight assumptions</a:t>
            </a:r>
          </a:p>
        </p:txBody>
      </p:sp>
      <p:sp>
        <p:nvSpPr>
          <p:cNvPr id="7" name="Oval 6"/>
          <p:cNvSpPr/>
          <p:nvPr/>
        </p:nvSpPr>
        <p:spPr>
          <a:xfrm>
            <a:off x="1005840" y="3511296"/>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2</a:t>
            </a:r>
          </a:p>
        </p:txBody>
      </p:sp>
      <p:sp>
        <p:nvSpPr>
          <p:cNvPr id="8" name="TextBox 7"/>
          <p:cNvSpPr txBox="1"/>
          <p:nvPr/>
        </p:nvSpPr>
        <p:spPr>
          <a:xfrm>
            <a:off x="1536192" y="3557016"/>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the AWS account type — pre- or post-July-2025 free tier</a:t>
            </a:r>
          </a:p>
        </p:txBody>
      </p:sp>
      <p:sp>
        <p:nvSpPr>
          <p:cNvPr id="9" name="Oval 8"/>
          <p:cNvSpPr/>
          <p:nvPr/>
        </p:nvSpPr>
        <p:spPr>
          <a:xfrm>
            <a:off x="1005840" y="4078224"/>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3</a:t>
            </a:r>
          </a:p>
        </p:txBody>
      </p:sp>
      <p:sp>
        <p:nvSpPr>
          <p:cNvPr id="10" name="TextBox 9"/>
          <p:cNvSpPr txBox="1"/>
          <p:nvPr/>
        </p:nvSpPr>
        <p:spPr>
          <a:xfrm>
            <a:off x="1536192" y="4123944"/>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Confirm Bedrock Titan V2 is available in your chosen region</a:t>
            </a:r>
          </a:p>
        </p:txBody>
      </p:sp>
      <p:sp>
        <p:nvSpPr>
          <p:cNvPr id="11" name="Oval 10"/>
          <p:cNvSpPr/>
          <p:nvPr/>
        </p:nvSpPr>
        <p:spPr>
          <a:xfrm>
            <a:off x="1005840" y="4645152"/>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4</a:t>
            </a:r>
          </a:p>
        </p:txBody>
      </p:sp>
      <p:sp>
        <p:nvSpPr>
          <p:cNvPr id="12" name="TextBox 11"/>
          <p:cNvSpPr txBox="1"/>
          <p:nvPr/>
        </p:nvSpPr>
        <p:spPr>
          <a:xfrm>
            <a:off x="1536192" y="4690872"/>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Create issues #1-#12 in Endlessandothers/Endlessproject</a:t>
            </a:r>
          </a:p>
        </p:txBody>
      </p:sp>
      <p:sp>
        <p:nvSpPr>
          <p:cNvPr id="13" name="Oval 12"/>
          <p:cNvSpPr/>
          <p:nvPr/>
        </p:nvSpPr>
        <p:spPr>
          <a:xfrm>
            <a:off x="1005840" y="5212080"/>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5</a:t>
            </a:r>
          </a:p>
        </p:txBody>
      </p:sp>
      <p:sp>
        <p:nvSpPr>
          <p:cNvPr id="14" name="TextBox 13"/>
          <p:cNvSpPr txBox="1"/>
          <p:nvPr/>
        </p:nvSpPr>
        <p:spPr>
          <a:xfrm>
            <a:off x="1536192" y="5257800"/>
            <a:ext cx="9509760" cy="365760"/>
          </a:xfrm>
          <a:prstGeom prst="rect">
            <a:avLst/>
          </a:prstGeom>
          <a:noFill/>
        </p:spPr>
        <p:txBody>
          <a:bodyPr wrap="square" lIns="0" rIns="0" tIns="0" bIns="0">
            <a:spAutoFit/>
          </a:bodyPr>
          <a:lstStyle/>
          <a:p>
            <a:pPr algn="l">
              <a:lnSpc>
                <a:spcPct val="100000"/>
              </a:lnSpc>
            </a:pPr>
            <a:r>
              <a:rPr sz="1600" b="0">
                <a:solidFill>
                  <a:srgbClr val="FFFFFF"/>
                </a:solidFill>
                <a:latin typeface="Segoe UI"/>
              </a:rPr>
              <a:t>Start #1 and #3 in parallel</a:t>
            </a:r>
          </a:p>
        </p:txBody>
      </p:sp>
      <p:sp>
        <p:nvSpPr>
          <p:cNvPr id="15" name="TextBox 14"/>
          <p:cNvSpPr txBox="1"/>
          <p:nvPr/>
        </p:nvSpPr>
        <p:spPr>
          <a:xfrm>
            <a:off x="1005840" y="6035040"/>
            <a:ext cx="10058400" cy="274320"/>
          </a:xfrm>
          <a:prstGeom prst="rect">
            <a:avLst/>
          </a:prstGeom>
          <a:noFill/>
        </p:spPr>
        <p:txBody>
          <a:bodyPr wrap="square" lIns="0" rIns="0" tIns="0" bIns="0">
            <a:spAutoFit/>
          </a:bodyPr>
          <a:lstStyle/>
          <a:p>
            <a:pPr algn="l">
              <a:lnSpc>
                <a:spcPct val="100000"/>
              </a:lnSpc>
            </a:pPr>
            <a:r>
              <a:rPr sz="1100" b="0">
                <a:solidFill>
                  <a:srgbClr val="64748B"/>
                </a:solidFill>
                <a:latin typeface="Segoe UI"/>
              </a:rPr>
              <a:t>Plan: docs/plans/phase-0-plan.md   ·   Board: miro.com/app/board/uXjVHpGFCos=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