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Relationship Id="rId5" Type="http://schemas.openxmlformats.org/officeDocument/2006/relationships/image" Target="../media/image4.png"/><Relationship Id="rId6" Type="http://schemas.openxmlformats.org/officeDocument/2006/relationships/image" Target="../media/image5.png"/><Relationship Id="rId7" Type="http://schemas.openxmlformats.org/officeDocument/2006/relationships/image" Target="../media/image6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7.png"/><Relationship Id="rId4" Type="http://schemas.openxmlformats.org/officeDocument/2006/relationships/image" Target="../media/image2.png"/><Relationship Id="rId5" Type="http://schemas.openxmlformats.org/officeDocument/2006/relationships/image" Target="../media/image5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56032" cy="6858000"/>
          </a:xfrm>
          <a:prstGeom prst="rect">
            <a:avLst/>
          </a:prstGeom>
          <a:solidFill>
            <a:srgbClr val="ED71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005840" y="1874519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300" b="1">
                <a:solidFill>
                  <a:srgbClr val="ED7100"/>
                </a:solidFill>
                <a:latin typeface="Segoe UI"/>
              </a:rPr>
              <a:t>ENDLESS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05840" y="2286000"/>
            <a:ext cx="1024128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4600" b="1">
                <a:solidFill>
                  <a:srgbClr val="FFFFFF"/>
                </a:solidFill>
                <a:latin typeface="Segoe UI"/>
              </a:rPr>
              <a:t>Phase 2 — Gravity, trust, decay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05840" y="3474720"/>
            <a:ext cx="950976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700" b="0">
                <a:solidFill>
                  <a:srgbClr val="94A3B8"/>
                </a:solidFill>
                <a:latin typeface="Segoe UI"/>
              </a:rPr>
              <a:t>How a ranking earns trust. Tool-to-tool dependencies, brightness kept separate from</a:t>
            </a:r>
          </a:p>
          <a:p>
            <a:pPr>
              <a:lnSpc>
                <a:spcPct val="115000"/>
              </a:lnSpc>
            </a:pPr>
            <a:r>
              <a:rPr sz="1700" b="0">
                <a:solidFill>
                  <a:srgbClr val="94A3B8"/>
                </a:solidFill>
                <a:latin typeface="Segoe UI"/>
              </a:rPr>
              <a:t>mass, decay with a floor, and the first things Endless sells.</a:t>
            </a:r>
          </a:p>
        </p:txBody>
      </p:sp>
      <p:pic>
        <p:nvPicPr>
          <p:cNvPr id="6" name="Picture 5" descr="lambd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05840" y="4663440"/>
            <a:ext cx="502920" cy="502920"/>
          </a:xfrm>
          <a:prstGeom prst="rect">
            <a:avLst/>
          </a:prstGeom>
        </p:spPr>
      </p:pic>
      <p:pic>
        <p:nvPicPr>
          <p:cNvPr id="7" name="Picture 6" descr="dynamodb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664208" y="4663440"/>
            <a:ext cx="502920" cy="502920"/>
          </a:xfrm>
          <a:prstGeom prst="rect">
            <a:avLst/>
          </a:prstGeom>
        </p:spPr>
      </p:pic>
      <p:pic>
        <p:nvPicPr>
          <p:cNvPr id="8" name="Picture 7" descr="bedrock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322576" y="4663440"/>
            <a:ext cx="502920" cy="502920"/>
          </a:xfrm>
          <a:prstGeom prst="rect">
            <a:avLst/>
          </a:prstGeom>
        </p:spPr>
      </p:pic>
      <p:pic>
        <p:nvPicPr>
          <p:cNvPr id="9" name="Picture 8" descr="s3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980944" y="4663440"/>
            <a:ext cx="502920" cy="502920"/>
          </a:xfrm>
          <a:prstGeom prst="rect">
            <a:avLst/>
          </a:prstGeom>
        </p:spPr>
      </p:pic>
      <p:pic>
        <p:nvPicPr>
          <p:cNvPr id="10" name="Picture 9" descr="cloudfront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639312" y="4663440"/>
            <a:ext cx="502920" cy="502920"/>
          </a:xfrm>
          <a:prstGeom prst="rect">
            <a:avLst/>
          </a:prstGeom>
        </p:spPr>
      </p:pic>
      <p:pic>
        <p:nvPicPr>
          <p:cNvPr id="11" name="Picture 10" descr="eventbridge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297679" y="4663440"/>
            <a:ext cx="502920" cy="502920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1005840" y="5852160"/>
            <a:ext cx="10515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150" b="0">
                <a:solidFill>
                  <a:srgbClr val="64748B"/>
                </a:solidFill>
                <a:latin typeface="Segoe UI"/>
              </a:rPr>
              <a:t>Done when you would let a stranger's agent trust the ranking unsupervised.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502920"/>
            <a:ext cx="106070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100" b="1">
                <a:solidFill>
                  <a:srgbClr val="94A3B8"/>
                </a:solidFill>
                <a:latin typeface="Segoe UI"/>
              </a:rPr>
              <a:t>ABOUT THIS PHASE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" y="841248"/>
            <a:ext cx="106070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3100" b="1">
                <a:solidFill>
                  <a:srgbClr val="0F172A"/>
                </a:solidFill>
                <a:latin typeface="Segoe UI"/>
              </a:rPr>
              <a:t>What Phase 2 is for</a:t>
            </a:r>
          </a:p>
        </p:txBody>
      </p:sp>
      <p:sp>
        <p:nvSpPr>
          <p:cNvPr id="4" name="Rectangle 3"/>
          <p:cNvSpPr/>
          <p:nvPr/>
        </p:nvSpPr>
        <p:spPr>
          <a:xfrm>
            <a:off x="777240" y="1572768"/>
            <a:ext cx="1005840" cy="36576"/>
          </a:xfrm>
          <a:prstGeom prst="rect">
            <a:avLst/>
          </a:prstGeom>
          <a:solidFill>
            <a:srgbClr val="ED71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77240" y="1828800"/>
            <a:ext cx="5029200" cy="3108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30000"/>
              </a:lnSpc>
            </a:pPr>
            <a:r>
              <a:rPr sz="1500" b="0">
                <a:solidFill>
                  <a:srgbClr val="475569"/>
                </a:solidFill>
                <a:latin typeface="Segoe UI"/>
              </a:rPr>
              <a:t>Phase 0 proved the loop could be measured.</a:t>
            </a:r>
          </a:p>
          <a:p>
            <a:pPr>
              <a:lnSpc>
                <a:spcPct val="130000"/>
              </a:lnSpc>
            </a:pPr>
            <a:r>
              <a:rPr sz="1500" b="0">
                <a:solidFill>
                  <a:srgbClr val="475569"/>
                </a:solidFill>
                <a:latin typeface="Segoe UI"/>
              </a:rPr>
              <a:t>Phase 1 made it real: sandboxed execution, verified callers,</a:t>
            </a:r>
          </a:p>
          <a:p>
            <a:pPr>
              <a:lnSpc>
                <a:spcPct val="130000"/>
              </a:lnSpc>
            </a:pPr>
            <a:r>
              <a:rPr sz="1500" b="0">
                <a:solidFill>
                  <a:srgbClr val="475569"/>
                </a:solidFill>
                <a:latin typeface="Segoe UI"/>
              </a:rPr>
              <a:t>unmet needs surfacing on their own.</a:t>
            </a:r>
          </a:p>
          <a:p>
            <a:pPr>
              <a:lnSpc>
                <a:spcPct val="130000"/>
              </a:lnSpc>
            </a:pPr>
            <a:r>
              <a:rPr sz="1500" b="0">
                <a:solidFill>
                  <a:srgbClr val="475569"/>
                </a:solidFill>
                <a:latin typeface="Segoe UI"/>
              </a:rPr>
              <a:t/>
            </a:r>
          </a:p>
          <a:p>
            <a:pPr>
              <a:lnSpc>
                <a:spcPct val="130000"/>
              </a:lnSpc>
            </a:pPr>
            <a:r>
              <a:rPr sz="1500" b="0">
                <a:solidFill>
                  <a:srgbClr val="475569"/>
                </a:solidFill>
                <a:latin typeface="Segoe UI"/>
              </a:rPr>
              <a:t>Neither phase asked the question this one does —</a:t>
            </a:r>
          </a:p>
          <a:p>
            <a:pPr>
              <a:lnSpc>
                <a:spcPct val="130000"/>
              </a:lnSpc>
            </a:pPr>
            <a:r>
              <a:rPr sz="1500" b="0">
                <a:solidFill>
                  <a:srgbClr val="475569"/>
                </a:solidFill>
                <a:latin typeface="Segoe UI"/>
              </a:rPr>
              <a:t>is the ORDER trustworthy?</a:t>
            </a:r>
          </a:p>
          <a:p>
            <a:pPr>
              <a:lnSpc>
                <a:spcPct val="130000"/>
              </a:lnSpc>
            </a:pPr>
            <a:r>
              <a:rPr sz="1500" b="0">
                <a:solidFill>
                  <a:srgbClr val="475569"/>
                </a:solidFill>
                <a:latin typeface="Segoe UI"/>
              </a:rPr>
              <a:t/>
            </a:r>
          </a:p>
          <a:p>
            <a:pPr>
              <a:lnSpc>
                <a:spcPct val="130000"/>
              </a:lnSpc>
            </a:pPr>
            <a:r>
              <a:rPr sz="1500" b="0">
                <a:solidFill>
                  <a:srgbClr val="475569"/>
                </a:solidFill>
                <a:latin typeface="Segoe UI"/>
              </a:rPr>
              <a:t>Ranking is the product an agent actually consumes. It picks</a:t>
            </a:r>
          </a:p>
          <a:p>
            <a:pPr>
              <a:lnSpc>
                <a:spcPct val="130000"/>
              </a:lnSpc>
            </a:pPr>
            <a:r>
              <a:rPr sz="1500" b="0">
                <a:solidFill>
                  <a:srgbClr val="475569"/>
                </a:solidFill>
                <a:latin typeface="Segoe UI"/>
              </a:rPr>
              <a:t>the first result and calls it. If that order can be bought,</a:t>
            </a:r>
          </a:p>
          <a:p>
            <a:pPr>
              <a:lnSpc>
                <a:spcPct val="130000"/>
              </a:lnSpc>
            </a:pPr>
            <a:r>
              <a:rPr sz="1500" b="0">
                <a:solidFill>
                  <a:srgbClr val="475569"/>
                </a:solidFill>
                <a:latin typeface="Segoe UI"/>
              </a:rPr>
              <a:t>gamed, or is simply wrong, everything built so far is a</a:t>
            </a:r>
          </a:p>
          <a:p>
            <a:pPr>
              <a:lnSpc>
                <a:spcPct val="130000"/>
              </a:lnSpc>
            </a:pPr>
            <a:r>
              <a:rPr sz="1500" b="0">
                <a:solidFill>
                  <a:srgbClr val="475569"/>
                </a:solidFill>
                <a:latin typeface="Segoe UI"/>
              </a:rPr>
              <a:t>very careful pipeline delivering a bad answer.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126480" y="1828800"/>
            <a:ext cx="5257800" cy="1371600"/>
          </a:xfrm>
          <a:prstGeom prst="roundRect">
            <a:avLst>
              <a:gd name="adj" fmla="val 4000"/>
            </a:avLst>
          </a:prstGeom>
          <a:solidFill>
            <a:srgbClr val="FFF7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0" y="2011680"/>
            <a:ext cx="4709160" cy="10058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lnSpc>
                <a:spcPct val="115000"/>
              </a:lnSpc>
            </a:pPr>
            <a:r>
              <a:rPr sz="1400" b="1">
                <a:solidFill>
                  <a:srgbClr val="7C2D12"/>
                </a:solidFill>
                <a:latin typeface="Segoe UI"/>
              </a:rPr>
              <a:t>Phase 2 is the first phase where Endless sells something</a:t>
            </a:r>
          </a:p>
          <a:p>
            <a:pPr>
              <a:lnSpc>
                <a:spcPct val="115000"/>
              </a:lnSpc>
            </a:pPr>
            <a:r>
              <a:rPr sz="1400" b="1">
                <a:solidFill>
                  <a:srgbClr val="7C2D12"/>
                </a:solidFill>
                <a:latin typeface="Segoe UI"/>
              </a:rPr>
              <a:t>that touches what agents see.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355080" y="3429000"/>
            <a:ext cx="4846320" cy="2377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30000"/>
              </a:lnSpc>
            </a:pPr>
            <a:r>
              <a:rPr sz="1400" b="0">
                <a:solidFill>
                  <a:srgbClr val="475569"/>
                </a:solidFill>
                <a:latin typeface="Segoe UI"/>
              </a:rPr>
              <a:t>That is why the invariant — money never reaches agent-facing</a:t>
            </a:r>
          </a:p>
          <a:p>
            <a:pPr>
              <a:lnSpc>
                <a:spcPct val="130000"/>
              </a:lnSpc>
            </a:pPr>
            <a:r>
              <a:rPr sz="1400" b="0">
                <a:solidFill>
                  <a:srgbClr val="475569"/>
                </a:solidFill>
                <a:latin typeface="Segoe UI"/>
              </a:rPr>
              <a:t>ranking — stops being a sentence in a document and becomes</a:t>
            </a:r>
          </a:p>
          <a:p>
            <a:pPr>
              <a:lnSpc>
                <a:spcPct val="130000"/>
              </a:lnSpc>
            </a:pPr>
            <a:r>
              <a:rPr sz="1400" b="0">
                <a:solidFill>
                  <a:srgbClr val="475569"/>
                </a:solidFill>
                <a:latin typeface="Segoe UI"/>
              </a:rPr>
              <a:t>a test that runs on every scoring pass.</a:t>
            </a:r>
          </a:p>
          <a:p>
            <a:pPr>
              <a:lnSpc>
                <a:spcPct val="130000"/>
              </a:lnSpc>
            </a:pPr>
            <a:r>
              <a:rPr sz="1400" b="0">
                <a:solidFill>
                  <a:srgbClr val="475569"/>
                </a:solidFill>
                <a:latin typeface="Segoe UI"/>
              </a:rPr>
              <a:t/>
            </a:r>
          </a:p>
          <a:p>
            <a:pPr>
              <a:lnSpc>
                <a:spcPct val="130000"/>
              </a:lnSpc>
            </a:pPr>
            <a:r>
              <a:rPr sz="1400" b="0">
                <a:solidFill>
                  <a:srgbClr val="475569"/>
                </a:solidFill>
                <a:latin typeface="Segoe UI"/>
              </a:rPr>
              <a:t>It is also why brightness is tracked separately from mass</a:t>
            </a:r>
          </a:p>
          <a:p>
            <a:pPr>
              <a:lnSpc>
                <a:spcPct val="130000"/>
              </a:lnSpc>
            </a:pPr>
            <a:r>
              <a:rPr sz="1400" b="0">
                <a:solidFill>
                  <a:srgbClr val="475569"/>
                </a:solidFill>
                <a:latin typeface="Segoe UI"/>
              </a:rPr>
              <a:t>rather than folded into one score. A single number hides</a:t>
            </a:r>
          </a:p>
          <a:p>
            <a:pPr>
              <a:lnSpc>
                <a:spcPct val="130000"/>
              </a:lnSpc>
            </a:pPr>
            <a:r>
              <a:rPr sz="1400" b="0">
                <a:solidFill>
                  <a:srgbClr val="475569"/>
                </a:solidFill>
                <a:latin typeface="Segoe UI"/>
              </a:rPr>
              <a:t>which half of it moved, and the half that can be bought is</a:t>
            </a:r>
          </a:p>
          <a:p>
            <a:pPr>
              <a:lnSpc>
                <a:spcPct val="130000"/>
              </a:lnSpc>
            </a:pPr>
            <a:r>
              <a:rPr sz="1400" b="0">
                <a:solidFill>
                  <a:srgbClr val="475569"/>
                </a:solidFill>
                <a:latin typeface="Segoe UI"/>
              </a:rPr>
              <a:t>exactly the half you need to watch.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502920"/>
            <a:ext cx="106070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100" b="1">
                <a:solidFill>
                  <a:srgbClr val="94A3B8"/>
                </a:solidFill>
                <a:latin typeface="Segoe UI"/>
              </a:rPr>
              <a:t>STARTING POINT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" y="841248"/>
            <a:ext cx="106070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3100" b="1">
                <a:solidFill>
                  <a:srgbClr val="0F172A"/>
                </a:solidFill>
                <a:latin typeface="Segoe UI"/>
              </a:rPr>
              <a:t>What Phase 1 leaves behind</a:t>
            </a:r>
          </a:p>
        </p:txBody>
      </p:sp>
      <p:sp>
        <p:nvSpPr>
          <p:cNvPr id="4" name="Rectangle 3"/>
          <p:cNvSpPr/>
          <p:nvPr/>
        </p:nvSpPr>
        <p:spPr>
          <a:xfrm>
            <a:off x="777240" y="1572768"/>
            <a:ext cx="1005840" cy="36576"/>
          </a:xfrm>
          <a:prstGeom prst="rect">
            <a:avLst/>
          </a:prstGeom>
          <a:solidFill>
            <a:srgbClr val="ED71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777240" y="1828800"/>
          <a:ext cx="10515600" cy="234086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37360"/>
                <a:gridCol w="8778240"/>
              </a:tblGrid>
              <a:tr h="292608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</a:p>
                  </a:txBody>
                  <a:tcPr marL="91440" marR="73152" marT="27432" marB="27432" anchor="ctr"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Segoe UI"/>
                        </a:rPr>
                        <a:t>State at the end of Phase 1</a:t>
                      </a:r>
                    </a:p>
                  </a:txBody>
                  <a:tcPr marL="91440" marR="73152" marT="27432" marB="27432" anchor="ctr">
                    <a:solidFill>
                      <a:srgbClr val="0F172A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100" b="0">
                          <a:solidFill>
                            <a:srgbClr val="475569"/>
                          </a:solidFill>
                          <a:latin typeface="Segoe UI"/>
                        </a:rPr>
                        <a:t>Execution</a:t>
                      </a:r>
                    </a:p>
                  </a:txBody>
                  <a:tcPr marL="91440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100" b="0">
                          <a:solidFill>
                            <a:srgbClr val="475569"/>
                          </a:solidFill>
                          <a:latin typeface="Segoe UI"/>
                        </a:rPr>
                        <a:t>Sandboxed. 22 live escape attacks, gate clear. Unreviewed code cannot run.</a:t>
                      </a:r>
                    </a:p>
                  </a:txBody>
                  <a:tcPr marL="91440" marR="73152" marT="27432" marB="27432" anchor="ctr"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100" b="0">
                          <a:solidFill>
                            <a:srgbClr val="475569"/>
                          </a:solidFill>
                          <a:latin typeface="Segoe UI"/>
                        </a:rPr>
                        <a:t>Identity</a:t>
                      </a:r>
                    </a:p>
                  </a:txBody>
                  <a:tcPr marL="91440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100" b="0">
                          <a:solidFill>
                            <a:srgbClr val="475569"/>
                          </a:solidFill>
                          <a:latin typeface="Segoe UI"/>
                        </a:rPr>
                        <a:t>Hashed API keys. Every gap and call carries a verified caller and owner.</a:t>
                      </a:r>
                    </a:p>
                  </a:txBody>
                  <a:tcPr marL="91440" marR="73152" marT="27432" marB="27432" anchor="ctr"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100" b="0">
                          <a:solidFill>
                            <a:srgbClr val="475569"/>
                          </a:solidFill>
                          <a:latin typeface="Segoe UI"/>
                        </a:rPr>
                        <a:t>Demand</a:t>
                      </a:r>
                    </a:p>
                  </a:txBody>
                  <a:tcPr marL="91440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100" b="0">
                          <a:solidFill>
                            <a:srgbClr val="475569"/>
                          </a:solidFill>
                          <a:latin typeface="Segoe UI"/>
                        </a:rPr>
                        <a:t>Clustered nightly by meaning, counted by distinct callers, published.</a:t>
                      </a:r>
                    </a:p>
                  </a:txBody>
                  <a:tcPr marL="91440" marR="73152" marT="27432" marB="27432" anchor="ctr"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100" b="0">
                          <a:solidFill>
                            <a:srgbClr val="475569"/>
                          </a:solidFill>
                          <a:latin typeface="Segoe UI"/>
                        </a:rPr>
                        <a:t>Scoring</a:t>
                      </a:r>
                    </a:p>
                  </a:txBody>
                  <a:tcPr marL="91440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100" b="0">
                          <a:solidFill>
                            <a:srgbClr val="475569"/>
                          </a:solidFill>
                          <a:latin typeface="Segoe UI"/>
                        </a:rPr>
                        <a:t>Mass only, recomputed from the log. No brightness, no decay, no dependencies.</a:t>
                      </a:r>
                    </a:p>
                  </a:txBody>
                  <a:tcPr marL="91440" marR="73152" marT="27432" marB="27432" anchor="ctr"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100" b="0">
                          <a:solidFill>
                            <a:srgbClr val="475569"/>
                          </a:solidFill>
                          <a:latin typeface="Segoe UI"/>
                        </a:rPr>
                        <a:t>Money</a:t>
                      </a:r>
                    </a:p>
                  </a:txBody>
                  <a:tcPr marL="91440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100" b="0">
                          <a:solidFill>
                            <a:srgbClr val="475569"/>
                          </a:solidFill>
                          <a:latin typeface="Segoe UI"/>
                        </a:rPr>
                        <a:t>Publishing costs credits. Searching and calling are free.</a:t>
                      </a:r>
                    </a:p>
                  </a:txBody>
                  <a:tcPr marL="91440" marR="73152" marT="27432" marB="27432" anchor="ctr"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100" b="0">
                          <a:solidFill>
                            <a:srgbClr val="475569"/>
                          </a:solidFill>
                          <a:latin typeface="Segoe UI"/>
                        </a:rPr>
                        <a:t>Takedown</a:t>
                      </a:r>
                    </a:p>
                  </a:txBody>
                  <a:tcPr marL="91440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100" b="0">
                          <a:solidFill>
                            <a:srgbClr val="475569"/>
                          </a:solidFill>
                          <a:latin typeface="Segoe UI"/>
                        </a:rPr>
                        <a:t>Built. --revoke refuses a version on the very next call.</a:t>
                      </a:r>
                    </a:p>
                  </a:txBody>
                  <a:tcPr marL="91440" marR="73152" marT="27432" marB="27432" anchor="ctr"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100" b="0">
                          <a:solidFill>
                            <a:srgbClr val="475569"/>
                          </a:solidFill>
                          <a:latin typeface="Segoe UI"/>
                        </a:rPr>
                        <a:t>Users</a:t>
                      </a:r>
                    </a:p>
                  </a:txBody>
                  <a:tcPr marL="91440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100" b="0">
                          <a:solidFill>
                            <a:srgbClr val="475569"/>
                          </a:solidFill>
                          <a:latin typeface="Segoe UI"/>
                        </a:rPr>
                        <a:t>None. No stranger has ever published or called a tool.</a:t>
                      </a:r>
                    </a:p>
                  </a:txBody>
                  <a:tcPr marL="91440" marR="73152" marT="27432" marB="27432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Rounded Rectangle 5"/>
          <p:cNvSpPr/>
          <p:nvPr/>
        </p:nvSpPr>
        <p:spPr>
          <a:xfrm>
            <a:off x="777240" y="4526280"/>
            <a:ext cx="10515600" cy="960120"/>
          </a:xfrm>
          <a:prstGeom prst="roundRect">
            <a:avLst>
              <a:gd name="adj" fmla="val 4000"/>
            </a:avLst>
          </a:prstGeom>
          <a:solidFill>
            <a:srgbClr val="FFF7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51560" y="4709160"/>
            <a:ext cx="9966960" cy="5943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lnSpc>
                <a:spcPct val="115000"/>
              </a:lnSpc>
            </a:pPr>
            <a:r>
              <a:rPr sz="1350" b="1">
                <a:solidFill>
                  <a:srgbClr val="7C2D12"/>
                </a:solidFill>
                <a:latin typeface="Segoe UI"/>
              </a:rPr>
              <a:t>Three claims this project made about itself turned out to be false when measured, and all three</a:t>
            </a:r>
          </a:p>
          <a:p>
            <a:pPr>
              <a:lnSpc>
                <a:spcPct val="115000"/>
              </a:lnSpc>
            </a:pPr>
            <a:r>
              <a:rPr sz="1350" b="1">
                <a:solidFill>
                  <a:srgbClr val="7C2D12"/>
                </a:solidFill>
                <a:latin typeface="Segoe UI"/>
              </a:rPr>
              <a:t>were found by instrumenting rather than reasoning. Phase 2 assumes it will be four.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5669280"/>
            <a:ext cx="10515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5000"/>
              </a:lnSpc>
            </a:pPr>
            <a:r>
              <a:rPr sz="1250" b="0">
                <a:solidFill>
                  <a:srgbClr val="64748B"/>
                </a:solidFill>
                <a:latin typeface="Segoe UI"/>
              </a:rPr>
              <a:t>The wash-trading guard silently did not fire because one person had two owner strings. The sandbox</a:t>
            </a:r>
          </a:p>
          <a:p>
            <a:pPr>
              <a:lnSpc>
                <a:spcPct val="125000"/>
              </a:lnSpc>
            </a:pPr>
            <a:r>
              <a:rPr sz="1250" b="0">
                <a:solidFill>
                  <a:srgbClr val="64748B"/>
                </a:solidFill>
                <a:latin typeface="Segoe UI"/>
              </a:rPr>
              <a:t>claimed 'no IAM role' and 'no writable disk'; neither was true as written. A private analysis file was</a:t>
            </a:r>
          </a:p>
          <a:p>
            <a:pPr>
              <a:lnSpc>
                <a:spcPct val="125000"/>
              </a:lnSpc>
            </a:pPr>
            <a:r>
              <a:rPr sz="1250" b="0">
                <a:solidFill>
                  <a:srgbClr val="64748B"/>
                </a:solidFill>
                <a:latin typeface="Segoe UI"/>
              </a:rPr>
              <a:t>served on the open internet because a comment asserted it was not.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502920"/>
            <a:ext cx="106070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100" b="1">
                <a:solidFill>
                  <a:srgbClr val="94A3B8"/>
                </a:solidFill>
                <a:latin typeface="Segoe UI"/>
              </a:rPr>
              <a:t>SCOPE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" y="841248"/>
            <a:ext cx="106070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3100" b="1">
                <a:solidFill>
                  <a:srgbClr val="0F172A"/>
                </a:solidFill>
                <a:latin typeface="Segoe UI"/>
              </a:rPr>
              <a:t>What Phase 2 adds, and what it does not</a:t>
            </a:r>
          </a:p>
        </p:txBody>
      </p:sp>
      <p:sp>
        <p:nvSpPr>
          <p:cNvPr id="4" name="Rectangle 3"/>
          <p:cNvSpPr/>
          <p:nvPr/>
        </p:nvSpPr>
        <p:spPr>
          <a:xfrm>
            <a:off x="777240" y="1572768"/>
            <a:ext cx="1005840" cy="36576"/>
          </a:xfrm>
          <a:prstGeom prst="rect">
            <a:avLst/>
          </a:prstGeom>
          <a:solidFill>
            <a:srgbClr val="ED71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777240" y="1783080"/>
          <a:ext cx="10515600" cy="234086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257800"/>
                <a:gridCol w="5257800"/>
              </a:tblGrid>
              <a:tr h="292608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Segoe UI"/>
                        </a:rPr>
                        <a:t>Adds</a:t>
                      </a:r>
                    </a:p>
                  </a:txBody>
                  <a:tcPr marL="91440" marR="73152" marT="27432" marB="27432" anchor="ctr"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Segoe UI"/>
                        </a:rPr>
                        <a:t>Leaves alone</a:t>
                      </a:r>
                    </a:p>
                  </a:txBody>
                  <a:tcPr marL="91440" marR="73152" marT="27432" marB="27432" anchor="ctr">
                    <a:solidFill>
                      <a:srgbClr val="0F172A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100" b="0">
                          <a:solidFill>
                            <a:srgbClr val="475569"/>
                          </a:solidFill>
                          <a:latin typeface="Segoe UI"/>
                        </a:rPr>
                        <a:t>Tool-to-tool dependencies, recorded as a graph</a:t>
                      </a:r>
                    </a:p>
                  </a:txBody>
                  <a:tcPr marL="91440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100" b="0">
                          <a:solidFill>
                            <a:srgbClr val="475569"/>
                          </a:solidFill>
                          <a:latin typeface="Segoe UI"/>
                        </a:rPr>
                        <a:t>The sandbox. Nothing in Phase 2 touches it</a:t>
                      </a:r>
                    </a:p>
                  </a:txBody>
                  <a:tcPr marL="91440" marR="73152" marT="27432" marB="27432" anchor="ctr"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100" b="0">
                          <a:solidFill>
                            <a:srgbClr val="475569"/>
                          </a:solidFill>
                          <a:latin typeface="Segoe UI"/>
                        </a:rPr>
                        <a:t>Brightness: success rate and latency, tracked apart</a:t>
                      </a:r>
                    </a:p>
                  </a:txBody>
                  <a:tcPr marL="91440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100" b="0">
                          <a:solidFill>
                            <a:srgbClr val="475569"/>
                          </a:solidFill>
                          <a:latin typeface="Segoe UI"/>
                        </a:rPr>
                        <a:t>Retrieval and the gap adjudicator</a:t>
                      </a:r>
                    </a:p>
                  </a:txBody>
                  <a:tcPr marL="91440" marR="73152" marT="27432" marB="27432" anchor="ctr"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100" b="0">
                          <a:solidFill>
                            <a:srgbClr val="475569"/>
                          </a:solidFill>
                          <a:latin typeface="Segoe UI"/>
                        </a:rPr>
                        <a:t>Dependency weight, read off the real graph</a:t>
                      </a:r>
                    </a:p>
                  </a:txBody>
                  <a:tcPr marL="91440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100" b="0">
                          <a:solidFill>
                            <a:srgbClr val="475569"/>
                          </a:solidFill>
                          <a:latin typeface="Segoe UI"/>
                        </a:rPr>
                        <a:t>The review gate, other than applying it at depth</a:t>
                      </a:r>
                    </a:p>
                  </a:txBody>
                  <a:tcPr marL="91440" marR="73152" marT="27432" marB="27432" anchor="ctr"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100" b="0">
                          <a:solidFill>
                            <a:srgbClr val="475569"/>
                          </a:solidFill>
                          <a:latin typeface="Segoe UI"/>
                        </a:rPr>
                        <a:t>Decay curves and an archival floor</a:t>
                      </a:r>
                    </a:p>
                  </a:txBody>
                  <a:tcPr marL="91440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100" b="0">
                          <a:solidFill>
                            <a:srgbClr val="475569"/>
                          </a:solidFill>
                          <a:latin typeface="Segoe UI"/>
                        </a:rPr>
                        <a:t>Caller identity and the publication fee</a:t>
                      </a:r>
                    </a:p>
                  </a:txBody>
                  <a:tcPr marL="91440" marR="73152" marT="27432" marB="27432" anchor="ctr"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100" b="0">
                          <a:solidFill>
                            <a:srgbClr val="475569"/>
                          </a:solidFill>
                          <a:latin typeface="Segoe UI"/>
                        </a:rPr>
                        <a:t>Stasis: the first paid product touching visibility</a:t>
                      </a:r>
                    </a:p>
                  </a:txBody>
                  <a:tcPr marL="91440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100" b="0">
                          <a:solidFill>
                            <a:srgbClr val="475569"/>
                          </a:solidFill>
                          <a:latin typeface="Segoe UI"/>
                        </a:rPr>
                        <a:t>The 3D world itself — stasis is a flag, not a renderer</a:t>
                      </a:r>
                    </a:p>
                  </a:txBody>
                  <a:tcPr marL="91440" marR="73152" marT="27432" marB="27432" anchor="ctr"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100" b="0">
                          <a:solidFill>
                            <a:srgbClr val="475569"/>
                          </a:solidFill>
                          <a:latin typeface="Segoe UI"/>
                        </a:rPr>
                        <a:t>Bounties for closing a confirmed need</a:t>
                      </a:r>
                    </a:p>
                  </a:txBody>
                  <a:tcPr marL="91440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100" b="0">
                          <a:solidFill>
                            <a:srgbClr val="475569"/>
                          </a:solidFill>
                          <a:latin typeface="Segoe UI"/>
                        </a:rPr>
                        <a:t>Galaxies, routers and black holes (Phase 5)</a:t>
                      </a:r>
                    </a:p>
                  </a:txBody>
                  <a:tcPr marL="91440" marR="73152" marT="27432" marB="27432" anchor="ctr"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100" b="0">
                          <a:solidFill>
                            <a:srgbClr val="475569"/>
                          </a:solidFill>
                          <a:latin typeface="Segoe UI"/>
                        </a:rPr>
                        <a:t>Anti-gaming checks against the new surfaces</a:t>
                      </a:r>
                    </a:p>
                  </a:txBody>
                  <a:tcPr marL="91440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100" b="0">
                          <a:solidFill>
                            <a:srgbClr val="475569"/>
                          </a:solidFill>
                          <a:latin typeface="Segoe UI"/>
                        </a:rPr>
                        <a:t>Agents building their own tools (Phase 3)</a:t>
                      </a:r>
                    </a:p>
                  </a:txBody>
                  <a:tcPr marL="91440" marR="73152" marT="27432" marB="27432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Rounded Rectangle 5"/>
          <p:cNvSpPr/>
          <p:nvPr/>
        </p:nvSpPr>
        <p:spPr>
          <a:xfrm>
            <a:off x="777240" y="4297680"/>
            <a:ext cx="10515600" cy="868680"/>
          </a:xfrm>
          <a:prstGeom prst="roundRect">
            <a:avLst>
              <a:gd name="adj" fmla="val 4000"/>
            </a:avLst>
          </a:prstGeom>
          <a:solidFill>
            <a:srgbClr val="FFF7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51560" y="4480560"/>
            <a:ext cx="9966960" cy="502919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lnSpc>
                <a:spcPct val="115000"/>
              </a:lnSpc>
            </a:pPr>
            <a:r>
              <a:rPr sz="1350" b="1">
                <a:solidFill>
                  <a:srgbClr val="7C2D12"/>
                </a:solidFill>
                <a:latin typeface="Segoe UI"/>
              </a:rPr>
              <a:t>Brightness is tracked separately from mass on purpose. A tool can be large and dim, or small and bright,</a:t>
            </a:r>
          </a:p>
          <a:p>
            <a:pPr>
              <a:lnSpc>
                <a:spcPct val="115000"/>
              </a:lnSpc>
            </a:pPr>
            <a:r>
              <a:rPr sz="1350" b="1">
                <a:solidFill>
                  <a:srgbClr val="7C2D12"/>
                </a:solidFill>
                <a:latin typeface="Segoe UI"/>
              </a:rPr>
              <a:t>and collapsing that into one number destroys the only signal that says which.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5394960"/>
            <a:ext cx="1051560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5000"/>
              </a:lnSpc>
            </a:pPr>
            <a:r>
              <a:rPr sz="1250" b="0">
                <a:solidFill>
                  <a:srgbClr val="64748B"/>
                </a:solidFill>
                <a:latin typeface="Segoe UI"/>
              </a:rPr>
              <a:t>PROJECT.md's open question — does discovery blend mass and brightness, or does mass alone drive</a:t>
            </a:r>
          </a:p>
          <a:p>
            <a:pPr>
              <a:lnSpc>
                <a:spcPct val="125000"/>
              </a:lnSpc>
            </a:pPr>
            <a:r>
              <a:rPr sz="1250" b="0">
                <a:solidFill>
                  <a:srgbClr val="64748B"/>
                </a:solidFill>
                <a:latin typeface="Segoe UI"/>
              </a:rPr>
              <a:t>visibility? — is deliberately NOT answered by building a blend. Both are computed and published side by</a:t>
            </a:r>
          </a:p>
          <a:p>
            <a:pPr>
              <a:lnSpc>
                <a:spcPct val="125000"/>
              </a:lnSpc>
            </a:pPr>
            <a:r>
              <a:rPr sz="1250" b="0">
                <a:solidFill>
                  <a:srgbClr val="64748B"/>
                </a:solidFill>
                <a:latin typeface="Segoe UI"/>
              </a:rPr>
              <a:t>side; whether search ranks on either is a separate decision that needs a re-run of the eval harness,</a:t>
            </a:r>
          </a:p>
          <a:p>
            <a:pPr>
              <a:lnSpc>
                <a:spcPct val="125000"/>
              </a:lnSpc>
            </a:pPr>
            <a:r>
              <a:rPr sz="1250" b="0">
                <a:solidFill>
                  <a:srgbClr val="64748B"/>
                </a:solidFill>
                <a:latin typeface="Segoe UI"/>
              </a:rPr>
              <a:t>because changing ranking changes what Phase 0 measured.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502920"/>
            <a:ext cx="106070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100" b="1">
                <a:solidFill>
                  <a:srgbClr val="94A3B8"/>
                </a:solidFill>
                <a:latin typeface="Segoe UI"/>
              </a:rPr>
              <a:t>ARCHITECTURE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" y="841248"/>
            <a:ext cx="106070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3100" b="1">
                <a:solidFill>
                  <a:srgbClr val="0F172A"/>
                </a:solidFill>
                <a:latin typeface="Segoe UI"/>
              </a:rPr>
              <a:t>What changes, and where</a:t>
            </a:r>
          </a:p>
        </p:txBody>
      </p:sp>
      <p:sp>
        <p:nvSpPr>
          <p:cNvPr id="4" name="Rectangle 3"/>
          <p:cNvSpPr/>
          <p:nvPr/>
        </p:nvSpPr>
        <p:spPr>
          <a:xfrm>
            <a:off x="777240" y="1572768"/>
            <a:ext cx="1005840" cy="36576"/>
          </a:xfrm>
          <a:prstGeom prst="rect">
            <a:avLst/>
          </a:prstGeom>
          <a:solidFill>
            <a:srgbClr val="ED71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777240" y="1783080"/>
          <a:ext cx="10515600" cy="234086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20240"/>
                <a:gridCol w="8595360"/>
              </a:tblGrid>
              <a:tr h="292608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Segoe UI"/>
                        </a:rPr>
                        <a:t>Component</a:t>
                      </a:r>
                    </a:p>
                  </a:txBody>
                  <a:tcPr marL="91440" marR="73152" marT="27432" marB="27432" anchor="ctr"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Segoe UI"/>
                        </a:rPr>
                        <a:t>Phase 2 change</a:t>
                      </a:r>
                    </a:p>
                  </a:txBody>
                  <a:tcPr marL="91440" marR="73152" marT="27432" marB="27432" anchor="ctr">
                    <a:solidFill>
                      <a:srgbClr val="0F172A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100" b="0">
                          <a:solidFill>
                            <a:srgbClr val="475569"/>
                          </a:solidFill>
                          <a:latin typeface="Segoe UI"/>
                        </a:rPr>
                        <a:t>exec-fn</a:t>
                      </a:r>
                    </a:p>
                  </a:txBody>
                  <a:tcPr marL="91440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100" b="0">
                          <a:solidFill>
                            <a:srgbClr val="475569"/>
                          </a:solidFill>
                          <a:latin typeface="Segoe UI"/>
                        </a:rPr>
                        <a:t>Resolves declared dependencies before fetching. Recursion is in process, never Lambda self-invoke</a:t>
                      </a:r>
                    </a:p>
                  </a:txBody>
                  <a:tcPr marL="91440" marR="73152" marT="27432" marB="27432" anchor="ctr"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100" b="0">
                          <a:solidFill>
                            <a:srgbClr val="475569"/>
                          </a:solidFill>
                          <a:latin typeface="Segoe UI"/>
                        </a:rPr>
                        <a:t>deps.mjs</a:t>
                      </a:r>
                    </a:p>
                  </a:txBody>
                  <a:tcPr marL="91440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100" b="0">
                          <a:solidFill>
                            <a:srgbClr val="475569"/>
                          </a:solidFill>
                          <a:latin typeface="Segoe UI"/>
                        </a:rPr>
                        <a:t>Depth 3, breadth 4, cycles caught on the chain. Ordering checked at publication</a:t>
                      </a:r>
                    </a:p>
                  </a:txBody>
                  <a:tcPr marL="91440" marR="73152" marT="27432" marB="27432" anchor="ctr"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100" b="0">
                          <a:solidFill>
                            <a:srgbClr val="475569"/>
                          </a:solidFill>
                          <a:latin typeface="Segoe UI"/>
                        </a:rPr>
                        <a:t>tool-runtime</a:t>
                      </a:r>
                    </a:p>
                  </a:txBody>
                  <a:tcPr marL="91440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100" b="0">
                          <a:solidFill>
                            <a:srgbClr val="475569"/>
                          </a:solidFill>
                          <a:latin typeface="Segoe UI"/>
                        </a:rPr>
                        <a:t>Receives tools{} beside responses{}. Still no route, no credentials, no reachable filesystem</a:t>
                      </a:r>
                    </a:p>
                  </a:txBody>
                  <a:tcPr marL="91440" marR="73152" marT="27432" marB="27432" anchor="ctr"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100" b="0">
                          <a:solidFill>
                            <a:srgbClr val="475569"/>
                          </a:solidFill>
                          <a:latin typeface="Segoe UI"/>
                        </a:rPr>
                        <a:t>fetcher-fn</a:t>
                      </a:r>
                    </a:p>
                  </a:txBody>
                  <a:tcPr marL="91440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100" b="0">
                          <a:solidFill>
                            <a:srgbClr val="475569"/>
                          </a:solidFill>
                          <a:latin typeface="Segoe UI"/>
                        </a:rPr>
                        <a:t>Skipped entirely when a tool declares no requests</a:t>
                      </a:r>
                    </a:p>
                  </a:txBody>
                  <a:tcPr marL="91440" marR="73152" marT="27432" marB="27432" anchor="ctr"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100" b="0">
                          <a:solidFill>
                            <a:srgbClr val="475569"/>
                          </a:solidFill>
                          <a:latin typeface="Segoe UI"/>
                        </a:rPr>
                        <a:t>events table</a:t>
                      </a:r>
                    </a:p>
                  </a:txBody>
                  <a:tcPr marL="91440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100" b="0">
                          <a:solidFill>
                            <a:srgbClr val="475569"/>
                          </a:solidFill>
                          <a:latin typeface="Segoe UI"/>
                        </a:rPr>
                        <a:t>Now carries via_tool, depth and root_call_id — this is what makes the graph real</a:t>
                      </a:r>
                    </a:p>
                  </a:txBody>
                  <a:tcPr marL="91440" marR="73152" marT="27432" marB="27432" anchor="ctr"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100" b="0">
                          <a:solidFill>
                            <a:srgbClr val="475569"/>
                          </a:solidFill>
                          <a:latin typeface="Segoe UI"/>
                        </a:rPr>
                        <a:t>cluster-fn</a:t>
                      </a:r>
                    </a:p>
                  </a:txBody>
                  <a:tcPr marL="91440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100" b="0">
                          <a:solidFill>
                            <a:srgbClr val="475569"/>
                          </a:solidFill>
                          <a:latin typeface="Segoe UI"/>
                        </a:rPr>
                        <a:t>Gains brightness, dependency weight and decay. Still nightly, still off the hot path</a:t>
                      </a:r>
                    </a:p>
                  </a:txBody>
                  <a:tcPr marL="91440" marR="73152" marT="27432" marB="27432" anchor="ctr"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100" b="0">
                          <a:solidFill>
                            <a:srgbClr val="475569"/>
                          </a:solidFill>
                          <a:latin typeface="Segoe UI"/>
                        </a:rPr>
                        <a:t>board</a:t>
                      </a:r>
                    </a:p>
                  </a:txBody>
                  <a:tcPr marL="91440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100" b="0">
                          <a:solidFill>
                            <a:srgbClr val="475569"/>
                          </a:solidFill>
                          <a:latin typeface="Segoe UI"/>
                        </a:rPr>
                        <a:t>tools.json publishes mass and brightness side by side; a bounties view is added</a:t>
                      </a:r>
                    </a:p>
                  </a:txBody>
                  <a:tcPr marL="91440" marR="73152" marT="27432" marB="27432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Rounded Rectangle 5"/>
          <p:cNvSpPr/>
          <p:nvPr/>
        </p:nvSpPr>
        <p:spPr>
          <a:xfrm>
            <a:off x="777240" y="4251960"/>
            <a:ext cx="10515600" cy="914400"/>
          </a:xfrm>
          <a:prstGeom prst="roundRect">
            <a:avLst>
              <a:gd name="adj" fmla="val 4000"/>
            </a:avLst>
          </a:prstGeom>
          <a:solidFill>
            <a:srgbClr val="FFF7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51560" y="4434840"/>
            <a:ext cx="996696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lnSpc>
                <a:spcPct val="115000"/>
              </a:lnSpc>
            </a:pPr>
            <a:r>
              <a:rPr sz="1350" b="1">
                <a:solidFill>
                  <a:srgbClr val="7C2D12"/>
                </a:solidFill>
                <a:latin typeface="Segoe UI"/>
              </a:rPr>
              <a:t>No new DynamoDB table. The free-tier budget is at 23 of 25 RCU/WCU, and every Phase 2 output is</a:t>
            </a:r>
          </a:p>
          <a:p>
            <a:pPr>
              <a:lnSpc>
                <a:spcPct val="115000"/>
              </a:lnSpc>
            </a:pPr>
            <a:r>
              <a:rPr sz="1350" b="1">
                <a:solidFill>
                  <a:srgbClr val="7C2D12"/>
                </a:solidFill>
                <a:latin typeface="Segoe UI"/>
              </a:rPr>
              <a:t>derived — so it belongs in a snapshot that can be thrown away and rebuilt, not in a table.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5394960"/>
            <a:ext cx="105156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5000"/>
              </a:lnSpc>
            </a:pPr>
            <a:r>
              <a:rPr sz="1250" b="0">
                <a:solidFill>
                  <a:srgbClr val="64748B"/>
                </a:solidFill>
                <a:latin typeface="Segoe UI"/>
              </a:rPr>
              <a:t>Nothing Phase 2 computes is stored as the only record of what happened. Mass, brightness, dependency</a:t>
            </a:r>
          </a:p>
          <a:p>
            <a:pPr>
              <a:lnSpc>
                <a:spcPct val="125000"/>
              </a:lnSpc>
            </a:pPr>
            <a:r>
              <a:rPr sz="1250" b="0">
                <a:solidFill>
                  <a:srgbClr val="64748B"/>
                </a:solidFill>
                <a:latin typeface="Segoe UI"/>
              </a:rPr>
              <a:t>weight and decay are all replayed from the append-only event log on every run — so a scoring rule can</a:t>
            </a:r>
          </a:p>
          <a:p>
            <a:pPr>
              <a:lnSpc>
                <a:spcPct val="125000"/>
              </a:lnSpc>
            </a:pPr>
            <a:r>
              <a:rPr sz="1250" b="0">
                <a:solidFill>
                  <a:srgbClr val="64748B"/>
                </a:solidFill>
                <a:latin typeface="Segoe UI"/>
              </a:rPr>
              <a:t>change and the whole of history is rescored under it.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502920"/>
            <a:ext cx="106070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100" b="1">
                <a:solidFill>
                  <a:srgbClr val="94A3B8"/>
                </a:solidFill>
                <a:latin typeface="Segoe UI"/>
              </a:rPr>
              <a:t>THE BOARD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" y="841248"/>
            <a:ext cx="106070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3100" b="1">
                <a:solidFill>
                  <a:srgbClr val="0F172A"/>
                </a:solidFill>
                <a:latin typeface="Segoe UI"/>
              </a:rPr>
              <a:t>Where the Phase 2 frame sits</a:t>
            </a:r>
          </a:p>
        </p:txBody>
      </p:sp>
      <p:sp>
        <p:nvSpPr>
          <p:cNvPr id="4" name="Rectangle 3"/>
          <p:cNvSpPr/>
          <p:nvPr/>
        </p:nvSpPr>
        <p:spPr>
          <a:xfrm>
            <a:off x="777240" y="1572768"/>
            <a:ext cx="1005840" cy="36576"/>
          </a:xfrm>
          <a:prstGeom prst="rect">
            <a:avLst/>
          </a:prstGeom>
          <a:solidFill>
            <a:srgbClr val="ED71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77240" y="1783080"/>
            <a:ext cx="104241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500" b="1">
                <a:solidFill>
                  <a:srgbClr val="ED7100"/>
                </a:solidFill>
                <a:latin typeface="Segoe UI"/>
              </a:rPr>
              <a:t>miro.com/app/board/uXjVHpGFCos=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777240" y="2286000"/>
          <a:ext cx="10515600" cy="117043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43200"/>
                <a:gridCol w="1645920"/>
                <a:gridCol w="6126480"/>
              </a:tblGrid>
              <a:tr h="292608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Segoe UI"/>
                        </a:rPr>
                        <a:t>Frame</a:t>
                      </a:r>
                    </a:p>
                  </a:txBody>
                  <a:tcPr marL="91440" marR="73152" marT="27432" marB="27432" anchor="ctr"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Segoe UI"/>
                        </a:rPr>
                        <a:t>Size</a:t>
                      </a:r>
                    </a:p>
                  </a:txBody>
                  <a:tcPr marL="91440" marR="73152" marT="27432" marB="27432" anchor="ctr"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Segoe UI"/>
                        </a:rPr>
                        <a:t>What it shows</a:t>
                      </a:r>
                    </a:p>
                  </a:txBody>
                  <a:tcPr marL="91440" marR="73152" marT="27432" marB="27432" anchor="ctr">
                    <a:solidFill>
                      <a:srgbClr val="0F172A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100" b="0">
                          <a:solidFill>
                            <a:srgbClr val="475569"/>
                          </a:solidFill>
                          <a:latin typeface="Segoe UI"/>
                        </a:rPr>
                        <a:t>Phase 0 Architecture</a:t>
                      </a:r>
                    </a:p>
                  </a:txBody>
                  <a:tcPr marL="91440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100" b="0">
                          <a:solidFill>
                            <a:srgbClr val="475569"/>
                          </a:solidFill>
                          <a:latin typeface="Segoe UI"/>
                        </a:rPr>
                        <a:t>2000 x 1350</a:t>
                      </a:r>
                    </a:p>
                  </a:txBody>
                  <a:tcPr marL="91440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100" b="0">
                          <a:solidFill>
                            <a:srgbClr val="475569"/>
                          </a:solidFill>
                          <a:latin typeface="Segoe UI"/>
                        </a:rPr>
                        <a:t>As built and measured. Registry, search, gap logging</a:t>
                      </a:r>
                    </a:p>
                  </a:txBody>
                  <a:tcPr marL="91440" marR="73152" marT="27432" marB="27432" anchor="ctr"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100" b="0">
                          <a:solidFill>
                            <a:srgbClr val="475569"/>
                          </a:solidFill>
                          <a:latin typeface="Segoe UI"/>
                        </a:rPr>
                        <a:t>Phase 1 Architecture</a:t>
                      </a:r>
                    </a:p>
                  </a:txBody>
                  <a:tcPr marL="91440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100" b="0">
                          <a:solidFill>
                            <a:srgbClr val="475569"/>
                          </a:solidFill>
                          <a:latin typeface="Segoe UI"/>
                        </a:rPr>
                        <a:t>2400 x 1480</a:t>
                      </a:r>
                    </a:p>
                  </a:txBody>
                  <a:tcPr marL="91440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100" b="0">
                          <a:solidFill>
                            <a:srgbClr val="475569"/>
                          </a:solidFill>
                          <a:latin typeface="Segoe UI"/>
                        </a:rPr>
                        <a:t>The phantom layer. Sandbox, identity, clustering, the board</a:t>
                      </a:r>
                    </a:p>
                  </a:txBody>
                  <a:tcPr marL="91440" marR="73152" marT="27432" marB="27432" anchor="ctr"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100" b="0">
                          <a:solidFill>
                            <a:srgbClr val="475569"/>
                          </a:solidFill>
                          <a:latin typeface="Segoe UI"/>
                        </a:rPr>
                        <a:t>Phase 2 Architecture</a:t>
                      </a:r>
                    </a:p>
                  </a:txBody>
                  <a:tcPr marL="91440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100" b="0">
                          <a:solidFill>
                            <a:srgbClr val="475569"/>
                          </a:solidFill>
                          <a:latin typeface="Segoe UI"/>
                        </a:rPr>
                        <a:t>2400 x 1520</a:t>
                      </a:r>
                    </a:p>
                  </a:txBody>
                  <a:tcPr marL="91440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100" b="0">
                          <a:solidFill>
                            <a:srgbClr val="475569"/>
                          </a:solidFill>
                          <a:latin typeface="Segoe UI"/>
                        </a:rPr>
                        <a:t>Dependencies, the four score components, decay and the floor</a:t>
                      </a:r>
                    </a:p>
                  </a:txBody>
                  <a:tcPr marL="91440" marR="73152" marT="27432" marB="27432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777240" y="3703320"/>
            <a:ext cx="10515600" cy="2560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30000"/>
              </a:lnSpc>
            </a:pPr>
            <a:r>
              <a:rPr sz="1300" b="0">
                <a:solidFill>
                  <a:srgbClr val="475569"/>
                </a:solidFill>
                <a:latin typeface="Segoe UI"/>
              </a:rPr>
              <a:t>Three frames stacked top to bottom on one infinite canvas, one section-gap apart. There is no slide order</a:t>
            </a:r>
          </a:p>
          <a:p>
            <a:pPr>
              <a:lnSpc>
                <a:spcPct val="130000"/>
              </a:lnSpc>
            </a:pPr>
            <a:r>
              <a:rPr sz="1300" b="0">
                <a:solidFill>
                  <a:srgbClr val="475569"/>
                </a:solidFill>
                <a:latin typeface="Segoe UI"/>
              </a:rPr>
              <a:t>and no page one: zooming out shows the whole system and how it grew, which is the thing a static diagram</a:t>
            </a:r>
          </a:p>
          <a:p>
            <a:pPr>
              <a:lnSpc>
                <a:spcPct val="130000"/>
              </a:lnSpc>
            </a:pPr>
            <a:r>
              <a:rPr sz="1300" b="0">
                <a:solidFill>
                  <a:srgbClr val="475569"/>
                </a:solidFill>
                <a:latin typeface="Segoe UI"/>
              </a:rPr>
              <a:t>in a deck cannot do.</a:t>
            </a:r>
          </a:p>
          <a:p>
            <a:pPr>
              <a:lnSpc>
                <a:spcPct val="130000"/>
              </a:lnSpc>
            </a:pPr>
            <a:r>
              <a:rPr sz="1300" b="0">
                <a:solidFill>
                  <a:srgbClr val="475569"/>
                </a:solidFill>
                <a:latin typeface="Segoe UI"/>
              </a:rPr>
              <a:t/>
            </a:r>
          </a:p>
          <a:p>
            <a:pPr>
              <a:lnSpc>
                <a:spcPct val="130000"/>
              </a:lnSpc>
            </a:pPr>
            <a:r>
              <a:rPr sz="1300" b="0">
                <a:solidFill>
                  <a:srgbClr val="475569"/>
                </a:solidFill>
                <a:latin typeface="Segoe UI"/>
              </a:rPr>
              <a:t>The frame is the unit that matters. Everything inside a frame has coordinates relative to that frame's</a:t>
            </a:r>
          </a:p>
          <a:p>
            <a:pPr>
              <a:lnSpc>
                <a:spcPct val="130000"/>
              </a:lnSpc>
            </a:pPr>
            <a:r>
              <a:rPr sz="1300" b="0">
                <a:solidFill>
                  <a:srgbClr val="475569"/>
                </a:solidFill>
                <a:latin typeface="Segoe UI"/>
              </a:rPr>
              <a:t>top-left corner, so dragging the frame moves the whole architecture together and nothing drifts out of</a:t>
            </a:r>
          </a:p>
          <a:p>
            <a:pPr>
              <a:lnSpc>
                <a:spcPct val="130000"/>
              </a:lnSpc>
            </a:pPr>
            <a:r>
              <a:rPr sz="1300" b="0">
                <a:solidFill>
                  <a:srgbClr val="475569"/>
                </a:solidFill>
                <a:latin typeface="Segoe UI"/>
              </a:rPr>
              <a:t>alignment. Phase 2's frame is the same width as Phase 1's on purpose — the two line up edge to edge, so</a:t>
            </a:r>
          </a:p>
          <a:p>
            <a:pPr>
              <a:lnSpc>
                <a:spcPct val="130000"/>
              </a:lnSpc>
            </a:pPr>
            <a:r>
              <a:rPr sz="1300" b="0">
                <a:solidFill>
                  <a:srgbClr val="475569"/>
                </a:solidFill>
                <a:latin typeface="Segoe UI"/>
              </a:rPr>
              <a:t>components that did not change sit directly above their Phase 2 selves.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502920"/>
            <a:ext cx="106070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100" b="1">
                <a:solidFill>
                  <a:srgbClr val="94A3B8"/>
                </a:solidFill>
                <a:latin typeface="Segoe UI"/>
              </a:rPr>
              <a:t>THE BOARD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" y="841248"/>
            <a:ext cx="106070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3100" b="1">
                <a:solidFill>
                  <a:srgbClr val="0F172A"/>
                </a:solidFill>
                <a:latin typeface="Segoe UI"/>
              </a:rPr>
              <a:t>Reading the Phase 2 frame</a:t>
            </a:r>
          </a:p>
        </p:txBody>
      </p:sp>
      <p:sp>
        <p:nvSpPr>
          <p:cNvPr id="4" name="Rectangle 3"/>
          <p:cNvSpPr/>
          <p:nvPr/>
        </p:nvSpPr>
        <p:spPr>
          <a:xfrm>
            <a:off x="777240" y="1572768"/>
            <a:ext cx="1005840" cy="36576"/>
          </a:xfrm>
          <a:prstGeom prst="rect">
            <a:avLst/>
          </a:prstGeom>
          <a:solidFill>
            <a:srgbClr val="ED71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77240" y="1783080"/>
            <a:ext cx="594360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30000"/>
              </a:lnSpc>
            </a:pPr>
            <a:r>
              <a:rPr sz="1300" b="0">
                <a:solidFill>
                  <a:srgbClr val="475569"/>
                </a:solidFill>
                <a:latin typeface="Segoe UI"/>
              </a:rPr>
              <a:t>Icons are real AWS assets. Each service carries its official icon as a</a:t>
            </a:r>
          </a:p>
          <a:p>
            <a:pPr>
              <a:lnSpc>
                <a:spcPct val="130000"/>
              </a:lnSpc>
            </a:pPr>
            <a:r>
              <a:rPr sz="1300" b="0">
                <a:solidFill>
                  <a:srgbClr val="475569"/>
                </a:solidFill>
                <a:latin typeface="Segoe UI"/>
              </a:rPr>
              <a:t>badge on the card's top-left corner, from AWS Labs' own icon set rather</a:t>
            </a:r>
          </a:p>
          <a:p>
            <a:pPr>
              <a:lnSpc>
                <a:spcPct val="130000"/>
              </a:lnSpc>
            </a:pPr>
            <a:r>
              <a:rPr sz="1300" b="0">
                <a:solidFill>
                  <a:srgbClr val="475569"/>
                </a:solidFill>
                <a:latin typeface="Segoe UI"/>
              </a:rPr>
              <a:t>than an approximation.</a:t>
            </a:r>
          </a:p>
          <a:p>
            <a:pPr>
              <a:lnSpc>
                <a:spcPct val="130000"/>
              </a:lnSpc>
            </a:pPr>
            <a:r>
              <a:rPr sz="1300" b="0">
                <a:solidFill>
                  <a:srgbClr val="475569"/>
                </a:solidFill>
                <a:latin typeface="Segoe UI"/>
              </a:rPr>
              <a:t/>
            </a:r>
          </a:p>
          <a:p>
            <a:pPr>
              <a:lnSpc>
                <a:spcPct val="130000"/>
              </a:lnSpc>
            </a:pPr>
            <a:r>
              <a:rPr sz="1300" b="0">
                <a:solidFill>
                  <a:srgbClr val="475569"/>
                </a:solidFill>
                <a:latin typeface="Segoe UI"/>
              </a:rPr>
              <a:t>Dashed rectangles are zones. They group components by what they are</a:t>
            </a:r>
          </a:p>
          <a:p>
            <a:pPr>
              <a:lnSpc>
                <a:spcPct val="130000"/>
              </a:lnSpc>
            </a:pPr>
            <a:r>
              <a:rPr sz="1300" b="0">
                <a:solidFill>
                  <a:srgbClr val="475569"/>
                </a:solidFill>
                <a:latin typeface="Segoe UI"/>
              </a:rPr>
              <a:t>allowed to do rather than by AWS category: callers, execution, sandbox,</a:t>
            </a:r>
          </a:p>
          <a:p>
            <a:pPr>
              <a:lnSpc>
                <a:spcPct val="130000"/>
              </a:lnSpc>
            </a:pPr>
            <a:r>
              <a:rPr sz="1300" b="0">
                <a:solidFill>
                  <a:srgbClr val="475569"/>
                </a:solidFill>
                <a:latin typeface="Segoe UI"/>
              </a:rPr>
              <a:t>data, and what the world can see.</a:t>
            </a:r>
          </a:p>
          <a:p>
            <a:pPr>
              <a:lnSpc>
                <a:spcPct val="130000"/>
              </a:lnSpc>
            </a:pPr>
            <a:r>
              <a:rPr sz="1300" b="0">
                <a:solidFill>
                  <a:srgbClr val="475569"/>
                </a:solidFill>
                <a:latin typeface="Segoe UI"/>
              </a:rPr>
              <a:t/>
            </a:r>
          </a:p>
          <a:p>
            <a:pPr>
              <a:lnSpc>
                <a:spcPct val="130000"/>
              </a:lnSpc>
            </a:pPr>
            <a:r>
              <a:rPr sz="1300" b="0">
                <a:solidFill>
                  <a:srgbClr val="475569"/>
                </a:solidFill>
                <a:latin typeface="Segoe UI"/>
              </a:rPr>
              <a:t>Colour is a claim about change, not decoration. Green means new in this</a:t>
            </a:r>
          </a:p>
          <a:p>
            <a:pPr>
              <a:lnSpc>
                <a:spcPct val="130000"/>
              </a:lnSpc>
            </a:pPr>
            <a:r>
              <a:rPr sz="1300" b="0">
                <a:solidFill>
                  <a:srgbClr val="475569"/>
                </a:solidFill>
                <a:latin typeface="Segoe UI"/>
              </a:rPr>
              <a:t>phase, amber means it already existed and is untouched, red is the</a:t>
            </a:r>
          </a:p>
          <a:p>
            <a:pPr>
              <a:lnSpc>
                <a:spcPct val="130000"/>
              </a:lnSpc>
            </a:pPr>
            <a:r>
              <a:rPr sz="1300" b="0">
                <a:solidFill>
                  <a:srgbClr val="475569"/>
                </a:solidFill>
                <a:latin typeface="Segoe UI"/>
              </a:rPr>
              <a:t>sandbox, blue is stored state, purple is public.</a:t>
            </a:r>
          </a:p>
          <a:p>
            <a:pPr>
              <a:lnSpc>
                <a:spcPct val="130000"/>
              </a:lnSpc>
            </a:pPr>
            <a:r>
              <a:rPr sz="1300" b="0">
                <a:solidFill>
                  <a:srgbClr val="475569"/>
                </a:solidFill>
                <a:latin typeface="Segoe UI"/>
              </a:rPr>
              <a:t/>
            </a:r>
          </a:p>
          <a:p>
            <a:pPr>
              <a:lnSpc>
                <a:spcPct val="130000"/>
              </a:lnSpc>
            </a:pPr>
            <a:r>
              <a:rPr sz="1300" b="0">
                <a:solidFill>
                  <a:srgbClr val="475569"/>
                </a:solidFill>
                <a:latin typeface="Segoe UI"/>
              </a:rPr>
              <a:t>Connectors are labelled with what actually crosses them, so an arrow</a:t>
            </a:r>
          </a:p>
          <a:p>
            <a:pPr>
              <a:lnSpc>
                <a:spcPct val="130000"/>
              </a:lnSpc>
            </a:pPr>
            <a:r>
              <a:rPr sz="1300" b="0">
                <a:solidFill>
                  <a:srgbClr val="475569"/>
                </a:solidFill>
                <a:latin typeface="Segoe UI"/>
              </a:rPr>
              <a:t>reads 'input, responses, tools' rather than pointing vaguely rightward.</a:t>
            </a:r>
          </a:p>
          <a:p>
            <a:pPr>
              <a:lnSpc>
                <a:spcPct val="130000"/>
              </a:lnSpc>
            </a:pPr>
            <a:r>
              <a:rPr sz="1300" b="0">
                <a:solidFill>
                  <a:srgbClr val="475569"/>
                </a:solidFill>
                <a:latin typeface="Segoe UI"/>
              </a:rPr>
              <a:t>A reader can follow one request end to end without the deck.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086600" y="1828800"/>
            <a:ext cx="4206240" cy="749808"/>
          </a:xfrm>
          <a:prstGeom prst="roundRect">
            <a:avLst>
              <a:gd name="adj" fmla="val 8000"/>
            </a:avLst>
          </a:prstGeom>
          <a:solidFill>
            <a:srgbClr val="DCFCE7"/>
          </a:solidFill>
          <a:ln w="12700">
            <a:solidFill>
              <a:srgbClr val="16A3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lambd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214616" y="1993392"/>
            <a:ext cx="420624" cy="420624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7781544" y="1929384"/>
            <a:ext cx="3383279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300" b="1">
                <a:solidFill>
                  <a:srgbClr val="14532D"/>
                </a:solidFill>
                <a:latin typeface="Segoe UI"/>
              </a:rPr>
              <a:t>exec-fn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81544" y="2194560"/>
            <a:ext cx="3383279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050" b="0">
                <a:solidFill>
                  <a:srgbClr val="14532D"/>
                </a:solidFill>
                <a:latin typeface="Segoe UI"/>
              </a:rPr>
              <a:t>NEW — resolves declared dependencies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086600" y="2670048"/>
            <a:ext cx="4206240" cy="749808"/>
          </a:xfrm>
          <a:prstGeom prst="roundRect">
            <a:avLst>
              <a:gd name="adj" fmla="val 8000"/>
            </a:avLst>
          </a:prstGeom>
          <a:solidFill>
            <a:srgbClr val="FEF3C7"/>
          </a:solidFill>
          <a:ln w="12700">
            <a:solidFill>
              <a:srgbClr val="F59E0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1" name="Picture 10" descr="lambd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214616" y="2834640"/>
            <a:ext cx="420624" cy="420624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7781544" y="2770632"/>
            <a:ext cx="3383279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300" b="1">
                <a:solidFill>
                  <a:srgbClr val="78350F"/>
                </a:solidFill>
                <a:latin typeface="Segoe UI"/>
              </a:rPr>
              <a:t>registry-fn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781544" y="3035808"/>
            <a:ext cx="3383279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050" b="0">
                <a:solidFill>
                  <a:srgbClr val="78350F"/>
                </a:solidFill>
                <a:latin typeface="Segoe UI"/>
              </a:rPr>
              <a:t>unchanged from Phase 1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086600" y="3511296"/>
            <a:ext cx="4206240" cy="749808"/>
          </a:xfrm>
          <a:prstGeom prst="roundRect">
            <a:avLst>
              <a:gd name="adj" fmla="val 8000"/>
            </a:avLst>
          </a:prstGeom>
          <a:solidFill>
            <a:srgbClr val="FEE2E2"/>
          </a:solidFill>
          <a:ln w="12700">
            <a:solidFill>
              <a:srgbClr val="DC262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5" name="Picture 14" descr="fargat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214616" y="3675887"/>
            <a:ext cx="420624" cy="420624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7781544" y="3611879"/>
            <a:ext cx="3383279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300" b="1">
                <a:solidFill>
                  <a:srgbClr val="7F1D1D"/>
                </a:solidFill>
                <a:latin typeface="Segoe UI"/>
              </a:rPr>
              <a:t>tool-runtime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781544" y="3877056"/>
            <a:ext cx="3383279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050" b="0">
                <a:solidFill>
                  <a:srgbClr val="7F1D1D"/>
                </a:solidFill>
                <a:latin typeface="Segoe UI"/>
              </a:rPr>
              <a:t>the sandbox — Phase 2 does not touch it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7086600" y="4352544"/>
            <a:ext cx="4206240" cy="749808"/>
          </a:xfrm>
          <a:prstGeom prst="roundRect">
            <a:avLst>
              <a:gd name="adj" fmla="val 8000"/>
            </a:avLst>
          </a:prstGeom>
          <a:solidFill>
            <a:srgbClr val="DBEAFE"/>
          </a:solidFill>
          <a:ln w="12700">
            <a:solidFill>
              <a:srgbClr val="3B82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9" name="Picture 18" descr="dynamodb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214616" y="4517136"/>
            <a:ext cx="420624" cy="420624"/>
          </a:xfrm>
          <a:prstGeom prst="rect">
            <a:avLst/>
          </a:prstGeom>
        </p:spPr>
      </p:pic>
      <p:sp>
        <p:nvSpPr>
          <p:cNvPr id="20" name="TextBox 19"/>
          <p:cNvSpPr txBox="1"/>
          <p:nvPr/>
        </p:nvSpPr>
        <p:spPr>
          <a:xfrm>
            <a:off x="7781544" y="4453128"/>
            <a:ext cx="3383279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300" b="1">
                <a:solidFill>
                  <a:srgbClr val="1E3A8A"/>
                </a:solidFill>
                <a:latin typeface="Segoe UI"/>
              </a:rPr>
              <a:t>events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781544" y="4718304"/>
            <a:ext cx="3383279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050" b="0">
                <a:solidFill>
                  <a:srgbClr val="1E3A8A"/>
                </a:solidFill>
                <a:latin typeface="Segoe UI"/>
              </a:rPr>
              <a:t>now carries via_tool, depth, root_call_id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7086600" y="5193792"/>
            <a:ext cx="4206240" cy="749808"/>
          </a:xfrm>
          <a:prstGeom prst="roundRect">
            <a:avLst>
              <a:gd name="adj" fmla="val 8000"/>
            </a:avLst>
          </a:prstGeom>
          <a:solidFill>
            <a:srgbClr val="EDE9FE"/>
          </a:solidFill>
          <a:ln w="12700">
            <a:solidFill>
              <a:srgbClr val="8C4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3" name="Picture 22" descr="cloudfront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214616" y="5358383"/>
            <a:ext cx="420624" cy="420624"/>
          </a:xfrm>
          <a:prstGeom prst="rect">
            <a:avLst/>
          </a:prstGeom>
        </p:spPr>
      </p:pic>
      <p:sp>
        <p:nvSpPr>
          <p:cNvPr id="24" name="TextBox 23"/>
          <p:cNvSpPr txBox="1"/>
          <p:nvPr/>
        </p:nvSpPr>
        <p:spPr>
          <a:xfrm>
            <a:off x="7781544" y="5294376"/>
            <a:ext cx="3383279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300" b="1">
                <a:solidFill>
                  <a:srgbClr val="4C1D95"/>
                </a:solidFill>
                <a:latin typeface="Segoe UI"/>
              </a:rPr>
              <a:t>gaps board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781544" y="5559552"/>
            <a:ext cx="3383279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050" b="0">
                <a:solidFill>
                  <a:srgbClr val="4C1D95"/>
                </a:solidFill>
                <a:latin typeface="Segoe UI"/>
              </a:rPr>
              <a:t>public — counts, never identities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086600" y="6080760"/>
            <a:ext cx="42062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100" b="0">
                <a:solidFill>
                  <a:srgbClr val="64748B"/>
                </a:solidFill>
                <a:latin typeface="Segoe UI"/>
              </a:rPr>
              <a:t>The card convention used on the board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502920"/>
            <a:ext cx="106070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100" b="1">
                <a:solidFill>
                  <a:srgbClr val="94A3B8"/>
                </a:solidFill>
                <a:latin typeface="Segoe UI"/>
              </a:rPr>
              <a:t>FIRST DECISION — BUILT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" y="841248"/>
            <a:ext cx="106070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3100" b="1">
                <a:solidFill>
                  <a:srgbClr val="0F172A"/>
                </a:solidFill>
                <a:latin typeface="Segoe UI"/>
              </a:rPr>
              <a:t>Moons: a tool never calls a tool</a:t>
            </a:r>
          </a:p>
        </p:txBody>
      </p:sp>
      <p:sp>
        <p:nvSpPr>
          <p:cNvPr id="4" name="Rectangle 3"/>
          <p:cNvSpPr/>
          <p:nvPr/>
        </p:nvSpPr>
        <p:spPr>
          <a:xfrm>
            <a:off x="777240" y="1572768"/>
            <a:ext cx="1005840" cy="36576"/>
          </a:xfrm>
          <a:prstGeom prst="rect">
            <a:avLst/>
          </a:prstGeom>
          <a:solidFill>
            <a:srgbClr val="ED71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77240" y="1828800"/>
            <a:ext cx="548640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30000"/>
              </a:lnSpc>
            </a:pPr>
            <a:r>
              <a:rPr sz="1500" b="0">
                <a:solidFill>
                  <a:srgbClr val="475569"/>
                </a:solidFill>
                <a:latin typeface="Segoe UI"/>
              </a:rPr>
              <a:t>A handler cannot reach the registry any more than it can reach</a:t>
            </a:r>
          </a:p>
          <a:p>
            <a:pPr>
              <a:lnSpc>
                <a:spcPct val="130000"/>
              </a:lnSpc>
            </a:pPr>
            <a:r>
              <a:rPr sz="1500" b="0">
                <a:solidFill>
                  <a:srgbClr val="475569"/>
                </a:solidFill>
                <a:latin typeface="Segoe UI"/>
              </a:rPr>
              <a:t>the internet. That is the sandbox guarantee, not an obstacle</a:t>
            </a:r>
          </a:p>
          <a:p>
            <a:pPr>
              <a:lnSpc>
                <a:spcPct val="130000"/>
              </a:lnSpc>
            </a:pPr>
            <a:r>
              <a:rPr sz="1500" b="0">
                <a:solidFill>
                  <a:srgbClr val="475569"/>
                </a:solidFill>
                <a:latin typeface="Segoe UI"/>
              </a:rPr>
              <a:t>to work around.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3017520"/>
            <a:ext cx="548640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30000"/>
              </a:lnSpc>
            </a:pPr>
            <a:r>
              <a:rPr sz="1400" b="0">
                <a:solidFill>
                  <a:srgbClr val="475569"/>
                </a:solidFill>
                <a:latin typeface="Segoe UI"/>
              </a:rPr>
              <a:t>So a tool DECLARES its dependencies and the platform resolves</a:t>
            </a:r>
          </a:p>
          <a:p>
            <a:pPr>
              <a:lnSpc>
                <a:spcPct val="130000"/>
              </a:lnSpc>
            </a:pPr>
            <a:r>
              <a:rPr sz="1400" b="0">
                <a:solidFill>
                  <a:srgbClr val="475569"/>
                </a:solidFill>
                <a:latin typeface="Segoe UI"/>
              </a:rPr>
              <a:t>them, passing finished values in:</a:t>
            </a:r>
          </a:p>
          <a:p>
            <a:pPr>
              <a:lnSpc>
                <a:spcPct val="130000"/>
              </a:lnSpc>
            </a:pPr>
            <a:r>
              <a:rPr sz="1400" b="0">
                <a:solidFill>
                  <a:srgbClr val="475569"/>
                </a:solidFill>
                <a:latin typeface="Segoe UI"/>
              </a:rPr>
              <a:t/>
            </a:r>
          </a:p>
          <a:p>
            <a:pPr>
              <a:lnSpc>
                <a:spcPct val="130000"/>
              </a:lnSpc>
            </a:pPr>
            <a:r>
              <a:rPr sz="1400" b="0">
                <a:solidFill>
                  <a:srgbClr val="475569"/>
                </a:solidFill>
                <a:latin typeface="Segoe UI"/>
              </a:rPr>
              <a:t>    transform({ input, responses, tools })</a:t>
            </a:r>
          </a:p>
          <a:p>
            <a:pPr>
              <a:lnSpc>
                <a:spcPct val="130000"/>
              </a:lnSpc>
            </a:pPr>
            <a:r>
              <a:rPr sz="1400" b="0">
                <a:solidFill>
                  <a:srgbClr val="475569"/>
                </a:solidFill>
                <a:latin typeface="Segoe UI"/>
              </a:rPr>
              <a:t/>
            </a:r>
          </a:p>
          <a:p>
            <a:pPr>
              <a:lnSpc>
                <a:spcPct val="130000"/>
              </a:lnSpc>
            </a:pPr>
            <a:r>
              <a:rPr sz="1400" b="0">
                <a:solidFill>
                  <a:srgbClr val="475569"/>
                </a:solidFill>
                <a:latin typeface="Segoe UI"/>
              </a:rPr>
              <a:t>The handler never learns another tool exists. It cannot choose</a:t>
            </a:r>
          </a:p>
          <a:p>
            <a:pPr>
              <a:lnSpc>
                <a:spcPct val="130000"/>
              </a:lnSpc>
            </a:pPr>
            <a:r>
              <a:rPr sz="1400" b="0">
                <a:solidFill>
                  <a:srgbClr val="475569"/>
                </a:solidFill>
                <a:latin typeface="Segoe UI"/>
              </a:rPr>
              <a:t>one at run time and cannot send one anything that was not</a:t>
            </a:r>
          </a:p>
          <a:p>
            <a:pPr>
              <a:lnSpc>
                <a:spcPct val="130000"/>
              </a:lnSpc>
            </a:pPr>
            <a:r>
              <a:rPr sz="1400" b="0">
                <a:solidFill>
                  <a:srgbClr val="475569"/>
                </a:solidFill>
                <a:latin typeface="Segoe UI"/>
              </a:rPr>
              <a:t>written down at publication and read at review.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92240" y="1828800"/>
            <a:ext cx="4892040" cy="1463040"/>
          </a:xfrm>
          <a:prstGeom prst="roundRect">
            <a:avLst>
              <a:gd name="adj" fmla="val 4000"/>
            </a:avLst>
          </a:prstGeom>
          <a:solidFill>
            <a:srgbClr val="F0FD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766559" y="2011680"/>
            <a:ext cx="4343400" cy="10972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lnSpc>
                <a:spcPct val="115000"/>
              </a:lnSpc>
            </a:pPr>
            <a:r>
              <a:rPr sz="1300" b="1">
                <a:solidFill>
                  <a:srgbClr val="14532D"/>
                </a:solidFill>
                <a:latin typeface="Segoe UI"/>
              </a:rPr>
              <a:t>air-by-place composes geocode-place and</a:t>
            </a:r>
          </a:p>
          <a:p>
            <a:pPr>
              <a:lnSpc>
                <a:spcPct val="115000"/>
              </a:lnSpc>
            </a:pPr>
            <a:r>
              <a:rPr sz="1300" b="1">
                <a:solidFill>
                  <a:srgbClr val="14532D"/>
                </a:solidFill>
                <a:latin typeface="Segoe UI"/>
              </a:rPr>
              <a:t>air-quality, opens no connection of its own,</a:t>
            </a:r>
          </a:p>
          <a:p>
            <a:pPr>
              <a:lnSpc>
                <a:spcPct val="115000"/>
              </a:lnSpc>
            </a:pPr>
            <a:r>
              <a:rPr sz="1300" b="1">
                <a:solidFill>
                  <a:srgbClr val="14532D"/>
                </a:solidFill>
                <a:latin typeface="Segoe UI"/>
              </a:rPr>
              <a:t>and returns live air quality from a place name.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720840" y="3474720"/>
            <a:ext cx="4572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300" b="1">
                <a:solidFill>
                  <a:srgbClr val="475569"/>
                </a:solidFill>
                <a:latin typeface="Segoe UI"/>
              </a:rPr>
              <a:t>The gate holds at every depth: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492240" y="3931920"/>
            <a:ext cx="4892040" cy="1188720"/>
          </a:xfrm>
          <a:prstGeom prst="roundRect">
            <a:avLst>
              <a:gd name="adj" fmla="val 4000"/>
            </a:avLst>
          </a:prstGeom>
          <a:solidFill>
            <a:srgbClr val="FE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766559" y="4114800"/>
            <a:ext cx="4343400" cy="8229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lnSpc>
                <a:spcPct val="115000"/>
              </a:lnSpc>
            </a:pPr>
            <a:r>
              <a:rPr sz="1200" b="1">
                <a:solidFill>
                  <a:srgbClr val="7F1D1D"/>
                </a:solidFill>
                <a:latin typeface="Segoe UI"/>
              </a:rPr>
              <a:t>403 dependency where (geocode-place)</a:t>
            </a:r>
          </a:p>
          <a:p>
            <a:pPr>
              <a:lnSpc>
                <a:spcPct val="115000"/>
              </a:lnSpc>
            </a:pPr>
            <a:r>
              <a:rPr sz="1200" b="1">
                <a:solidFill>
                  <a:srgbClr val="7F1D1D"/>
                </a:solidFill>
                <a:latin typeface="Segoe UI"/>
              </a:rPr>
              <a:t>failed: not approved for execution</a:t>
            </a:r>
          </a:p>
          <a:p>
            <a:pPr>
              <a:lnSpc>
                <a:spcPct val="115000"/>
              </a:lnSpc>
            </a:pPr>
            <a:r>
              <a:rPr sz="1200" b="1">
                <a:solidFill>
                  <a:srgbClr val="7F1D1D"/>
                </a:solidFill>
                <a:latin typeface="Segoe UI"/>
              </a:rPr>
              <a:t>(never reviewed)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720840" y="5257800"/>
            <a:ext cx="45720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5000"/>
              </a:lnSpc>
            </a:pPr>
            <a:r>
              <a:rPr sz="1300" b="0">
                <a:solidFill>
                  <a:srgbClr val="64748B"/>
                </a:solidFill>
                <a:latin typeface="Segoe UI"/>
              </a:rPr>
              <a:t>An approved tool cannot smuggle in an</a:t>
            </a:r>
          </a:p>
          <a:p>
            <a:pPr>
              <a:lnSpc>
                <a:spcPct val="125000"/>
              </a:lnSpc>
            </a:pPr>
            <a:r>
              <a:rPr sz="1300" b="0">
                <a:solidFill>
                  <a:srgbClr val="64748B"/>
                </a:solidFill>
                <a:latin typeface="Segoe UI"/>
              </a:rPr>
              <a:t>unapproved one.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77240" y="5760720"/>
            <a:ext cx="54864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5000"/>
              </a:lnSpc>
            </a:pPr>
            <a:r>
              <a:rPr sz="1250" b="0">
                <a:solidFill>
                  <a:srgbClr val="64748B"/>
                </a:solidFill>
                <a:latin typeface="Segoe UI"/>
              </a:rPr>
              <a:t>Two limits the live run found, not the design: a dependency could</a:t>
            </a:r>
          </a:p>
          <a:p>
            <a:pPr>
              <a:lnSpc>
                <a:spcPct val="125000"/>
              </a:lnSpc>
            </a:pPr>
            <a:r>
              <a:rPr sz="1250" b="0">
                <a:solidFill>
                  <a:srgbClr val="64748B"/>
                </a:solidFill>
                <a:latin typeface="Segoe UI"/>
              </a:rPr>
              <a:t>not read an earlier one's output, and the fetcher refused a tool</a:t>
            </a:r>
          </a:p>
          <a:p>
            <a:pPr>
              <a:lnSpc>
                <a:spcPct val="125000"/>
              </a:lnSpc>
            </a:pPr>
            <a:r>
              <a:rPr sz="1250" b="0">
                <a:solidFill>
                  <a:srgbClr val="64748B"/>
                </a:solidFill>
                <a:latin typeface="Segoe UI"/>
              </a:rPr>
              <a:t>that opens no connection.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502920"/>
            <a:ext cx="106070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100" b="1">
                <a:solidFill>
                  <a:srgbClr val="94A3B8"/>
                </a:solidFill>
                <a:latin typeface="Segoe UI"/>
              </a:rPr>
              <a:t>SECOND DECISION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" y="841248"/>
            <a:ext cx="106070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3100" b="1">
                <a:solidFill>
                  <a:srgbClr val="0F172A"/>
                </a:solidFill>
                <a:latin typeface="Segoe UI"/>
              </a:rPr>
              <a:t>Three numbers, kept apart</a:t>
            </a:r>
          </a:p>
        </p:txBody>
      </p:sp>
      <p:sp>
        <p:nvSpPr>
          <p:cNvPr id="4" name="Rectangle 3"/>
          <p:cNvSpPr/>
          <p:nvPr/>
        </p:nvSpPr>
        <p:spPr>
          <a:xfrm>
            <a:off x="777240" y="1572768"/>
            <a:ext cx="1005840" cy="36576"/>
          </a:xfrm>
          <a:prstGeom prst="rect">
            <a:avLst/>
          </a:prstGeom>
          <a:solidFill>
            <a:srgbClr val="ED71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777240" y="1783080"/>
          <a:ext cx="10515600" cy="14630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03120"/>
                <a:gridCol w="3931920"/>
                <a:gridCol w="4480560"/>
              </a:tblGrid>
              <a:tr h="292608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</a:p>
                  </a:txBody>
                  <a:tcPr marL="91440" marR="73152" marT="27432" marB="27432" anchor="ctr"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Segoe UI"/>
                        </a:rPr>
                        <a:t>What it measures</a:t>
                      </a:r>
                    </a:p>
                  </a:txBody>
                  <a:tcPr marL="91440" marR="73152" marT="27432" marB="27432" anchor="ctr"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Segoe UI"/>
                        </a:rPr>
                        <a:t>Why it is separate</a:t>
                      </a:r>
                    </a:p>
                  </a:txBody>
                  <a:tcPr marL="91440" marR="73152" marT="27432" marB="27432" anchor="ctr">
                    <a:solidFill>
                      <a:srgbClr val="0F172A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100" b="0">
                          <a:solidFill>
                            <a:srgbClr val="475569"/>
                          </a:solidFill>
                          <a:latin typeface="Segoe UI"/>
                        </a:rPr>
                        <a:t>Mass</a:t>
                      </a:r>
                    </a:p>
                  </a:txBody>
                  <a:tcPr marL="91440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100" b="0">
                          <a:solidFill>
                            <a:srgbClr val="475569"/>
                          </a:solidFill>
                          <a:latin typeface="Segoe UI"/>
                        </a:rPr>
                        <a:t>Successful direct calls, verified, non-self</a:t>
                      </a:r>
                    </a:p>
                  </a:txBody>
                  <a:tcPr marL="91440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100" b="0">
                          <a:solidFill>
                            <a:srgbClr val="475569"/>
                          </a:solidFill>
                          <a:latin typeface="Segoe UI"/>
                        </a:rPr>
                        <a:t>A call arriving VIA another tool is not somebody choosing you</a:t>
                      </a:r>
                    </a:p>
                  </a:txBody>
                  <a:tcPr marL="91440" marR="73152" marT="27432" marB="27432" anchor="ctr"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100" b="0">
                          <a:solidFill>
                            <a:srgbClr val="475569"/>
                          </a:solidFill>
                          <a:latin typeface="Segoe UI"/>
                        </a:rPr>
                        <a:t>Brightness</a:t>
                      </a:r>
                    </a:p>
                  </a:txBody>
                  <a:tcPr marL="91440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100" b="0">
                          <a:solidFill>
                            <a:srgbClr val="475569"/>
                          </a:solidFill>
                          <a:latin typeface="Segoe UI"/>
                        </a:rPr>
                        <a:t>Success rate and latency</a:t>
                      </a:r>
                    </a:p>
                  </a:txBody>
                  <a:tcPr marL="91440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100" b="0">
                          <a:solidFill>
                            <a:srgbClr val="475569"/>
                          </a:solidFill>
                          <a:latin typeface="Segoe UI"/>
                        </a:rPr>
                        <a:t>Popular and mediocre must look different from small and excellent</a:t>
                      </a:r>
                    </a:p>
                  </a:txBody>
                  <a:tcPr marL="91440" marR="73152" marT="27432" marB="27432" anchor="ctr"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100" b="0">
                          <a:solidFill>
                            <a:srgbClr val="475569"/>
                          </a:solidFill>
                          <a:latin typeface="Segoe UI"/>
                        </a:rPr>
                        <a:t>Dependency weight</a:t>
                      </a:r>
                    </a:p>
                  </a:txBody>
                  <a:tcPr marL="91440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100" b="0">
                          <a:solidFill>
                            <a:srgbClr val="475569"/>
                          </a:solidFill>
                          <a:latin typeface="Segoe UI"/>
                        </a:rPr>
                        <a:t>Distinct dependents, damped per level</a:t>
                      </a:r>
                    </a:p>
                  </a:txBody>
                  <a:tcPr marL="91440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100" b="0">
                          <a:solidFill>
                            <a:srgbClr val="475569"/>
                          </a:solidFill>
                          <a:latin typeface="Segoe UI"/>
                        </a:rPr>
                        <a:t>Being built on is real standing, but it is not demand</a:t>
                      </a:r>
                    </a:p>
                  </a:txBody>
                  <a:tcPr marL="91440" marR="73152" marT="27432" marB="27432" anchor="ctr"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100" b="0">
                          <a:solidFill>
                            <a:srgbClr val="475569"/>
                          </a:solidFill>
                          <a:latin typeface="Segoe UI"/>
                        </a:rPr>
                        <a:t>Decay</a:t>
                      </a:r>
                    </a:p>
                  </a:txBody>
                  <a:tcPr marL="91440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100" b="0">
                          <a:solidFill>
                            <a:srgbClr val="475569"/>
                          </a:solidFill>
                          <a:latin typeface="Segoe UI"/>
                        </a:rPr>
                        <a:t>Time since sustained use</a:t>
                      </a:r>
                    </a:p>
                  </a:txBody>
                  <a:tcPr marL="91440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100" b="0">
                          <a:solidFill>
                            <a:srgbClr val="475569"/>
                          </a:solidFill>
                          <a:latin typeface="Segoe UI"/>
                        </a:rPr>
                        <a:t>Without it, arriving early is permanently worth more than being good</a:t>
                      </a:r>
                    </a:p>
                  </a:txBody>
                  <a:tcPr marL="91440" marR="73152" marT="27432" marB="27432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Rounded Rectangle 5"/>
          <p:cNvSpPr/>
          <p:nvPr/>
        </p:nvSpPr>
        <p:spPr>
          <a:xfrm>
            <a:off x="777240" y="3520440"/>
            <a:ext cx="10515600" cy="914400"/>
          </a:xfrm>
          <a:prstGeom prst="roundRect">
            <a:avLst>
              <a:gd name="adj" fmla="val 4000"/>
            </a:avLst>
          </a:prstGeom>
          <a:solidFill>
            <a:srgbClr val="FFF7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51560" y="3703320"/>
            <a:ext cx="996696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lnSpc>
                <a:spcPct val="115000"/>
              </a:lnSpc>
            </a:pPr>
            <a:r>
              <a:rPr sz="1350" b="1">
                <a:solidFill>
                  <a:srgbClr val="7C2D12"/>
                </a:solidFill>
                <a:latin typeface="Segoe UI"/>
              </a:rPr>
              <a:t>A tool called a thousand times through one popular dependent has one dependent, not a thousand callers.</a:t>
            </a:r>
          </a:p>
          <a:p>
            <a:pPr>
              <a:lnSpc>
                <a:spcPct val="115000"/>
              </a:lnSpc>
            </a:pPr>
            <a:r>
              <a:rPr sz="1350" b="1">
                <a:solidFill>
                  <a:srgbClr val="7C2D12"/>
                </a:solidFill>
                <a:latin typeface="Segoe UI"/>
              </a:rPr>
              <a:t>Counting those as demand is how a dependency graph turns into a popularity illusion.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4663440"/>
            <a:ext cx="10515600" cy="1737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30000"/>
              </a:lnSpc>
            </a:pPr>
            <a:r>
              <a:rPr sz="1300" b="0">
                <a:solidFill>
                  <a:srgbClr val="475569"/>
                </a:solidFill>
                <a:latin typeface="Segoe UI"/>
              </a:rPr>
              <a:t>Every component is computed and published; none is blended into a single score in Phase 2. That is a</a:t>
            </a:r>
          </a:p>
          <a:p>
            <a:pPr>
              <a:lnSpc>
                <a:spcPct val="130000"/>
              </a:lnSpc>
            </a:pPr>
            <a:r>
              <a:rPr sz="1300" b="0">
                <a:solidFill>
                  <a:srgbClr val="475569"/>
                </a:solidFill>
                <a:latin typeface="Segoe UI"/>
              </a:rPr>
              <a:t>deliberate refusal rather than an omission — blending requires knowing the weights, the weights come from</a:t>
            </a:r>
          </a:p>
          <a:p>
            <a:pPr>
              <a:lnSpc>
                <a:spcPct val="130000"/>
              </a:lnSpc>
            </a:pPr>
            <a:r>
              <a:rPr sz="1300" b="0">
                <a:solidFill>
                  <a:srgbClr val="475569"/>
                </a:solidFill>
                <a:latin typeface="Segoe UI"/>
              </a:rPr>
              <a:t>watching real traffic, and there is no real traffic yet.</a:t>
            </a:r>
          </a:p>
          <a:p>
            <a:pPr>
              <a:lnSpc>
                <a:spcPct val="130000"/>
              </a:lnSpc>
            </a:pPr>
            <a:r>
              <a:rPr sz="1300" b="0">
                <a:solidFill>
                  <a:srgbClr val="475569"/>
                </a:solidFill>
                <a:latin typeface="Segoe UI"/>
              </a:rPr>
              <a:t/>
            </a:r>
          </a:p>
          <a:p>
            <a:pPr>
              <a:lnSpc>
                <a:spcPct val="130000"/>
              </a:lnSpc>
            </a:pPr>
            <a:r>
              <a:rPr sz="1300" b="0">
                <a:solidFill>
                  <a:srgbClr val="475569"/>
                </a:solidFill>
                <a:latin typeface="Segoe UI"/>
              </a:rPr>
              <a:t>Publishing the components separately also means anyone reading the board can disagree with the ranking</a:t>
            </a:r>
          </a:p>
          <a:p>
            <a:pPr>
              <a:lnSpc>
                <a:spcPct val="130000"/>
              </a:lnSpc>
            </a:pPr>
            <a:r>
              <a:rPr sz="1300" b="0">
                <a:solidFill>
                  <a:srgbClr val="475569"/>
                </a:solidFill>
                <a:latin typeface="Segoe UI"/>
              </a:rPr>
              <a:t>rather than having to trust it, which is the same reason the gaps board shows what it withheld and why.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502920"/>
            <a:ext cx="106070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100" b="1">
                <a:solidFill>
                  <a:srgbClr val="94A3B8"/>
                </a:solidFill>
                <a:latin typeface="Segoe UI"/>
              </a:rPr>
              <a:t>THIRD DECISION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" y="841248"/>
            <a:ext cx="106070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3100" b="1">
                <a:solidFill>
                  <a:srgbClr val="0F172A"/>
                </a:solidFill>
                <a:latin typeface="Segoe UI"/>
              </a:rPr>
              <a:t>Decay, the floor, and the difference from takedown</a:t>
            </a:r>
          </a:p>
        </p:txBody>
      </p:sp>
      <p:sp>
        <p:nvSpPr>
          <p:cNvPr id="4" name="Rectangle 3"/>
          <p:cNvSpPr/>
          <p:nvPr/>
        </p:nvSpPr>
        <p:spPr>
          <a:xfrm>
            <a:off x="777240" y="1572768"/>
            <a:ext cx="1005840" cy="36576"/>
          </a:xfrm>
          <a:prstGeom prst="rect">
            <a:avLst/>
          </a:prstGeom>
          <a:solidFill>
            <a:srgbClr val="ED71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777240" y="1783080"/>
          <a:ext cx="10515600" cy="14630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20240"/>
                <a:gridCol w="6583680"/>
                <a:gridCol w="2011680"/>
              </a:tblGrid>
              <a:tr h="292608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</a:p>
                  </a:txBody>
                  <a:tcPr marL="91440" marR="73152" marT="27432" marB="27432" anchor="ctr"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Segoe UI"/>
                        </a:rPr>
                        <a:t>What happens</a:t>
                      </a:r>
                    </a:p>
                  </a:txBody>
                  <a:tcPr marL="91440" marR="73152" marT="27432" marB="27432" anchor="ctr"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Segoe UI"/>
                        </a:rPr>
                        <a:t>Reversible?</a:t>
                      </a:r>
                    </a:p>
                  </a:txBody>
                  <a:tcPr marL="91440" marR="73152" marT="27432" marB="27432" anchor="ctr">
                    <a:solidFill>
                      <a:srgbClr val="0F172A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100" b="0">
                          <a:solidFill>
                            <a:srgbClr val="475569"/>
                          </a:solidFill>
                          <a:latin typeface="Segoe UI"/>
                        </a:rPr>
                        <a:t>Decay</a:t>
                      </a:r>
                    </a:p>
                  </a:txBody>
                  <a:tcPr marL="91440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100" b="0">
                          <a:solidFill>
                            <a:srgbClr val="475569"/>
                          </a:solidFill>
                          <a:latin typeface="Segoe UI"/>
                        </a:rPr>
                        <a:t>Score falls as sustained use drops. Platform-built and creator-built decay alike</a:t>
                      </a:r>
                    </a:p>
                  </a:txBody>
                  <a:tcPr marL="91440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100" b="0">
                          <a:solidFill>
                            <a:srgbClr val="475569"/>
                          </a:solidFill>
                          <a:latin typeface="Segoe UI"/>
                        </a:rPr>
                        <a:t>Yes — usage returning raises it</a:t>
                      </a:r>
                    </a:p>
                  </a:txBody>
                  <a:tcPr marL="91440" marR="73152" marT="27432" marB="27432" anchor="ctr"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100" b="0">
                          <a:solidFill>
                            <a:srgbClr val="475569"/>
                          </a:solidFill>
                          <a:latin typeface="Segoe UI"/>
                        </a:rPr>
                        <a:t>Archival floor</a:t>
                      </a:r>
                    </a:p>
                  </a:txBody>
                  <a:tcPr marL="91440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100" b="0">
                          <a:solidFill>
                            <a:srgbClr val="475569"/>
                          </a:solidFill>
                          <a:latin typeface="Segoe UI"/>
                        </a:rPr>
                        <a:t>Stops appearing in discovery. Rows and version history stay</a:t>
                      </a:r>
                    </a:p>
                  </a:txBody>
                  <a:tcPr marL="91440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100" b="0">
                          <a:solidFill>
                            <a:srgbClr val="475569"/>
                          </a:solidFill>
                          <a:latin typeface="Segoe UI"/>
                        </a:rPr>
                        <a:t>Yes</a:t>
                      </a:r>
                    </a:p>
                  </a:txBody>
                  <a:tcPr marL="91440" marR="73152" marT="27432" marB="27432" anchor="ctr"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100" b="0">
                          <a:solidFill>
                            <a:srgbClr val="475569"/>
                          </a:solidFill>
                          <a:latin typeface="Segoe UI"/>
                        </a:rPr>
                        <a:t>Takedown</a:t>
                      </a:r>
                    </a:p>
                  </a:txBody>
                  <a:tcPr marL="91440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100" b="0">
                          <a:solidFill>
                            <a:srgbClr val="475569"/>
                          </a:solidFill>
                          <a:latin typeface="Segoe UI"/>
                        </a:rPr>
                        <a:t>Execution refused immediately. Never automatic, always a person</a:t>
                      </a:r>
                    </a:p>
                  </a:txBody>
                  <a:tcPr marL="91440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100" b="0">
                          <a:solidFill>
                            <a:srgbClr val="475569"/>
                          </a:solidFill>
                          <a:latin typeface="Segoe UI"/>
                        </a:rPr>
                        <a:t>Yes, by re-approving</a:t>
                      </a:r>
                    </a:p>
                  </a:txBody>
                  <a:tcPr marL="91440" marR="73152" marT="27432" marB="27432" anchor="ctr"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100" b="0">
                          <a:solidFill>
                            <a:srgbClr val="475569"/>
                          </a:solidFill>
                          <a:latin typeface="Segoe UI"/>
                        </a:rPr>
                        <a:t>Stasis</a:t>
                      </a:r>
                    </a:p>
                  </a:txBody>
                  <a:tcPr marL="91440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100" b="0">
                          <a:solidFill>
                            <a:srgbClr val="475569"/>
                          </a:solidFill>
                          <a:latin typeface="Segoe UI"/>
                        </a:rPr>
                        <a:t>Visual only. The star keeps shining in the 3D world</a:t>
                      </a:r>
                    </a:p>
                  </a:txBody>
                  <a:tcPr marL="91440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100" b="0">
                          <a:solidFill>
                            <a:srgbClr val="475569"/>
                          </a:solidFill>
                          <a:latin typeface="Segoe UI"/>
                        </a:rPr>
                        <a:t>Paid, cosmetic, changes no ranking</a:t>
                      </a:r>
                    </a:p>
                  </a:txBody>
                  <a:tcPr marL="91440" marR="73152" marT="27432" marB="27432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Rounded Rectangle 5"/>
          <p:cNvSpPr/>
          <p:nvPr/>
        </p:nvSpPr>
        <p:spPr>
          <a:xfrm>
            <a:off x="777240" y="3520440"/>
            <a:ext cx="10515600" cy="960120"/>
          </a:xfrm>
          <a:prstGeom prst="roundRect">
            <a:avLst>
              <a:gd name="adj" fmla="val 4000"/>
            </a:avLst>
          </a:prstGeom>
          <a:solidFill>
            <a:srgbClr val="FFF7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51560" y="3703320"/>
            <a:ext cx="9966960" cy="5943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lnSpc>
                <a:spcPct val="115000"/>
              </a:lnSpc>
            </a:pPr>
            <a:r>
              <a:rPr sz="1350" b="1">
                <a:solidFill>
                  <a:srgbClr val="7C2D12"/>
                </a:solidFill>
                <a:latin typeface="Segoe UI"/>
              </a:rPr>
              <a:t>Archived, never deleted. Anything that ever depended on a tool still has to resolve it — and Phase 2 is</a:t>
            </a:r>
          </a:p>
          <a:p>
            <a:pPr>
              <a:lnSpc>
                <a:spcPct val="115000"/>
              </a:lnSpc>
            </a:pPr>
            <a:r>
              <a:rPr sz="1350" b="1">
                <a:solidFill>
                  <a:srgbClr val="7C2D12"/>
                </a:solidFill>
                <a:latin typeface="Segoe UI"/>
              </a:rPr>
              <a:t>the phase that makes dependencies real, so this stops being hypothetical the moment it ships.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4754880"/>
            <a:ext cx="1051560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30000"/>
              </a:lnSpc>
            </a:pPr>
            <a:r>
              <a:rPr sz="1300" b="0">
                <a:solidFill>
                  <a:srgbClr val="475569"/>
                </a:solidFill>
                <a:latin typeface="Segoe UI"/>
              </a:rPr>
              <a:t>Takedown already exists and was drilled rather than assumed: approve, call succeeds, revoke, and the very</a:t>
            </a:r>
          </a:p>
          <a:p>
            <a:pPr>
              <a:lnSpc>
                <a:spcPct val="130000"/>
              </a:lnSpc>
            </a:pPr>
            <a:r>
              <a:rPr sz="1300" b="0">
                <a:solidFill>
                  <a:srgbClr val="475569"/>
                </a:solidFill>
                <a:latin typeface="Segoe UI"/>
              </a:rPr>
              <a:t>next call is refused. Approvals are not cached for exactly this reason.</a:t>
            </a:r>
          </a:p>
          <a:p>
            <a:pPr>
              <a:lnSpc>
                <a:spcPct val="130000"/>
              </a:lnSpc>
            </a:pPr>
            <a:r>
              <a:rPr sz="1300" b="0">
                <a:solidFill>
                  <a:srgbClr val="475569"/>
                </a:solidFill>
                <a:latin typeface="Segoe UI"/>
              </a:rPr>
              <a:t/>
            </a:r>
          </a:p>
          <a:p>
            <a:pPr>
              <a:lnSpc>
                <a:spcPct val="130000"/>
              </a:lnSpc>
            </a:pPr>
            <a:r>
              <a:rPr sz="1300" b="0">
                <a:solidFill>
                  <a:srgbClr val="475569"/>
                </a:solidFill>
                <a:latin typeface="Segoe UI"/>
              </a:rPr>
              <a:t>Decay is the opposite kind of mechanism — slow, automatic, and driven by a curve nobody has data for yet.</a:t>
            </a:r>
          </a:p>
          <a:p>
            <a:pPr>
              <a:lnSpc>
                <a:spcPct val="130000"/>
              </a:lnSpc>
            </a:pPr>
            <a:r>
              <a:rPr sz="1300" b="0">
                <a:solidFill>
                  <a:srgbClr val="475569"/>
                </a:solidFill>
                <a:latin typeface="Segoe UI"/>
              </a:rPr>
              <a:t>It is the parameter in this phase most likely to be wrong on the first attempt.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502920"/>
            <a:ext cx="106070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100" b="1">
                <a:solidFill>
                  <a:srgbClr val="94A3B8"/>
                </a:solidFill>
                <a:latin typeface="Segoe UI"/>
              </a:rPr>
              <a:t>THE HARD PART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" y="841248"/>
            <a:ext cx="106070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3100" b="1">
                <a:solidFill>
                  <a:srgbClr val="0F172A"/>
                </a:solidFill>
                <a:latin typeface="Segoe UI"/>
              </a:rPr>
              <a:t>Every number here is a fitted curve</a:t>
            </a:r>
          </a:p>
        </p:txBody>
      </p:sp>
      <p:sp>
        <p:nvSpPr>
          <p:cNvPr id="4" name="Rectangle 3"/>
          <p:cNvSpPr/>
          <p:nvPr/>
        </p:nvSpPr>
        <p:spPr>
          <a:xfrm>
            <a:off x="777240" y="1572768"/>
            <a:ext cx="1005840" cy="36576"/>
          </a:xfrm>
          <a:prstGeom prst="rect">
            <a:avLst/>
          </a:prstGeom>
          <a:solidFill>
            <a:srgbClr val="ED71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77240" y="1828800"/>
            <a:ext cx="10515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30000"/>
              </a:lnSpc>
            </a:pPr>
            <a:r>
              <a:rPr sz="1500" b="0">
                <a:solidFill>
                  <a:srgbClr val="475569"/>
                </a:solidFill>
                <a:latin typeface="Segoe UI"/>
              </a:rPr>
              <a:t>Decay half-life. Dependency damping. The brightness floor. How much a dependent is worth.</a:t>
            </a:r>
          </a:p>
          <a:p>
            <a:pPr>
              <a:lnSpc>
                <a:spcPct val="130000"/>
              </a:lnSpc>
            </a:pPr>
            <a:r>
              <a:rPr sz="1500" b="0">
                <a:solidFill>
                  <a:srgbClr val="475569"/>
                </a:solidFill>
                <a:latin typeface="Segoe UI"/>
              </a:rPr>
              <a:t>Each is a number somebody has to choose, and Phase 0 already showed what happens when one is guessed.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77240" y="2971800"/>
            <a:ext cx="10515600" cy="1005840"/>
          </a:xfrm>
          <a:prstGeom prst="roundRect">
            <a:avLst>
              <a:gd name="adj" fmla="val 4000"/>
            </a:avLst>
          </a:prstGeom>
          <a:solidFill>
            <a:srgbClr val="FE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51560" y="3154680"/>
            <a:ext cx="996696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lnSpc>
                <a:spcPct val="115000"/>
              </a:lnSpc>
            </a:pPr>
            <a:r>
              <a:rPr sz="1350" b="1">
                <a:solidFill>
                  <a:srgbClr val="7F1D1D"/>
                </a:solidFill>
                <a:latin typeface="Segoe UI"/>
              </a:rPr>
              <a:t>A threshold fitted to one query set gave 0% false gaps on that set and 31.6% on a held-out one.</a:t>
            </a:r>
          </a:p>
          <a:p>
            <a:pPr>
              <a:lnSpc>
                <a:spcPct val="115000"/>
              </a:lnSpc>
            </a:pPr>
            <a:r>
              <a:rPr sz="1350" b="1">
                <a:solidFill>
                  <a:srgbClr val="7F1D1D"/>
                </a:solidFill>
                <a:latin typeface="Segoe UI"/>
              </a:rPr>
              <a:t>Four more of those, stacked and compounding, is how a ranking quietly stops being worth trusting.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4251960"/>
            <a:ext cx="10515600" cy="2103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30000"/>
              </a:lnSpc>
            </a:pPr>
            <a:r>
              <a:rPr sz="1300" b="0">
                <a:solidFill>
                  <a:srgbClr val="475569"/>
                </a:solidFill>
                <a:latin typeface="Segoe UI"/>
              </a:rPr>
              <a:t>So the rule for this phase: every parameter either ships with its derivation, or ships marked provisional in</a:t>
            </a:r>
          </a:p>
          <a:p>
            <a:pPr>
              <a:lnSpc>
                <a:spcPct val="130000"/>
              </a:lnSpc>
            </a:pPr>
            <a:r>
              <a:rPr sz="1300" b="0">
                <a:solidFill>
                  <a:srgbClr val="475569"/>
                </a:solidFill>
                <a:latin typeface="Segoe UI"/>
              </a:rPr>
              <a:t>the variable that holds it. No exceptions, and no number that merely looks settled.</a:t>
            </a:r>
          </a:p>
          <a:p>
            <a:pPr>
              <a:lnSpc>
                <a:spcPct val="130000"/>
              </a:lnSpc>
            </a:pPr>
            <a:r>
              <a:rPr sz="1300" b="0">
                <a:solidFill>
                  <a:srgbClr val="475569"/>
                </a:solidFill>
                <a:latin typeface="Segoe UI"/>
              </a:rPr>
              <a:t/>
            </a:r>
          </a:p>
          <a:p>
            <a:pPr>
              <a:lnSpc>
                <a:spcPct val="130000"/>
              </a:lnSpc>
            </a:pPr>
            <a:r>
              <a:rPr sz="1300" b="0">
                <a:solidFill>
                  <a:srgbClr val="475569"/>
                </a:solidFill>
                <a:latin typeface="Segoe UI"/>
              </a:rPr>
              <a:t>The blind simulation in sim/ is the instrument. It already replaced the clustering similarity guess of 0.5</a:t>
            </a:r>
          </a:p>
          <a:p>
            <a:pPr>
              <a:lnSpc>
                <a:spcPct val="130000"/>
              </a:lnSpc>
            </a:pPr>
            <a:r>
              <a:rPr sz="1300" b="0">
                <a:solidFill>
                  <a:srgbClr val="475569"/>
                </a:solidFill>
                <a:latin typeface="Segoe UI"/>
              </a:rPr>
              <a:t>with a measured 0.35 — and, more usefully, established that the within-need and across-need distributions</a:t>
            </a:r>
          </a:p>
          <a:p>
            <a:pPr>
              <a:lnSpc>
                <a:spcPct val="130000"/>
              </a:lnSpc>
            </a:pPr>
            <a:r>
              <a:rPr sz="1300" b="0">
                <a:solidFill>
                  <a:srgbClr val="475569"/>
                </a:solidFill>
                <a:latin typeface="Segoe UI"/>
              </a:rPr>
              <a:t>OVERLAP, so no perfect threshold exists and the real question is which error to prefer.</a:t>
            </a:r>
          </a:p>
          <a:p>
            <a:pPr>
              <a:lnSpc>
                <a:spcPct val="130000"/>
              </a:lnSpc>
            </a:pPr>
            <a:r>
              <a:rPr sz="1300" b="0">
                <a:solidFill>
                  <a:srgbClr val="475569"/>
                </a:solidFill>
                <a:latin typeface="Segoe UI"/>
              </a:rPr>
              <a:t/>
            </a:r>
          </a:p>
          <a:p>
            <a:pPr>
              <a:lnSpc>
                <a:spcPct val="130000"/>
              </a:lnSpc>
            </a:pPr>
            <a:r>
              <a:rPr sz="1300" b="0">
                <a:solidFill>
                  <a:srgbClr val="475569"/>
                </a:solidFill>
                <a:latin typeface="Segoe UI"/>
              </a:rPr>
              <a:t>Where the simulation cannot settle a number, the number says so. That is a finding, not a failure.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502920"/>
            <a:ext cx="106070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100" b="1">
                <a:solidFill>
                  <a:srgbClr val="94A3B8"/>
                </a:solidFill>
                <a:latin typeface="Segoe UI"/>
              </a:rPr>
              <a:t>THE INVARIANT UNDER TEST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" y="841248"/>
            <a:ext cx="106070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3100" b="1">
                <a:solidFill>
                  <a:srgbClr val="0F172A"/>
                </a:solidFill>
                <a:latin typeface="Segoe UI"/>
              </a:rPr>
              <a:t>Money never reaches agent-facing ranking</a:t>
            </a:r>
          </a:p>
        </p:txBody>
      </p:sp>
      <p:sp>
        <p:nvSpPr>
          <p:cNvPr id="4" name="Rectangle 3"/>
          <p:cNvSpPr/>
          <p:nvPr/>
        </p:nvSpPr>
        <p:spPr>
          <a:xfrm>
            <a:off x="777240" y="1572768"/>
            <a:ext cx="1005840" cy="36576"/>
          </a:xfrm>
          <a:prstGeom prst="rect">
            <a:avLst/>
          </a:prstGeom>
          <a:solidFill>
            <a:srgbClr val="ED71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777240" y="1783080"/>
          <a:ext cx="10515600" cy="87782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43200"/>
                <a:gridCol w="5760720"/>
                <a:gridCol w="2011680"/>
              </a:tblGrid>
              <a:tr h="292608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Segoe UI"/>
                        </a:rPr>
                        <a:t>Phase 2 paid product</a:t>
                      </a:r>
                    </a:p>
                  </a:txBody>
                  <a:tcPr marL="91440" marR="73152" marT="27432" marB="27432" anchor="ctr"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Segoe UI"/>
                        </a:rPr>
                        <a:t>What it buys</a:t>
                      </a:r>
                    </a:p>
                  </a:txBody>
                  <a:tcPr marL="91440" marR="73152" marT="27432" marB="27432" anchor="ctr"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Segoe UI"/>
                        </a:rPr>
                        <a:t>Touches ranking?</a:t>
                      </a:r>
                    </a:p>
                  </a:txBody>
                  <a:tcPr marL="91440" marR="73152" marT="27432" marB="27432" anchor="ctr">
                    <a:solidFill>
                      <a:srgbClr val="0F172A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100" b="0">
                          <a:solidFill>
                            <a:srgbClr val="475569"/>
                          </a:solidFill>
                          <a:latin typeface="Segoe UI"/>
                        </a:rPr>
                        <a:t>Visual stasis</a:t>
                      </a:r>
                    </a:p>
                  </a:txBody>
                  <a:tcPr marL="91440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100" b="0">
                          <a:solidFill>
                            <a:srgbClr val="475569"/>
                          </a:solidFill>
                          <a:latin typeface="Segoe UI"/>
                        </a:rPr>
                        <a:t>A star keeps shining in the 3D world when usage drops</a:t>
                      </a:r>
                    </a:p>
                  </a:txBody>
                  <a:tcPr marL="91440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100" b="0">
                          <a:solidFill>
                            <a:srgbClr val="475569"/>
                          </a:solidFill>
                          <a:latin typeface="Segoe UI"/>
                        </a:rPr>
                        <a:t>No — cosmetic only</a:t>
                      </a:r>
                    </a:p>
                  </a:txBody>
                  <a:tcPr marL="91440" marR="73152" marT="27432" marB="27432" anchor="ctr"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100" b="0">
                          <a:solidFill>
                            <a:srgbClr val="475569"/>
                          </a:solidFill>
                          <a:latin typeface="Segoe UI"/>
                        </a:rPr>
                        <a:t>Gap bounties</a:t>
                      </a:r>
                    </a:p>
                  </a:txBody>
                  <a:tcPr marL="91440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100" b="0">
                          <a:solidFill>
                            <a:srgbClr val="475569"/>
                          </a:solidFill>
                          <a:latin typeface="Segoe UI"/>
                        </a:rPr>
                        <a:t>A reward for closing a confirmed unmet need well</a:t>
                      </a:r>
                    </a:p>
                  </a:txBody>
                  <a:tcPr marL="91440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100" b="0">
                          <a:solidFill>
                            <a:srgbClr val="475569"/>
                          </a:solidFill>
                          <a:latin typeface="Segoe UI"/>
                        </a:rPr>
                        <a:t>No — rewards closure quality</a:t>
                      </a:r>
                    </a:p>
                  </a:txBody>
                  <a:tcPr marL="91440" marR="73152" marT="27432" marB="27432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Rounded Rectangle 5"/>
          <p:cNvSpPr/>
          <p:nvPr/>
        </p:nvSpPr>
        <p:spPr>
          <a:xfrm>
            <a:off x="777240" y="2926080"/>
            <a:ext cx="10515600" cy="960120"/>
          </a:xfrm>
          <a:prstGeom prst="roundRect">
            <a:avLst>
              <a:gd name="adj" fmla="val 4000"/>
            </a:avLst>
          </a:prstGeom>
          <a:solidFill>
            <a:srgbClr val="FFF7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51560" y="3108960"/>
            <a:ext cx="9966960" cy="5943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lnSpc>
                <a:spcPct val="115000"/>
              </a:lnSpc>
            </a:pPr>
            <a:r>
              <a:rPr sz="1350" b="1">
                <a:solidFill>
                  <a:srgbClr val="7C2D12"/>
                </a:solidFill>
                <a:latin typeface="Segoe UI"/>
              </a:rPr>
              <a:t>assertNoPaidInputs runs over every scored row on every nightly pass. A field derived from payment</a:t>
            </a:r>
          </a:p>
          <a:p>
            <a:pPr>
              <a:lnSpc>
                <a:spcPct val="115000"/>
              </a:lnSpc>
            </a:pPr>
            <a:r>
              <a:rPr sz="1350" b="1">
                <a:solidFill>
                  <a:srgbClr val="7C2D12"/>
                </a:solidFill>
                <a:latin typeface="Segoe UI"/>
              </a:rPr>
              <a:t>reaching the scorer fails the run loudly rather than quietly publishing a bought ranking.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4114800"/>
            <a:ext cx="10515600" cy="2194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30000"/>
              </a:lnSpc>
            </a:pPr>
            <a:r>
              <a:rPr sz="1300" b="0">
                <a:solidFill>
                  <a:srgbClr val="475569"/>
                </a:solidFill>
                <a:latin typeface="Segoe UI"/>
              </a:rPr>
              <a:t>The standing commitment says every new paid product gets a test proving it does not reach ranking. Stasis</a:t>
            </a:r>
          </a:p>
          <a:p>
            <a:pPr>
              <a:lnSpc>
                <a:spcPct val="130000"/>
              </a:lnSpc>
            </a:pPr>
            <a:r>
              <a:rPr sz="1300" b="0">
                <a:solidFill>
                  <a:srgbClr val="475569"/>
                </a:solidFill>
                <a:latin typeface="Segoe UI"/>
              </a:rPr>
              <a:t>is the first product that makes that commitment cost something, because it is genuinely adjacent — it buys</a:t>
            </a:r>
          </a:p>
          <a:p>
            <a:pPr>
              <a:lnSpc>
                <a:spcPct val="130000"/>
              </a:lnSpc>
            </a:pPr>
            <a:r>
              <a:rPr sz="1300" b="0">
                <a:solidFill>
                  <a:srgbClr val="475569"/>
                </a:solidFill>
                <a:latin typeface="Segoe UI"/>
              </a:rPr>
              <a:t>visibility in the world, and the argument that world visibility is not ranking has to hold up.</a:t>
            </a:r>
          </a:p>
          <a:p>
            <a:pPr>
              <a:lnSpc>
                <a:spcPct val="130000"/>
              </a:lnSpc>
            </a:pPr>
            <a:r>
              <a:rPr sz="1300" b="0">
                <a:solidFill>
                  <a:srgbClr val="475569"/>
                </a:solidFill>
                <a:latin typeface="Segoe UI"/>
              </a:rPr>
              <a:t/>
            </a:r>
          </a:p>
          <a:p>
            <a:pPr>
              <a:lnSpc>
                <a:spcPct val="130000"/>
              </a:lnSpc>
            </a:pPr>
            <a:r>
              <a:rPr sz="1300" b="0">
                <a:solidFill>
                  <a:srgbClr val="475569"/>
                </a:solidFill>
                <a:latin typeface="Segoe UI"/>
              </a:rPr>
              <a:t>Bounties reward quality of closure judged after the fact, never speed of publishing; otherwise creators race</a:t>
            </a:r>
          </a:p>
          <a:p>
            <a:pPr>
              <a:lnSpc>
                <a:spcPct val="130000"/>
              </a:lnSpc>
            </a:pPr>
            <a:r>
              <a:rPr sz="1300" b="0">
                <a:solidFill>
                  <a:srgbClr val="475569"/>
                </a:solidFill>
                <a:latin typeface="Segoe UI"/>
              </a:rPr>
              <a:t>to close gaps badly. And the closer's own demand is removed from the evidence before the reward is</a:t>
            </a:r>
          </a:p>
          <a:p>
            <a:pPr>
              <a:lnSpc>
                <a:spcPct val="130000"/>
              </a:lnSpc>
            </a:pPr>
            <a:r>
              <a:rPr sz="1300" b="0">
                <a:solidFill>
                  <a:srgbClr val="475569"/>
                </a:solidFill>
                <a:latin typeface="Segoe UI"/>
              </a:rPr>
              <a:t>assessed, because whoever benefits from a need looking urgent is the person who closes it.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502920"/>
            <a:ext cx="106070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100" b="1">
                <a:solidFill>
                  <a:srgbClr val="94A3B8"/>
                </a:solidFill>
                <a:latin typeface="Segoe UI"/>
              </a:rPr>
              <a:t>PLAN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" y="841248"/>
            <a:ext cx="106070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3100" b="1">
                <a:solidFill>
                  <a:srgbClr val="0F172A"/>
                </a:solidFill>
                <a:latin typeface="Segoe UI"/>
              </a:rPr>
              <a:t>Eight issues</a:t>
            </a:r>
          </a:p>
        </p:txBody>
      </p:sp>
      <p:sp>
        <p:nvSpPr>
          <p:cNvPr id="4" name="Rectangle 3"/>
          <p:cNvSpPr/>
          <p:nvPr/>
        </p:nvSpPr>
        <p:spPr>
          <a:xfrm>
            <a:off x="777240" y="1572768"/>
            <a:ext cx="1005840" cy="36576"/>
          </a:xfrm>
          <a:prstGeom prst="rect">
            <a:avLst/>
          </a:prstGeom>
          <a:solidFill>
            <a:srgbClr val="ED71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77240" y="1783080"/>
            <a:ext cx="104241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500" b="0">
                <a:solidFill>
                  <a:srgbClr val="475569"/>
                </a:solidFill>
                <a:latin typeface="Segoe UI"/>
              </a:rPr>
              <a:t>Estimates for one developer. #1 is done.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777240" y="2240280"/>
          <a:ext cx="10515600" cy="263347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48640"/>
                <a:gridCol w="6675120"/>
                <a:gridCol w="1005840"/>
                <a:gridCol w="2286000"/>
              </a:tblGrid>
              <a:tr h="292608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Segoe UI"/>
                        </a:rPr>
                        <a:t>#</a:t>
                      </a:r>
                    </a:p>
                  </a:txBody>
                  <a:tcPr marL="91440" marR="73152" marT="27432" marB="27432" anchor="ctr"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Segoe UI"/>
                        </a:rPr>
                        <a:t>Issue</a:t>
                      </a:r>
                    </a:p>
                  </a:txBody>
                  <a:tcPr marL="91440" marR="73152" marT="27432" marB="27432" anchor="ctr"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Segoe UI"/>
                        </a:rPr>
                        <a:t>Est.</a:t>
                      </a:r>
                    </a:p>
                  </a:txBody>
                  <a:tcPr marL="91440" marR="73152" marT="27432" marB="27432" anchor="ctr"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Segoe UI"/>
                        </a:rPr>
                        <a:t>Depends on</a:t>
                      </a:r>
                    </a:p>
                  </a:txBody>
                  <a:tcPr marL="91440" marR="73152" marT="27432" marB="27432" anchor="ctr">
                    <a:solidFill>
                      <a:srgbClr val="0F172A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100" b="0">
                          <a:solidFill>
                            <a:srgbClr val="475569"/>
                          </a:solidFill>
                          <a:latin typeface="Segoe UI"/>
                        </a:rPr>
                        <a:t>1</a:t>
                      </a:r>
                    </a:p>
                  </a:txBody>
                  <a:tcPr marL="91440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100" b="0">
                          <a:solidFill>
                            <a:srgbClr val="475569"/>
                          </a:solidFill>
                          <a:latin typeface="Segoe UI"/>
                        </a:rPr>
                        <a:t>Tool-to-tool calls through the registry, recorded as a graph</a:t>
                      </a:r>
                    </a:p>
                  </a:txBody>
                  <a:tcPr marL="91440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100" b="0">
                          <a:solidFill>
                            <a:srgbClr val="475569"/>
                          </a:solidFill>
                          <a:latin typeface="Segoe UI"/>
                        </a:rPr>
                        <a:t>M</a:t>
                      </a:r>
                    </a:p>
                  </a:txBody>
                  <a:tcPr marL="91440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100" b="0">
                          <a:solidFill>
                            <a:srgbClr val="475569"/>
                          </a:solidFill>
                          <a:latin typeface="Segoe UI"/>
                        </a:rPr>
                        <a:t>— DONE</a:t>
                      </a:r>
                    </a:p>
                  </a:txBody>
                  <a:tcPr marL="91440" marR="73152" marT="27432" marB="27432" anchor="ctr"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100" b="0">
                          <a:solidFill>
                            <a:srgbClr val="475569"/>
                          </a:solidFill>
                          <a:latin typeface="Segoe UI"/>
                        </a:rPr>
                        <a:t>2</a:t>
                      </a:r>
                    </a:p>
                  </a:txBody>
                  <a:tcPr marL="91440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100" b="0">
                          <a:solidFill>
                            <a:srgbClr val="475569"/>
                          </a:solidFill>
                          <a:latin typeface="Segoe UI"/>
                        </a:rPr>
                        <a:t>Brightness: success rate and latency, tracked separately from mass</a:t>
                      </a:r>
                    </a:p>
                  </a:txBody>
                  <a:tcPr marL="91440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100" b="0">
                          <a:solidFill>
                            <a:srgbClr val="475569"/>
                          </a:solidFill>
                          <a:latin typeface="Segoe UI"/>
                        </a:rPr>
                        <a:t>S</a:t>
                      </a:r>
                    </a:p>
                  </a:txBody>
                  <a:tcPr marL="91440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100" b="0">
                          <a:solidFill>
                            <a:srgbClr val="475569"/>
                          </a:solidFill>
                          <a:latin typeface="Segoe UI"/>
                        </a:rPr>
                        <a:t>1</a:t>
                      </a:r>
                    </a:p>
                  </a:txBody>
                  <a:tcPr marL="91440" marR="73152" marT="27432" marB="27432" anchor="ctr"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100" b="0">
                          <a:solidFill>
                            <a:srgbClr val="475569"/>
                          </a:solidFill>
                          <a:latin typeface="Segoe UI"/>
                        </a:rPr>
                        <a:t>3</a:t>
                      </a:r>
                    </a:p>
                  </a:txBody>
                  <a:tcPr marL="91440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100" b="0">
                          <a:solidFill>
                            <a:srgbClr val="475569"/>
                          </a:solidFill>
                          <a:latin typeface="Segoe UI"/>
                        </a:rPr>
                        <a:t>Dependency weighting, damped, read off the recorded graph</a:t>
                      </a:r>
                    </a:p>
                  </a:txBody>
                  <a:tcPr marL="91440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100" b="0">
                          <a:solidFill>
                            <a:srgbClr val="475569"/>
                          </a:solidFill>
                          <a:latin typeface="Segoe UI"/>
                        </a:rPr>
                        <a:t>M</a:t>
                      </a:r>
                    </a:p>
                  </a:txBody>
                  <a:tcPr marL="91440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100" b="0">
                          <a:solidFill>
                            <a:srgbClr val="475569"/>
                          </a:solidFill>
                          <a:latin typeface="Segoe UI"/>
                        </a:rPr>
                        <a:t>1</a:t>
                      </a:r>
                    </a:p>
                  </a:txBody>
                  <a:tcPr marL="91440" marR="73152" marT="27432" marB="27432" anchor="ctr"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100" b="0">
                          <a:solidFill>
                            <a:srgbClr val="475569"/>
                          </a:solidFill>
                          <a:latin typeface="Segoe UI"/>
                        </a:rPr>
                        <a:t>4</a:t>
                      </a:r>
                    </a:p>
                  </a:txBody>
                  <a:tcPr marL="91440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100" b="0">
                          <a:solidFill>
                            <a:srgbClr val="475569"/>
                          </a:solidFill>
                          <a:latin typeface="Segoe UI"/>
                        </a:rPr>
                        <a:t>Decay curves and the archival floor</a:t>
                      </a:r>
                    </a:p>
                  </a:txBody>
                  <a:tcPr marL="91440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100" b="0">
                          <a:solidFill>
                            <a:srgbClr val="475569"/>
                          </a:solidFill>
                          <a:latin typeface="Segoe UI"/>
                        </a:rPr>
                        <a:t>M</a:t>
                      </a:r>
                    </a:p>
                  </a:txBody>
                  <a:tcPr marL="91440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100" b="0">
                          <a:solidFill>
                            <a:srgbClr val="475569"/>
                          </a:solidFill>
                          <a:latin typeface="Segoe UI"/>
                        </a:rPr>
                        <a:t>2, 3</a:t>
                      </a:r>
                    </a:p>
                  </a:txBody>
                  <a:tcPr marL="91440" marR="73152" marT="27432" marB="27432" anchor="ctr"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100" b="0">
                          <a:solidFill>
                            <a:srgbClr val="475569"/>
                          </a:solidFill>
                          <a:latin typeface="Segoe UI"/>
                        </a:rPr>
                        <a:t>5</a:t>
                      </a:r>
                    </a:p>
                  </a:txBody>
                  <a:tcPr marL="91440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100" b="0">
                          <a:solidFill>
                            <a:srgbClr val="475569"/>
                          </a:solidFill>
                          <a:latin typeface="Segoe UI"/>
                        </a:rPr>
                        <a:t>Stasis flag, with the test proving it never reaches ranking</a:t>
                      </a:r>
                    </a:p>
                  </a:txBody>
                  <a:tcPr marL="91440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100" b="0">
                          <a:solidFill>
                            <a:srgbClr val="475569"/>
                          </a:solidFill>
                          <a:latin typeface="Segoe UI"/>
                        </a:rPr>
                        <a:t>S</a:t>
                      </a:r>
                    </a:p>
                  </a:txBody>
                  <a:tcPr marL="91440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100" b="0">
                          <a:solidFill>
                            <a:srgbClr val="475569"/>
                          </a:solidFill>
                          <a:latin typeface="Segoe UI"/>
                        </a:rPr>
                        <a:t>4</a:t>
                      </a:r>
                    </a:p>
                  </a:txBody>
                  <a:tcPr marL="91440" marR="73152" marT="27432" marB="27432" anchor="ctr"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100" b="0">
                          <a:solidFill>
                            <a:srgbClr val="475569"/>
                          </a:solidFill>
                          <a:latin typeface="Segoe UI"/>
                        </a:rPr>
                        <a:t>6</a:t>
                      </a:r>
                    </a:p>
                  </a:txBody>
                  <a:tcPr marL="91440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100" b="0">
                          <a:solidFill>
                            <a:srgbClr val="475569"/>
                          </a:solidFill>
                          <a:latin typeface="Segoe UI"/>
                        </a:rPr>
                        <a:t>Anti-gaming checks against the new surfaces</a:t>
                      </a:r>
                    </a:p>
                  </a:txBody>
                  <a:tcPr marL="91440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100" b="0">
                          <a:solidFill>
                            <a:srgbClr val="475569"/>
                          </a:solidFill>
                          <a:latin typeface="Segoe UI"/>
                        </a:rPr>
                        <a:t>M</a:t>
                      </a:r>
                    </a:p>
                  </a:txBody>
                  <a:tcPr marL="91440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100" b="0">
                          <a:solidFill>
                            <a:srgbClr val="475569"/>
                          </a:solidFill>
                          <a:latin typeface="Segoe UI"/>
                        </a:rPr>
                        <a:t>3, 4</a:t>
                      </a:r>
                    </a:p>
                  </a:txBody>
                  <a:tcPr marL="91440" marR="73152" marT="27432" marB="27432" anchor="ctr"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100" b="0">
                          <a:solidFill>
                            <a:srgbClr val="475569"/>
                          </a:solidFill>
                          <a:latin typeface="Segoe UI"/>
                        </a:rPr>
                        <a:t>7</a:t>
                      </a:r>
                    </a:p>
                  </a:txBody>
                  <a:tcPr marL="91440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100" b="0">
                          <a:solidFill>
                            <a:srgbClr val="475569"/>
                          </a:solidFill>
                          <a:latin typeface="Segoe UI"/>
                        </a:rPr>
                        <a:t>First bounties: posting, closure test, beneficiary exclusion</a:t>
                      </a:r>
                    </a:p>
                  </a:txBody>
                  <a:tcPr marL="91440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100" b="0">
                          <a:solidFill>
                            <a:srgbClr val="475569"/>
                          </a:solidFill>
                          <a:latin typeface="Segoe UI"/>
                        </a:rPr>
                        <a:t>L</a:t>
                      </a:r>
                    </a:p>
                  </a:txBody>
                  <a:tcPr marL="91440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100" b="0">
                          <a:solidFill>
                            <a:srgbClr val="475569"/>
                          </a:solidFill>
                          <a:latin typeface="Segoe UI"/>
                        </a:rPr>
                        <a:t>4, 6</a:t>
                      </a:r>
                    </a:p>
                  </a:txBody>
                  <a:tcPr marL="91440" marR="73152" marT="27432" marB="27432" anchor="ctr"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100" b="0">
                          <a:solidFill>
                            <a:srgbClr val="475569"/>
                          </a:solidFill>
                          <a:latin typeface="Segoe UI"/>
                        </a:rPr>
                        <a:t>8</a:t>
                      </a:r>
                    </a:p>
                  </a:txBody>
                  <a:tcPr marL="91440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100" b="0">
                          <a:solidFill>
                            <a:srgbClr val="475569"/>
                          </a:solidFill>
                          <a:latin typeface="Segoe UI"/>
                        </a:rPr>
                        <a:t>Phase 2 findings, with every parameter's derivation or its absence</a:t>
                      </a:r>
                    </a:p>
                  </a:txBody>
                  <a:tcPr marL="91440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100" b="0">
                          <a:solidFill>
                            <a:srgbClr val="475569"/>
                          </a:solidFill>
                          <a:latin typeface="Segoe UI"/>
                        </a:rPr>
                        <a:t>S</a:t>
                      </a:r>
                    </a:p>
                  </a:txBody>
                  <a:tcPr marL="91440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100" b="0">
                          <a:solidFill>
                            <a:srgbClr val="475569"/>
                          </a:solidFill>
                          <a:latin typeface="Segoe UI"/>
                        </a:rPr>
                        <a:t>all</a:t>
                      </a:r>
                    </a:p>
                  </a:txBody>
                  <a:tcPr marL="91440" marR="73152" marT="27432" marB="27432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Rounded Rectangle 6"/>
          <p:cNvSpPr/>
          <p:nvPr/>
        </p:nvSpPr>
        <p:spPr>
          <a:xfrm>
            <a:off x="777240" y="5074920"/>
            <a:ext cx="10515600" cy="1234440"/>
          </a:xfrm>
          <a:prstGeom prst="roundRect">
            <a:avLst>
              <a:gd name="adj" fmla="val 4000"/>
            </a:avLst>
          </a:prstGeom>
          <a:solidFill>
            <a:srgbClr val="FFF7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51560" y="5257800"/>
            <a:ext cx="9966960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lnSpc>
                <a:spcPct val="115000"/>
              </a:lnSpc>
            </a:pPr>
            <a:r>
              <a:rPr sz="1350" b="1">
                <a:solidFill>
                  <a:srgbClr val="7C2D12"/>
                </a:solidFill>
                <a:latin typeface="Segoe UI"/>
              </a:rPr>
              <a:t>#6 is a gate, not a task. Anti-gaming has to pass before bounties exist, because a bounty is the first</a:t>
            </a:r>
          </a:p>
          <a:p>
            <a:pPr>
              <a:lnSpc>
                <a:spcPct val="115000"/>
              </a:lnSpc>
            </a:pPr>
            <a:r>
              <a:rPr sz="1350" b="1">
                <a:solidFill>
                  <a:srgbClr val="7C2D12"/>
                </a:solidFill>
                <a:latin typeface="Segoe UI"/>
              </a:rPr>
              <a:t>thing in Endless actually worth gaming — and the incentive to game a ranking arrives with the money,</a:t>
            </a:r>
          </a:p>
          <a:p>
            <a:pPr>
              <a:lnSpc>
                <a:spcPct val="115000"/>
              </a:lnSpc>
            </a:pPr>
            <a:r>
              <a:rPr sz="1350" b="1">
                <a:solidFill>
                  <a:srgbClr val="7C2D12"/>
                </a:solidFill>
                <a:latin typeface="Segoe UI"/>
              </a:rPr>
              <a:t>not before it.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502920"/>
            <a:ext cx="106070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100" b="1">
                <a:solidFill>
                  <a:srgbClr val="94A3B8"/>
                </a:solidFill>
                <a:latin typeface="Segoe UI"/>
              </a:rPr>
              <a:t>SEQUENCING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" y="841248"/>
            <a:ext cx="106070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3100" b="1">
                <a:solidFill>
                  <a:srgbClr val="0F172A"/>
                </a:solidFill>
                <a:latin typeface="Segoe UI"/>
              </a:rPr>
              <a:t>What blocks what</a:t>
            </a:r>
          </a:p>
        </p:txBody>
      </p:sp>
      <p:sp>
        <p:nvSpPr>
          <p:cNvPr id="4" name="Rectangle 3"/>
          <p:cNvSpPr/>
          <p:nvPr/>
        </p:nvSpPr>
        <p:spPr>
          <a:xfrm>
            <a:off x="777240" y="1572768"/>
            <a:ext cx="1005840" cy="36576"/>
          </a:xfrm>
          <a:prstGeom prst="rect">
            <a:avLst/>
          </a:prstGeom>
          <a:solidFill>
            <a:srgbClr val="ED71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77240" y="1874519"/>
            <a:ext cx="10515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400" b="1">
                <a:solidFill>
                  <a:srgbClr val="0F172A"/>
                </a:solidFill>
                <a:latin typeface="Segoe UI"/>
              </a:rPr>
              <a:t>#1 Moons  →  #2 Brightness  ·  #3 Dependency weight  →  #4 Decay  →  #5 Stasis  →  #6 Anti-gaming  →  #7 Bounties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2606040"/>
            <a:ext cx="1051560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30000"/>
              </a:lnSpc>
            </a:pPr>
            <a:r>
              <a:rPr sz="1300" b="0">
                <a:solidFill>
                  <a:srgbClr val="475569"/>
                </a:solidFill>
                <a:latin typeface="Segoe UI"/>
              </a:rPr>
              <a:t>#1 came first because nothing else was measurable without it. PROJECT.md is explicit: without recorded</a:t>
            </a:r>
          </a:p>
          <a:p>
            <a:pPr>
              <a:lnSpc>
                <a:spcPct val="130000"/>
              </a:lnSpc>
            </a:pPr>
            <a:r>
              <a:rPr sz="1300" b="0">
                <a:solidFill>
                  <a:srgbClr val="475569"/>
                </a:solidFill>
                <a:latin typeface="Segoe UI"/>
              </a:rPr>
              <a:t>tool-to-tool calls there is nothing to weigh, so dependency weight would have been a claim rather than a</a:t>
            </a:r>
          </a:p>
          <a:p>
            <a:pPr>
              <a:lnSpc>
                <a:spcPct val="130000"/>
              </a:lnSpc>
            </a:pPr>
            <a:r>
              <a:rPr sz="1300" b="0">
                <a:solidFill>
                  <a:srgbClr val="475569"/>
                </a:solidFill>
                <a:latin typeface="Segoe UI"/>
              </a:rPr>
              <a:t>measurement. It is now in the event log as via_tool, depth and root_call_id.</a:t>
            </a:r>
          </a:p>
          <a:p>
            <a:pPr>
              <a:lnSpc>
                <a:spcPct val="130000"/>
              </a:lnSpc>
            </a:pPr>
            <a:r>
              <a:rPr sz="1300" b="0">
                <a:solidFill>
                  <a:srgbClr val="475569"/>
                </a:solidFill>
                <a:latin typeface="Segoe UI"/>
              </a:rPr>
              <a:t/>
            </a:r>
          </a:p>
          <a:p>
            <a:pPr>
              <a:lnSpc>
                <a:spcPct val="130000"/>
              </a:lnSpc>
            </a:pPr>
            <a:r>
              <a:rPr sz="1300" b="0">
                <a:solidFill>
                  <a:srgbClr val="475569"/>
                </a:solidFill>
                <a:latin typeface="Segoe UI"/>
              </a:rPr>
              <a:t>#2 and #3 can run in parallel. Brightness needs only the outcome and duration already recorded; dependency</a:t>
            </a:r>
          </a:p>
          <a:p>
            <a:pPr>
              <a:lnSpc>
                <a:spcPct val="130000"/>
              </a:lnSpc>
            </a:pPr>
            <a:r>
              <a:rPr sz="1300" b="0">
                <a:solidFill>
                  <a:srgbClr val="475569"/>
                </a:solidFill>
                <a:latin typeface="Segoe UI"/>
              </a:rPr>
              <a:t>weight needs only the graph. Neither waits on the other.</a:t>
            </a:r>
          </a:p>
          <a:p>
            <a:pPr>
              <a:lnSpc>
                <a:spcPct val="130000"/>
              </a:lnSpc>
            </a:pPr>
            <a:r>
              <a:rPr sz="1300" b="0">
                <a:solidFill>
                  <a:srgbClr val="475569"/>
                </a:solidFill>
                <a:latin typeface="Segoe UI"/>
              </a:rPr>
              <a:t/>
            </a:r>
          </a:p>
          <a:p>
            <a:pPr>
              <a:lnSpc>
                <a:spcPct val="130000"/>
              </a:lnSpc>
            </a:pPr>
            <a:r>
              <a:rPr sz="1300" b="0">
                <a:solidFill>
                  <a:srgbClr val="475569"/>
                </a:solidFill>
                <a:latin typeface="Segoe UI"/>
              </a:rPr>
              <a:t>#4 is where the guessing risk concentrates. Decay is one curve that changes every score on the board, and</a:t>
            </a:r>
          </a:p>
          <a:p>
            <a:pPr>
              <a:lnSpc>
                <a:spcPct val="130000"/>
              </a:lnSpc>
            </a:pPr>
            <a:r>
              <a:rPr sz="1300" b="0">
                <a:solidFill>
                  <a:srgbClr val="475569"/>
                </a:solidFill>
                <a:latin typeface="Segoe UI"/>
              </a:rPr>
              <a:t>it is the parameter with the least data behind it. Derive it against the simulation before it ships.</a:t>
            </a:r>
          </a:p>
          <a:p>
            <a:pPr>
              <a:lnSpc>
                <a:spcPct val="130000"/>
              </a:lnSpc>
            </a:pPr>
            <a:r>
              <a:rPr sz="1300" b="0">
                <a:solidFill>
                  <a:srgbClr val="475569"/>
                </a:solidFill>
                <a:latin typeface="Segoe UI"/>
              </a:rPr>
              <a:t/>
            </a:r>
          </a:p>
          <a:p>
            <a:pPr>
              <a:lnSpc>
                <a:spcPct val="130000"/>
              </a:lnSpc>
            </a:pPr>
            <a:r>
              <a:rPr sz="1300" b="0">
                <a:solidFill>
                  <a:srgbClr val="475569"/>
                </a:solidFill>
                <a:latin typeface="Segoe UI"/>
              </a:rPr>
              <a:t>#6 gates #7. The moment a bounty is payable, there is a reason to manufacture the need that justifies it —</a:t>
            </a:r>
          </a:p>
          <a:p>
            <a:pPr>
              <a:lnSpc>
                <a:spcPct val="130000"/>
              </a:lnSpc>
            </a:pPr>
            <a:r>
              <a:rPr sz="1300" b="0">
                <a:solidFill>
                  <a:srgbClr val="475569"/>
                </a:solidFill>
                <a:latin typeface="Segoe UI"/>
              </a:rPr>
              <a:t>and the counting rules that defend against that were written for a world with no prize attached.</a:t>
            </a:r>
          </a:p>
          <a:p>
            <a:pPr>
              <a:lnSpc>
                <a:spcPct val="130000"/>
              </a:lnSpc>
            </a:pPr>
            <a:r>
              <a:rPr sz="1300" b="0">
                <a:solidFill>
                  <a:srgbClr val="475569"/>
                </a:solidFill>
                <a:latin typeface="Segoe UI"/>
              </a:rPr>
              <a:t/>
            </a:r>
          </a:p>
          <a:p>
            <a:pPr>
              <a:lnSpc>
                <a:spcPct val="130000"/>
              </a:lnSpc>
            </a:pPr>
            <a:r>
              <a:rPr sz="1300" b="0">
                <a:solidFill>
                  <a:srgbClr val="475569"/>
                </a:solidFill>
                <a:latin typeface="Segoe UI"/>
              </a:rPr>
              <a:t>#8 is the exit, as in both previous phases. The gate clears, or a written finding says why it does not.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502920"/>
            <a:ext cx="106070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100" b="1">
                <a:solidFill>
                  <a:srgbClr val="94A3B8"/>
                </a:solidFill>
                <a:latin typeface="Segoe UI"/>
              </a:rPr>
              <a:t>COST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" y="841248"/>
            <a:ext cx="106070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3100" b="1">
                <a:solidFill>
                  <a:srgbClr val="0F172A"/>
                </a:solidFill>
                <a:latin typeface="Segoe UI"/>
              </a:rPr>
              <a:t>What Phase 2 adds to the bill</a:t>
            </a:r>
          </a:p>
        </p:txBody>
      </p:sp>
      <p:sp>
        <p:nvSpPr>
          <p:cNvPr id="4" name="Rectangle 3"/>
          <p:cNvSpPr/>
          <p:nvPr/>
        </p:nvSpPr>
        <p:spPr>
          <a:xfrm>
            <a:off x="777240" y="1572768"/>
            <a:ext cx="1005840" cy="36576"/>
          </a:xfrm>
          <a:prstGeom prst="rect">
            <a:avLst/>
          </a:prstGeom>
          <a:solidFill>
            <a:srgbClr val="ED71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777240" y="1783080"/>
          <a:ext cx="10515600" cy="14630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03120"/>
                <a:gridCol w="3291840"/>
                <a:gridCol w="5120640"/>
              </a:tblGrid>
              <a:tr h="292608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</a:p>
                  </a:txBody>
                  <a:tcPr marL="91440" marR="73152" marT="27432" marB="27432" anchor="ctr"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Segoe UI"/>
                        </a:rPr>
                        <a:t>Phase 1 measured</a:t>
                      </a:r>
                    </a:p>
                  </a:txBody>
                  <a:tcPr marL="91440" marR="73152" marT="27432" marB="27432" anchor="ctr"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Segoe UI"/>
                        </a:rPr>
                        <a:t>Phase 2 effect</a:t>
                      </a:r>
                    </a:p>
                  </a:txBody>
                  <a:tcPr marL="91440" marR="73152" marT="27432" marB="27432" anchor="ctr">
                    <a:solidFill>
                      <a:srgbClr val="0F172A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100" b="0">
                          <a:solidFill>
                            <a:srgbClr val="475569"/>
                          </a:solidFill>
                          <a:latin typeface="Segoe UI"/>
                        </a:rPr>
                        <a:t>Per search</a:t>
                      </a:r>
                    </a:p>
                  </a:txBody>
                  <a:tcPr marL="91440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100" b="0">
                          <a:solidFill>
                            <a:srgbClr val="475569"/>
                          </a:solidFill>
                          <a:latin typeface="Segoe UI"/>
                        </a:rPr>
                        <a:t>$14.87 per million</a:t>
                      </a:r>
                    </a:p>
                  </a:txBody>
                  <a:tcPr marL="91440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100" b="0">
                          <a:solidFill>
                            <a:srgbClr val="475569"/>
                          </a:solidFill>
                          <a:latin typeface="Segoe UI"/>
                        </a:rPr>
                        <a:t>Unchanged — Phase 2 does not touch retrieval</a:t>
                      </a:r>
                    </a:p>
                  </a:txBody>
                  <a:tcPr marL="91440" marR="73152" marT="27432" marB="27432" anchor="ctr"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100" b="0">
                          <a:solidFill>
                            <a:srgbClr val="475569"/>
                          </a:solidFill>
                          <a:latin typeface="Segoe UI"/>
                        </a:rPr>
                        <a:t>Per tool call</a:t>
                      </a:r>
                    </a:p>
                  </a:txBody>
                  <a:tcPr marL="91440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100" b="0">
                          <a:solidFill>
                            <a:srgbClr val="475569"/>
                          </a:solidFill>
                          <a:latin typeface="Segoe UI"/>
                        </a:rPr>
                        <a:t>$3.64 per million</a:t>
                      </a:r>
                    </a:p>
                  </a:txBody>
                  <a:tcPr marL="91440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100" b="0">
                          <a:solidFill>
                            <a:srgbClr val="475569"/>
                          </a:solidFill>
                          <a:latin typeface="Segoe UI"/>
                        </a:rPr>
                        <a:t>Multiplied by chain length: a 3-deep call is 3 executions</a:t>
                      </a:r>
                    </a:p>
                  </a:txBody>
                  <a:tcPr marL="91440" marR="73152" marT="27432" marB="27432" anchor="ctr"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100" b="0">
                          <a:solidFill>
                            <a:srgbClr val="475569"/>
                          </a:solidFill>
                          <a:latin typeface="Segoe UI"/>
                        </a:rPr>
                        <a:t>Nightly scoring</a:t>
                      </a:r>
                    </a:p>
                  </a:txBody>
                  <a:tcPr marL="91440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100" b="0">
                          <a:solidFill>
                            <a:srgbClr val="475569"/>
                          </a:solidFill>
                          <a:latin typeface="Segoe UI"/>
                        </a:rPr>
                        <a:t>Negligible</a:t>
                      </a:r>
                    </a:p>
                  </a:txBody>
                  <a:tcPr marL="91440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100" b="0">
                          <a:solidFill>
                            <a:srgbClr val="475569"/>
                          </a:solidFill>
                          <a:latin typeface="Segoe UI"/>
                        </a:rPr>
                        <a:t>Grows with the event log, not with traffic rate</a:t>
                      </a:r>
                    </a:p>
                  </a:txBody>
                  <a:tcPr marL="91440" marR="73152" marT="27432" marB="27432" anchor="ctr"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100" b="0">
                          <a:solidFill>
                            <a:srgbClr val="475569"/>
                          </a:solidFill>
                          <a:latin typeface="Segoe UI"/>
                        </a:rPr>
                        <a:t>The board</a:t>
                      </a:r>
                    </a:p>
                  </a:txBody>
                  <a:tcPr marL="91440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100" b="0">
                          <a:solidFill>
                            <a:srgbClr val="475569"/>
                          </a:solidFill>
                          <a:latin typeface="Segoe UI"/>
                        </a:rPr>
                        <a:t>Free at any plausible volume</a:t>
                      </a:r>
                    </a:p>
                  </a:txBody>
                  <a:tcPr marL="91440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100" b="0">
                          <a:solidFill>
                            <a:srgbClr val="475569"/>
                          </a:solidFill>
                          <a:latin typeface="Segoe UI"/>
                        </a:rPr>
                        <a:t>Unchanged — static objects behind CloudFront</a:t>
                      </a:r>
                    </a:p>
                  </a:txBody>
                  <a:tcPr marL="91440" marR="73152" marT="27432" marB="27432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Rounded Rectangle 5"/>
          <p:cNvSpPr/>
          <p:nvPr/>
        </p:nvSpPr>
        <p:spPr>
          <a:xfrm>
            <a:off x="777240" y="3520440"/>
            <a:ext cx="10515600" cy="960120"/>
          </a:xfrm>
          <a:prstGeom prst="roundRect">
            <a:avLst>
              <a:gd name="adj" fmla="val 4000"/>
            </a:avLst>
          </a:prstGeom>
          <a:solidFill>
            <a:srgbClr val="FFF7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51560" y="3703320"/>
            <a:ext cx="9966960" cy="5943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lnSpc>
                <a:spcPct val="115000"/>
              </a:lnSpc>
            </a:pPr>
            <a:r>
              <a:rPr sz="1350" b="1">
                <a:solidFill>
                  <a:srgbClr val="7C2D12"/>
                </a:solidFill>
                <a:latin typeface="Segoe UI"/>
              </a:rPr>
              <a:t>Depth 3 and breadth 4 are cost controls as much as safety ones. One call to a fully nested tool is</a:t>
            </a:r>
          </a:p>
          <a:p>
            <a:pPr>
              <a:lnSpc>
                <a:spcPct val="115000"/>
              </a:lnSpc>
            </a:pPr>
            <a:r>
              <a:rPr sz="1350" b="1">
                <a:solidFill>
                  <a:srgbClr val="7C2D12"/>
                </a:solidFill>
                <a:latin typeface="Segoe UI"/>
              </a:rPr>
              <a:t>thirteen sandbox executions, and that is the number those two limits were chosen to bound.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4709160"/>
            <a:ext cx="10515600" cy="1691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30000"/>
              </a:lnSpc>
            </a:pPr>
            <a:r>
              <a:rPr sz="1300" b="0">
                <a:solidFill>
                  <a:srgbClr val="475569"/>
                </a:solidFill>
                <a:latin typeface="Segoe UI"/>
              </a:rPr>
              <a:t>Phase 1 measured that a search costs 4.1x running a tool, which was backwards from the intuition — search</a:t>
            </a:r>
          </a:p>
          <a:p>
            <a:pPr>
              <a:lnSpc>
                <a:spcPct val="130000"/>
              </a:lnSpc>
            </a:pPr>
            <a:r>
              <a:rPr sz="1300" b="0">
                <a:solidFill>
                  <a:srgbClr val="475569"/>
                </a:solidFill>
                <a:latin typeface="Segoe UI"/>
              </a:rPr>
              <a:t>pays for two model calls and execution pays for none. Composition changes that arithmetic: a deep chain is</a:t>
            </a:r>
          </a:p>
          <a:p>
            <a:pPr>
              <a:lnSpc>
                <a:spcPct val="130000"/>
              </a:lnSpc>
            </a:pPr>
            <a:r>
              <a:rPr sz="1300" b="0">
                <a:solidFill>
                  <a:srgbClr val="475569"/>
                </a:solidFill>
                <a:latin typeface="Segoe UI"/>
              </a:rPr>
              <a:t>several executions and still no model calls, so it stays the cheap side.</a:t>
            </a:r>
          </a:p>
          <a:p>
            <a:pPr>
              <a:lnSpc>
                <a:spcPct val="130000"/>
              </a:lnSpc>
            </a:pPr>
            <a:r>
              <a:rPr sz="1300" b="0">
                <a:solidFill>
                  <a:srgbClr val="475569"/>
                </a:solidFill>
                <a:latin typeface="Segoe UI"/>
              </a:rPr>
              <a:t/>
            </a:r>
          </a:p>
          <a:p>
            <a:pPr>
              <a:lnSpc>
                <a:spcPct val="130000"/>
              </a:lnSpc>
            </a:pPr>
            <a:r>
              <a:rPr sz="1300" b="0">
                <a:solidFill>
                  <a:srgbClr val="475569"/>
                </a:solidFill>
                <a:latin typeface="Segoe UI"/>
              </a:rPr>
              <a:t>The sandbox itself remains rounding error at 4ms p50, which is worth re-stating whenever Fargate is raised.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502920"/>
            <a:ext cx="106070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100" b="1">
                <a:solidFill>
                  <a:srgbClr val="94A3B8"/>
                </a:solidFill>
                <a:latin typeface="Segoe UI"/>
              </a:rPr>
              <a:t>RISKS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" y="841248"/>
            <a:ext cx="106070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3100" b="1">
                <a:solidFill>
                  <a:srgbClr val="0F172A"/>
                </a:solidFill>
                <a:latin typeface="Segoe UI"/>
              </a:rPr>
              <a:t>What could go wrong</a:t>
            </a:r>
          </a:p>
        </p:txBody>
      </p:sp>
      <p:sp>
        <p:nvSpPr>
          <p:cNvPr id="4" name="Rectangle 3"/>
          <p:cNvSpPr/>
          <p:nvPr/>
        </p:nvSpPr>
        <p:spPr>
          <a:xfrm>
            <a:off x="777240" y="1572768"/>
            <a:ext cx="1005840" cy="36576"/>
          </a:xfrm>
          <a:prstGeom prst="rect">
            <a:avLst/>
          </a:prstGeom>
          <a:solidFill>
            <a:srgbClr val="ED71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777240" y="1783080"/>
          <a:ext cx="10515600" cy="204825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108960"/>
                <a:gridCol w="7406640"/>
              </a:tblGrid>
              <a:tr h="292608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Segoe UI"/>
                        </a:rPr>
                        <a:t>Risk</a:t>
                      </a:r>
                    </a:p>
                  </a:txBody>
                  <a:tcPr marL="91440" marR="73152" marT="27432" marB="27432" anchor="ctr"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Segoe UI"/>
                        </a:rPr>
                        <a:t>Why it bites here</a:t>
                      </a:r>
                    </a:p>
                  </a:txBody>
                  <a:tcPr marL="91440" marR="73152" marT="27432" marB="27432" anchor="ctr">
                    <a:solidFill>
                      <a:srgbClr val="0F172A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100" b="0">
                          <a:solidFill>
                            <a:srgbClr val="475569"/>
                          </a:solidFill>
                          <a:latin typeface="Segoe UI"/>
                        </a:rPr>
                        <a:t>Guessed curves compound</a:t>
                      </a:r>
                    </a:p>
                  </a:txBody>
                  <a:tcPr marL="91440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100" b="0">
                          <a:solidFill>
                            <a:srgbClr val="475569"/>
                          </a:solidFill>
                          <a:latin typeface="Segoe UI"/>
                        </a:rPr>
                        <a:t>Four parameters, each fitted to almost no data, multiplying into one order</a:t>
                      </a:r>
                    </a:p>
                  </a:txBody>
                  <a:tcPr marL="91440" marR="73152" marT="27432" marB="27432" anchor="ctr"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100" b="0">
                          <a:solidFill>
                            <a:srgbClr val="475569"/>
                          </a:solidFill>
                          <a:latin typeface="Segoe UI"/>
                        </a:rPr>
                        <a:t>Dependency weight is gameable</a:t>
                      </a:r>
                    </a:p>
                  </a:txBody>
                  <a:tcPr marL="91440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100" b="0">
                          <a:solidFill>
                            <a:srgbClr val="475569"/>
                          </a:solidFill>
                          <a:latin typeface="Segoe UI"/>
                        </a:rPr>
                        <a:t>Publish tools that depend on your own, and standing appears from nothing</a:t>
                      </a:r>
                    </a:p>
                  </a:txBody>
                  <a:tcPr marL="91440" marR="73152" marT="27432" marB="27432" anchor="ctr"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100" b="0">
                          <a:solidFill>
                            <a:srgbClr val="475569"/>
                          </a:solidFill>
                          <a:latin typeface="Segoe UI"/>
                        </a:rPr>
                        <a:t>Decay punishes the seasonal</a:t>
                      </a:r>
                    </a:p>
                  </a:txBody>
                  <a:tcPr marL="91440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100" b="0">
                          <a:solidFill>
                            <a:srgbClr val="475569"/>
                          </a:solidFill>
                          <a:latin typeface="Segoe UI"/>
                        </a:rPr>
                        <a:t>A tool used heavily once a quarter looks identical to one nobody wants</a:t>
                      </a:r>
                    </a:p>
                  </a:txBody>
                  <a:tcPr marL="91440" marR="73152" marT="27432" marB="27432" anchor="ctr"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100" b="0">
                          <a:solidFill>
                            <a:srgbClr val="475569"/>
                          </a:solidFill>
                          <a:latin typeface="Segoe UI"/>
                        </a:rPr>
                        <a:t>Stasis erodes the trust claim</a:t>
                      </a:r>
                    </a:p>
                  </a:txBody>
                  <a:tcPr marL="91440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100" b="0">
                          <a:solidFill>
                            <a:srgbClr val="475569"/>
                          </a:solidFill>
                          <a:latin typeface="Segoe UI"/>
                        </a:rPr>
                        <a:t>Cosmetic today; the pressure to let it touch ranking arrives with revenue</a:t>
                      </a:r>
                    </a:p>
                  </a:txBody>
                  <a:tcPr marL="91440" marR="73152" marT="27432" marB="27432" anchor="ctr"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100" b="0">
                          <a:solidFill>
                            <a:srgbClr val="475569"/>
                          </a:solidFill>
                          <a:latin typeface="Segoe UI"/>
                        </a:rPr>
                        <a:t>Bounties reward speed</a:t>
                      </a:r>
                    </a:p>
                  </a:txBody>
                  <a:tcPr marL="91440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100" b="0">
                          <a:solidFill>
                            <a:srgbClr val="475569"/>
                          </a:solidFill>
                          <a:latin typeface="Segoe UI"/>
                        </a:rPr>
                        <a:t>Racing to close a gap badly is easier than closing it well, unless judged after</a:t>
                      </a:r>
                    </a:p>
                  </a:txBody>
                  <a:tcPr marL="91440" marR="73152" marT="27432" marB="27432" anchor="ctr"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100" b="0">
                          <a:solidFill>
                            <a:srgbClr val="475569"/>
                          </a:solidFill>
                          <a:latin typeface="Segoe UI"/>
                        </a:rPr>
                        <a:t>Still no users</a:t>
                      </a:r>
                    </a:p>
                  </a:txBody>
                  <a:tcPr marL="91440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100" b="0">
                          <a:solidFill>
                            <a:srgbClr val="475569"/>
                          </a:solidFill>
                          <a:latin typeface="Segoe UI"/>
                        </a:rPr>
                        <a:t>Trusting a ranking unsupervised cannot be demonstrated without somebody to trust it</a:t>
                      </a:r>
                    </a:p>
                  </a:txBody>
                  <a:tcPr marL="91440" marR="73152" marT="27432" marB="27432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Rounded Rectangle 5"/>
          <p:cNvSpPr/>
          <p:nvPr/>
        </p:nvSpPr>
        <p:spPr>
          <a:xfrm>
            <a:off x="777240" y="3977639"/>
            <a:ext cx="10515600" cy="1005840"/>
          </a:xfrm>
          <a:prstGeom prst="roundRect">
            <a:avLst>
              <a:gd name="adj" fmla="val 4000"/>
            </a:avLst>
          </a:prstGeom>
          <a:solidFill>
            <a:srgbClr val="FE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51560" y="4160520"/>
            <a:ext cx="996696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lnSpc>
                <a:spcPct val="115000"/>
              </a:lnSpc>
            </a:pPr>
            <a:r>
              <a:rPr sz="1350" b="1">
                <a:solidFill>
                  <a:srgbClr val="7F1D1D"/>
                </a:solidFill>
                <a:latin typeface="Segoe UI"/>
              </a:rPr>
              <a:t>Self-dealing through dependencies is the one genuinely new attack surface. The self-call rule already</a:t>
            </a:r>
          </a:p>
          <a:p>
            <a:pPr>
              <a:lnSpc>
                <a:spcPct val="115000"/>
              </a:lnSpc>
            </a:pPr>
            <a:r>
              <a:rPr sz="1350" b="1">
                <a:solidFill>
                  <a:srgbClr val="7F1D1D"/>
                </a:solidFill>
                <a:latin typeface="Segoe UI"/>
              </a:rPr>
              <a:t>covers an owner calling their own tool; it says nothing yet about an owner DEPENDING on their own tool.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5257800"/>
            <a:ext cx="10515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5000"/>
              </a:lnSpc>
            </a:pPr>
            <a:r>
              <a:rPr sz="1250" b="0">
                <a:solidFill>
                  <a:srgbClr val="64748B"/>
                </a:solidFill>
                <a:latin typeface="Segoe UI"/>
              </a:rPr>
              <a:t>That gap is why #6 exists and why it gates bounties. The fix is likely the same shape as the one that works</a:t>
            </a:r>
          </a:p>
          <a:p>
            <a:pPr>
              <a:lnSpc>
                <a:spcPct val="125000"/>
              </a:lnSpc>
            </a:pPr>
            <a:r>
              <a:rPr sz="1250" b="0">
                <a:solidFill>
                  <a:srgbClr val="64748B"/>
                </a:solidFill>
                <a:latin typeface="Segoe UI"/>
              </a:rPr>
              <a:t>elsewhere: count distinct owners rather than occurrences, and discount the beneficiary. It has to be</a:t>
            </a:r>
          </a:p>
          <a:p>
            <a:pPr>
              <a:lnSpc>
                <a:spcPct val="125000"/>
              </a:lnSpc>
            </a:pPr>
            <a:r>
              <a:rPr sz="1250" b="0">
                <a:solidFill>
                  <a:srgbClr val="64748B"/>
                </a:solidFill>
                <a:latin typeface="Segoe UI"/>
              </a:rPr>
              <a:t>measured against the simulation rather than assumed to transfer.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502920"/>
            <a:ext cx="106070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100" b="1">
                <a:solidFill>
                  <a:srgbClr val="94A3B8"/>
                </a:solidFill>
                <a:latin typeface="Segoe UI"/>
              </a:rPr>
              <a:t>THE GATE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" y="841248"/>
            <a:ext cx="106070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3100" b="1">
                <a:solidFill>
                  <a:srgbClr val="0F172A"/>
                </a:solidFill>
                <a:latin typeface="Segoe UI"/>
              </a:rPr>
              <a:t>What would prove Phase 2</a:t>
            </a:r>
          </a:p>
        </p:txBody>
      </p:sp>
      <p:sp>
        <p:nvSpPr>
          <p:cNvPr id="4" name="Rectangle 3"/>
          <p:cNvSpPr/>
          <p:nvPr/>
        </p:nvSpPr>
        <p:spPr>
          <a:xfrm>
            <a:off x="777240" y="1572768"/>
            <a:ext cx="1005840" cy="36576"/>
          </a:xfrm>
          <a:prstGeom prst="rect">
            <a:avLst/>
          </a:prstGeom>
          <a:solidFill>
            <a:srgbClr val="ED71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77240" y="1828800"/>
            <a:ext cx="10515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30000"/>
              </a:lnSpc>
            </a:pPr>
            <a:r>
              <a:rPr sz="1400" b="0">
                <a:solidFill>
                  <a:srgbClr val="475569"/>
                </a:solidFill>
                <a:latin typeface="Segoe UI"/>
              </a:rPr>
              <a:t>Phase 0's gate passed while a third of answerable queries were being logged as unmet needs, because the</a:t>
            </a:r>
          </a:p>
          <a:p>
            <a:pPr>
              <a:lnSpc>
                <a:spcPct val="130000"/>
              </a:lnSpc>
            </a:pPr>
            <a:r>
              <a:rPr sz="1400" b="0">
                <a:solidFill>
                  <a:srgbClr val="475569"/>
                </a:solidFill>
                <a:latin typeface="Segoe UI"/>
              </a:rPr>
              <a:t>gate never asked about false gaps. These are written to avoid repeating that.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777240" y="2697480"/>
          <a:ext cx="10515600" cy="175564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937760"/>
                <a:gridCol w="5577840"/>
              </a:tblGrid>
              <a:tr h="292608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Segoe UI"/>
                        </a:rPr>
                        <a:t>Must hold</a:t>
                      </a:r>
                    </a:p>
                  </a:txBody>
                  <a:tcPr marL="91440" marR="73152" marT="27432" marB="27432" anchor="ctr"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Segoe UI"/>
                        </a:rPr>
                        <a:t>How it is checked</a:t>
                      </a:r>
                    </a:p>
                  </a:txBody>
                  <a:tcPr marL="91440" marR="73152" marT="27432" marB="27432" anchor="ctr">
                    <a:solidFill>
                      <a:srgbClr val="0F172A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100" b="0">
                          <a:solidFill>
                            <a:srgbClr val="475569"/>
                          </a:solidFill>
                          <a:latin typeface="Segoe UI"/>
                        </a:rPr>
                        <a:t>Every parameter has a derivation or is marked provisional</a:t>
                      </a:r>
                    </a:p>
                  </a:txBody>
                  <a:tcPr marL="91440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100" b="0">
                          <a:solidFill>
                            <a:srgbClr val="475569"/>
                          </a:solidFill>
                          <a:latin typeface="Segoe UI"/>
                        </a:rPr>
                        <a:t>Read the variable descriptions; no silent defaults</a:t>
                      </a:r>
                    </a:p>
                  </a:txBody>
                  <a:tcPr marL="91440" marR="73152" marT="27432" marB="27432" anchor="ctr"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100" b="0">
                          <a:solidFill>
                            <a:srgbClr val="475569"/>
                          </a:solidFill>
                          <a:latin typeface="Segoe UI"/>
                        </a:rPr>
                        <a:t>Dependency weight cannot be self-awarded</a:t>
                      </a:r>
                    </a:p>
                  </a:txBody>
                  <a:tcPr marL="91440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100" b="0">
                          <a:solidFill>
                            <a:srgbClr val="475569"/>
                          </a:solidFill>
                          <a:latin typeface="Segoe UI"/>
                        </a:rPr>
                        <a:t>Simulated owner depending on their own tool gains nothing</a:t>
                      </a:r>
                    </a:p>
                  </a:txBody>
                  <a:tcPr marL="91440" marR="73152" marT="27432" marB="27432" anchor="ctr"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100" b="0">
                          <a:solidFill>
                            <a:srgbClr val="475569"/>
                          </a:solidFill>
                          <a:latin typeface="Segoe UI"/>
                        </a:rPr>
                        <a:t>A paid field cannot reach a score</a:t>
                      </a:r>
                    </a:p>
                  </a:txBody>
                  <a:tcPr marL="91440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100" b="0">
                          <a:solidFill>
                            <a:srgbClr val="475569"/>
                          </a:solidFill>
                          <a:latin typeface="Segoe UI"/>
                        </a:rPr>
                        <a:t>assertNoPaidInputs fails the nightly run, tested deliberately</a:t>
                      </a:r>
                    </a:p>
                  </a:txBody>
                  <a:tcPr marL="91440" marR="73152" marT="27432" marB="27432" anchor="ctr"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100" b="0">
                          <a:solidFill>
                            <a:srgbClr val="475569"/>
                          </a:solidFill>
                          <a:latin typeface="Segoe UI"/>
                        </a:rPr>
                        <a:t>Decay does not archive something still in use</a:t>
                      </a:r>
                    </a:p>
                  </a:txBody>
                  <a:tcPr marL="91440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100" b="0">
                          <a:solidFill>
                            <a:srgbClr val="475569"/>
                          </a:solidFill>
                          <a:latin typeface="Segoe UI"/>
                        </a:rPr>
                        <a:t>Replay the log at several half-lives and compare</a:t>
                      </a:r>
                    </a:p>
                  </a:txBody>
                  <a:tcPr marL="91440" marR="73152" marT="27432" marB="27432" anchor="ctr"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100" b="0">
                          <a:solidFill>
                            <a:srgbClr val="475569"/>
                          </a:solidFill>
                          <a:latin typeface="Segoe UI"/>
                        </a:rPr>
                        <a:t>An archived tool still resolves for dependents</a:t>
                      </a:r>
                    </a:p>
                  </a:txBody>
                  <a:tcPr marL="91440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100" b="0">
                          <a:solidFill>
                            <a:srgbClr val="475569"/>
                          </a:solidFill>
                          <a:latin typeface="Segoe UI"/>
                        </a:rPr>
                        <a:t>Call a tool whose dependency has been archived</a:t>
                      </a:r>
                    </a:p>
                  </a:txBody>
                  <a:tcPr marL="91440" marR="73152" marT="27432" marB="27432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Rounded Rectangle 6"/>
          <p:cNvSpPr/>
          <p:nvPr/>
        </p:nvSpPr>
        <p:spPr>
          <a:xfrm>
            <a:off x="777240" y="4526280"/>
            <a:ext cx="10515600" cy="914400"/>
          </a:xfrm>
          <a:prstGeom prst="roundRect">
            <a:avLst>
              <a:gd name="adj" fmla="val 4000"/>
            </a:avLst>
          </a:prstGeom>
          <a:solidFill>
            <a:srgbClr val="FFF7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51560" y="4709160"/>
            <a:ext cx="996696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lnSpc>
                <a:spcPct val="115000"/>
              </a:lnSpc>
            </a:pPr>
            <a:r>
              <a:rPr sz="1350" b="1">
                <a:solidFill>
                  <a:srgbClr val="7C2D12"/>
                </a:solidFill>
                <a:latin typeface="Segoe UI"/>
              </a:rPr>
              <a:t>And the honest row: none of this demonstrates that a stranger would trust the ranking, because there is</a:t>
            </a:r>
          </a:p>
          <a:p>
            <a:pPr>
              <a:lnSpc>
                <a:spcPct val="115000"/>
              </a:lnSpc>
            </a:pPr>
            <a:r>
              <a:rPr sz="1350" b="1">
                <a:solidFill>
                  <a:srgbClr val="7C2D12"/>
                </a:solidFill>
                <a:latin typeface="Segoe UI"/>
              </a:rPr>
              <a:t>still no stranger. Phase 2 can prove the ranking is defensible; it cannot prove it is trusted.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5669280"/>
            <a:ext cx="10515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250" b="0">
                <a:solidFill>
                  <a:srgbClr val="64748B"/>
                </a:solidFill>
                <a:latin typeface="Segoe UI"/>
              </a:rPr>
              <a:t>The gate clears, or a written finding says why it does not — as in both previous phases.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502920"/>
            <a:ext cx="106070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100" b="1">
                <a:solidFill>
                  <a:srgbClr val="94A3B8"/>
                </a:solidFill>
                <a:latin typeface="Segoe UI"/>
              </a:rPr>
              <a:t>START HERE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" y="841248"/>
            <a:ext cx="106070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3100" b="1">
                <a:solidFill>
                  <a:srgbClr val="0F172A"/>
                </a:solidFill>
                <a:latin typeface="Segoe UI"/>
              </a:rPr>
              <a:t>The first four moves</a:t>
            </a:r>
          </a:p>
        </p:txBody>
      </p:sp>
      <p:sp>
        <p:nvSpPr>
          <p:cNvPr id="4" name="Rectangle 3"/>
          <p:cNvSpPr/>
          <p:nvPr/>
        </p:nvSpPr>
        <p:spPr>
          <a:xfrm>
            <a:off x="777240" y="1572768"/>
            <a:ext cx="1005840" cy="36576"/>
          </a:xfrm>
          <a:prstGeom prst="rect">
            <a:avLst/>
          </a:prstGeom>
          <a:solidFill>
            <a:srgbClr val="ED71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777240" y="1874519"/>
            <a:ext cx="365760" cy="365760"/>
          </a:xfrm>
          <a:prstGeom prst="ellipse">
            <a:avLst/>
          </a:prstGeom>
          <a:solidFill>
            <a:srgbClr val="ED71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200" b="1">
                <a:solidFill>
                  <a:srgbClr val="FFFFFF"/>
                </a:solidFill>
                <a:latin typeface="Segoe UI"/>
              </a:rPr>
              <a:t>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25880" y="1847088"/>
            <a:ext cx="28346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500" b="1">
                <a:solidFill>
                  <a:srgbClr val="0F172A"/>
                </a:solidFill>
                <a:latin typeface="Segoe UI"/>
              </a:rPr>
              <a:t>Brightness (#2)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206240" y="1847088"/>
            <a:ext cx="71323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5000"/>
              </a:lnSpc>
            </a:pPr>
            <a:r>
              <a:rPr sz="1300" b="0">
                <a:solidFill>
                  <a:srgbClr val="475569"/>
                </a:solidFill>
                <a:latin typeface="Segoe UI"/>
              </a:rPr>
              <a:t>Success rate and latency are already in the event log. It is the cheapest real</a:t>
            </a:r>
          </a:p>
          <a:p>
            <a:pPr>
              <a:lnSpc>
                <a:spcPct val="125000"/>
              </a:lnSpc>
            </a:pPr>
            <a:r>
              <a:rPr sz="1300" b="0">
                <a:solidFill>
                  <a:srgbClr val="475569"/>
                </a:solidFill>
                <a:latin typeface="Segoe UI"/>
              </a:rPr>
              <a:t>number in the phase and it needs no new data.</a:t>
            </a:r>
          </a:p>
        </p:txBody>
      </p:sp>
      <p:sp>
        <p:nvSpPr>
          <p:cNvPr id="8" name="Oval 7"/>
          <p:cNvSpPr/>
          <p:nvPr/>
        </p:nvSpPr>
        <p:spPr>
          <a:xfrm>
            <a:off x="777240" y="2926079"/>
            <a:ext cx="365760" cy="365760"/>
          </a:xfrm>
          <a:prstGeom prst="ellipse">
            <a:avLst/>
          </a:prstGeom>
          <a:solidFill>
            <a:srgbClr val="ED71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200" b="1">
                <a:solidFill>
                  <a:srgbClr val="FFFFFF"/>
                </a:solidFill>
                <a:latin typeface="Segoe UI"/>
              </a:rPr>
              <a:t>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325880" y="2898648"/>
            <a:ext cx="28346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500" b="1">
                <a:solidFill>
                  <a:srgbClr val="0F172A"/>
                </a:solidFill>
                <a:latin typeface="Segoe UI"/>
              </a:rPr>
              <a:t>Dependency weight (#3)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206240" y="2898648"/>
            <a:ext cx="71323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5000"/>
              </a:lnSpc>
            </a:pPr>
            <a:r>
              <a:rPr sz="1300" b="0">
                <a:solidFill>
                  <a:srgbClr val="475569"/>
                </a:solidFill>
                <a:latin typeface="Segoe UI"/>
              </a:rPr>
              <a:t>The graph exists as of #1. Damping is the first parameter to derive against the</a:t>
            </a:r>
          </a:p>
          <a:p>
            <a:pPr>
              <a:lnSpc>
                <a:spcPct val="125000"/>
              </a:lnSpc>
            </a:pPr>
            <a:r>
              <a:rPr sz="1300" b="0">
                <a:solidFill>
                  <a:srgbClr val="475569"/>
                </a:solidFill>
                <a:latin typeface="Segoe UI"/>
              </a:rPr>
              <a:t>simulation rather than choose.</a:t>
            </a:r>
          </a:p>
        </p:txBody>
      </p:sp>
      <p:sp>
        <p:nvSpPr>
          <p:cNvPr id="11" name="Oval 10"/>
          <p:cNvSpPr/>
          <p:nvPr/>
        </p:nvSpPr>
        <p:spPr>
          <a:xfrm>
            <a:off x="777240" y="3977639"/>
            <a:ext cx="365760" cy="365760"/>
          </a:xfrm>
          <a:prstGeom prst="ellipse">
            <a:avLst/>
          </a:prstGeom>
          <a:solidFill>
            <a:srgbClr val="ED71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200" b="1">
                <a:solidFill>
                  <a:srgbClr val="FFFFFF"/>
                </a:solidFill>
                <a:latin typeface="Segoe UI"/>
              </a:rPr>
              <a:t>3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325880" y="3950207"/>
            <a:ext cx="28346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500" b="1">
                <a:solidFill>
                  <a:srgbClr val="0F172A"/>
                </a:solidFill>
                <a:latin typeface="Segoe UI"/>
              </a:rPr>
              <a:t>Self-dependency check (#6, early)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206240" y="3950207"/>
            <a:ext cx="71323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5000"/>
              </a:lnSpc>
            </a:pPr>
            <a:r>
              <a:rPr sz="1300" b="0">
                <a:solidFill>
                  <a:srgbClr val="475569"/>
                </a:solidFill>
                <a:latin typeface="Segoe UI"/>
              </a:rPr>
              <a:t>Before decay, not after. It is a new attack surface that the existing anti-gaming</a:t>
            </a:r>
          </a:p>
          <a:p>
            <a:pPr>
              <a:lnSpc>
                <a:spcPct val="125000"/>
              </a:lnSpc>
            </a:pPr>
            <a:r>
              <a:rPr sz="1300" b="0">
                <a:solidFill>
                  <a:srgbClr val="475569"/>
                </a:solidFill>
                <a:latin typeface="Segoe UI"/>
              </a:rPr>
              <a:t>rules were not written for.</a:t>
            </a:r>
          </a:p>
        </p:txBody>
      </p:sp>
      <p:sp>
        <p:nvSpPr>
          <p:cNvPr id="14" name="Oval 13"/>
          <p:cNvSpPr/>
          <p:nvPr/>
        </p:nvSpPr>
        <p:spPr>
          <a:xfrm>
            <a:off x="777240" y="5029200"/>
            <a:ext cx="365760" cy="365760"/>
          </a:xfrm>
          <a:prstGeom prst="ellipse">
            <a:avLst/>
          </a:prstGeom>
          <a:solidFill>
            <a:srgbClr val="ED71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200" b="1">
                <a:solidFill>
                  <a:srgbClr val="FFFFFF"/>
                </a:solidFill>
                <a:latin typeface="Segoe UI"/>
              </a:rPr>
              <a:t>4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25880" y="5001768"/>
            <a:ext cx="28346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500" b="1">
                <a:solidFill>
                  <a:srgbClr val="0F172A"/>
                </a:solidFill>
                <a:latin typeface="Segoe UI"/>
              </a:rPr>
              <a:t>Decay (#4)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206240" y="5001768"/>
            <a:ext cx="71323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5000"/>
              </a:lnSpc>
            </a:pPr>
            <a:r>
              <a:rPr sz="1300" b="0">
                <a:solidFill>
                  <a:srgbClr val="475569"/>
                </a:solidFill>
                <a:latin typeface="Segoe UI"/>
              </a:rPr>
              <a:t>Last of the four, because it changes every score at once and has the least data</a:t>
            </a:r>
          </a:p>
          <a:p>
            <a:pPr>
              <a:lnSpc>
                <a:spcPct val="125000"/>
              </a:lnSpc>
            </a:pPr>
            <a:r>
              <a:rPr sz="1300" b="0">
                <a:solidFill>
                  <a:srgbClr val="475569"/>
                </a:solidFill>
                <a:latin typeface="Segoe UI"/>
              </a:rPr>
              <a:t>standing behind it.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77240" y="6172200"/>
            <a:ext cx="10515600" cy="548640"/>
          </a:xfrm>
          <a:prstGeom prst="roundRect">
            <a:avLst>
              <a:gd name="adj" fmla="val 4000"/>
            </a:avLst>
          </a:prstGeom>
          <a:solidFill>
            <a:srgbClr val="FFF7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051560" y="6355080"/>
            <a:ext cx="9966960" cy="182879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lnSpc>
                <a:spcPct val="115000"/>
              </a:lnSpc>
            </a:pPr>
            <a:r>
              <a:rPr sz="1300" b="1">
                <a:solidFill>
                  <a:srgbClr val="7C2D12"/>
                </a:solidFill>
                <a:latin typeface="Segoe UI"/>
              </a:rPr>
              <a:t>Unchanged and unaffected by any of this: minting a caller still costs nothing.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