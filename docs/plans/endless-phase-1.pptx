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png"/><Relationship Id="rId6" Type="http://schemas.openxmlformats.org/officeDocument/2006/relationships/image" Target="../media/image2.png"/><Relationship Id="rId7" Type="http://schemas.openxmlformats.org/officeDocument/2006/relationships/image" Target="../media/image3.png"/><Relationship Id="rId8" Type="http://schemas.openxmlformats.org/officeDocument/2006/relationships/image" Target="../media/image4.png"/><Relationship Id="rId9" Type="http://schemas.openxmlformats.org/officeDocument/2006/relationships/image" Target="../media/image5.png"/><Relationship Id="rId10"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874519"/>
            <a:ext cx="10058400" cy="365760"/>
          </a:xfrm>
          <a:prstGeom prst="rect">
            <a:avLst/>
          </a:prstGeom>
          <a:noFill/>
        </p:spPr>
        <p:txBody>
          <a:bodyPr wrap="square" lIns="0" rIns="0" tIns="0" bIns="0">
            <a:spAutoFit/>
          </a:bodyPr>
          <a:lstStyle/>
          <a:p>
            <a:pPr algn="l">
              <a:lnSpc>
                <a:spcPct val="100000"/>
              </a:lnSpc>
            </a:pPr>
            <a:r>
              <a:rPr sz="1300" b="1">
                <a:solidFill>
                  <a:srgbClr val="ED7100"/>
                </a:solidFill>
                <a:latin typeface="Segoe UI"/>
              </a:rPr>
              <a:t>ENDLESS</a:t>
            </a:r>
          </a:p>
        </p:txBody>
      </p:sp>
      <p:sp>
        <p:nvSpPr>
          <p:cNvPr id="4" name="TextBox 3"/>
          <p:cNvSpPr txBox="1"/>
          <p:nvPr/>
        </p:nvSpPr>
        <p:spPr>
          <a:xfrm>
            <a:off x="1005840" y="2286000"/>
            <a:ext cx="10241280" cy="1097280"/>
          </a:xfrm>
          <a:prstGeom prst="rect">
            <a:avLst/>
          </a:prstGeom>
          <a:noFill/>
        </p:spPr>
        <p:txBody>
          <a:bodyPr wrap="square" lIns="0" rIns="0" tIns="0" bIns="0">
            <a:spAutoFit/>
          </a:bodyPr>
          <a:lstStyle/>
          <a:p>
            <a:pPr algn="l">
              <a:lnSpc>
                <a:spcPct val="100000"/>
              </a:lnSpc>
            </a:pPr>
            <a:r>
              <a:rPr sz="4600" b="1">
                <a:solidFill>
                  <a:srgbClr val="FFFFFF"/>
                </a:solidFill>
                <a:latin typeface="Segoe UI"/>
              </a:rPr>
              <a:t>Phase 1 — Phantom Layer MVP</a:t>
            </a:r>
          </a:p>
        </p:txBody>
      </p:sp>
      <p:sp>
        <p:nvSpPr>
          <p:cNvPr id="5" name="TextBox 4"/>
          <p:cNvSpPr txBox="1"/>
          <p:nvPr/>
        </p:nvSpPr>
        <p:spPr>
          <a:xfrm>
            <a:off x="1005840" y="3474720"/>
            <a:ext cx="9509760" cy="822960"/>
          </a:xfrm>
          <a:prstGeom prst="rect">
            <a:avLst/>
          </a:prstGeom>
          <a:noFill/>
        </p:spPr>
        <p:txBody>
          <a:bodyPr wrap="square" lIns="0" rIns="0" tIns="0" bIns="0">
            <a:spAutoFit/>
          </a:bodyPr>
          <a:lstStyle/>
          <a:p>
            <a:pPr algn="l">
              <a:lnSpc>
                <a:spcPct val="120000"/>
              </a:lnSpc>
            </a:pPr>
            <a:r>
              <a:rPr sz="1700" b="0">
                <a:solidFill>
                  <a:srgbClr val="94A3B8"/>
                </a:solidFill>
                <a:latin typeface="Segoe UI"/>
              </a:rPr>
              <a:t>How it gets built. Sandboxed execution, verified callers, gap clustering, mass scoring, creator onboarding and a public gaps board.</a:t>
            </a:r>
          </a:p>
        </p:txBody>
      </p:sp>
      <p:pic>
        <p:nvPicPr>
          <p:cNvPr id="6" name="Picture 5" descr="lambda.png"/>
          <p:cNvPicPr>
            <a:picLocks noChangeAspect="1"/>
          </p:cNvPicPr>
          <p:nvPr/>
        </p:nvPicPr>
        <p:blipFill>
          <a:blip r:embed="rId2"/>
          <a:stretch>
            <a:fillRect/>
          </a:stretch>
        </p:blipFill>
        <p:spPr>
          <a:xfrm>
            <a:off x="1005840" y="4663440"/>
            <a:ext cx="502920" cy="502920"/>
          </a:xfrm>
          <a:prstGeom prst="rect">
            <a:avLst/>
          </a:prstGeom>
        </p:spPr>
      </p:pic>
      <p:pic>
        <p:nvPicPr>
          <p:cNvPr id="7" name="Picture 6" descr="fargate.png"/>
          <p:cNvPicPr>
            <a:picLocks noChangeAspect="1"/>
          </p:cNvPicPr>
          <p:nvPr/>
        </p:nvPicPr>
        <p:blipFill>
          <a:blip r:embed="rId3"/>
          <a:stretch>
            <a:fillRect/>
          </a:stretch>
        </p:blipFill>
        <p:spPr>
          <a:xfrm>
            <a:off x="1664208" y="4663440"/>
            <a:ext cx="502920" cy="502920"/>
          </a:xfrm>
          <a:prstGeom prst="rect">
            <a:avLst/>
          </a:prstGeom>
        </p:spPr>
      </p:pic>
      <p:pic>
        <p:nvPicPr>
          <p:cNvPr id="8" name="Picture 7" descr="dynamodb.png"/>
          <p:cNvPicPr>
            <a:picLocks noChangeAspect="1"/>
          </p:cNvPicPr>
          <p:nvPr/>
        </p:nvPicPr>
        <p:blipFill>
          <a:blip r:embed="rId4"/>
          <a:stretch>
            <a:fillRect/>
          </a:stretch>
        </p:blipFill>
        <p:spPr>
          <a:xfrm>
            <a:off x="2322576" y="4663440"/>
            <a:ext cx="502920" cy="502920"/>
          </a:xfrm>
          <a:prstGeom prst="rect">
            <a:avLst/>
          </a:prstGeom>
        </p:spPr>
      </p:pic>
      <p:pic>
        <p:nvPicPr>
          <p:cNvPr id="9" name="Picture 8" descr="eventbridge.png"/>
          <p:cNvPicPr>
            <a:picLocks noChangeAspect="1"/>
          </p:cNvPicPr>
          <p:nvPr/>
        </p:nvPicPr>
        <p:blipFill>
          <a:blip r:embed="rId5"/>
          <a:stretch>
            <a:fillRect/>
          </a:stretch>
        </p:blipFill>
        <p:spPr>
          <a:xfrm>
            <a:off x="2980944" y="4663440"/>
            <a:ext cx="502920" cy="502920"/>
          </a:xfrm>
          <a:prstGeom prst="rect">
            <a:avLst/>
          </a:prstGeom>
        </p:spPr>
      </p:pic>
      <p:pic>
        <p:nvPicPr>
          <p:cNvPr id="10" name="Picture 9" descr="cloudfront.png"/>
          <p:cNvPicPr>
            <a:picLocks noChangeAspect="1"/>
          </p:cNvPicPr>
          <p:nvPr/>
        </p:nvPicPr>
        <p:blipFill>
          <a:blip r:embed="rId6"/>
          <a:stretch>
            <a:fillRect/>
          </a:stretch>
        </p:blipFill>
        <p:spPr>
          <a:xfrm>
            <a:off x="3639312" y="4663440"/>
            <a:ext cx="502920" cy="502920"/>
          </a:xfrm>
          <a:prstGeom prst="rect">
            <a:avLst/>
          </a:prstGeom>
        </p:spPr>
      </p:pic>
      <p:pic>
        <p:nvPicPr>
          <p:cNvPr id="11" name="Picture 10" descr="bedrock.png"/>
          <p:cNvPicPr>
            <a:picLocks noChangeAspect="1"/>
          </p:cNvPicPr>
          <p:nvPr/>
        </p:nvPicPr>
        <p:blipFill>
          <a:blip r:embed="rId7"/>
          <a:stretch>
            <a:fillRect/>
          </a:stretch>
        </p:blipFill>
        <p:spPr>
          <a:xfrm>
            <a:off x="4297679" y="4663440"/>
            <a:ext cx="502920" cy="502920"/>
          </a:xfrm>
          <a:prstGeom prst="rect">
            <a:avLst/>
          </a:prstGeom>
        </p:spPr>
      </p:pic>
      <p:sp>
        <p:nvSpPr>
          <p:cNvPr id="12" name="TextBox 11"/>
          <p:cNvSpPr txBox="1"/>
          <p:nvPr/>
        </p:nvSpPr>
        <p:spPr>
          <a:xfrm>
            <a:off x="1005840" y="5852160"/>
            <a:ext cx="10515600" cy="274320"/>
          </a:xfrm>
          <a:prstGeom prst="rect">
            <a:avLst/>
          </a:prstGeom>
          <a:noFill/>
        </p:spPr>
        <p:txBody>
          <a:bodyPr wrap="square" lIns="0" rIns="0" tIns="0" bIns="0">
            <a:spAutoFit/>
          </a:bodyPr>
          <a:lstStyle/>
          <a:p>
            <a:pPr algn="l">
              <a:lnSpc>
                <a:spcPct val="100000"/>
              </a:lnSpc>
            </a:pPr>
            <a:r>
              <a:rPr sz="1150" b="0">
                <a:solidFill>
                  <a:srgbClr val="64748B"/>
                </a:solidFill>
                <a:latin typeface="Segoe UI"/>
              </a:rPr>
              <a:t>Done when a creator publishes a tool, an agent finds and calls it, and repeated gaps surface automatically.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ABOUT THIS PHASE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Phase 1 is for</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Read this first if you have not read PROJECT.md.</a:t>
            </a:r>
          </a:p>
        </p:txBody>
      </p:sp>
      <p:sp>
        <p:nvSpPr>
          <p:cNvPr id="6" name="TextBox 5"/>
          <p:cNvSpPr txBox="1"/>
          <p:nvPr/>
        </p:nvSpPr>
        <p:spPr>
          <a:xfrm>
            <a:off x="777240" y="2350008"/>
            <a:ext cx="10515600" cy="1371600"/>
          </a:xfrm>
          <a:prstGeom prst="rect">
            <a:avLst/>
          </a:prstGeom>
          <a:noFill/>
        </p:spPr>
        <p:txBody>
          <a:bodyPr wrap="square" lIns="0" rIns="0" tIns="0" bIns="0">
            <a:spAutoFit/>
          </a:bodyPr>
          <a:lstStyle/>
          <a:p>
            <a:pPr>
              <a:lnSpc>
                <a:spcPct val="115000"/>
              </a:lnSpc>
              <a:spcAft>
                <a:spcPts val="800"/>
              </a:spcAft>
            </a:pPr>
            <a:r>
              <a:rPr sz="1400" b="1">
                <a:solidFill>
                  <a:srgbClr val="0F172A"/>
                </a:solidFill>
                <a:latin typeface="Segoe UI"/>
              </a:rPr>
              <a:t>Endless, in one sentence.</a:t>
            </a:r>
            <a:r>
              <a:rPr sz="1400">
                <a:solidFill>
                  <a:srgbClr val="475569"/>
                </a:solidFill>
                <a:latin typeface="Segoe UI"/>
              </a:rPr>
              <a:t>  A shared registry of small tools that AI agents search through — and every search that finds nothing is recorded, so the list of missing tools comes from real use rather than guesswork.</a:t>
            </a:r>
          </a:p>
          <a:p>
            <a:pPr>
              <a:lnSpc>
                <a:spcPct val="115000"/>
              </a:lnSpc>
              <a:spcAft>
                <a:spcPts val="800"/>
              </a:spcAft>
            </a:pPr>
            <a:r>
              <a:rPr sz="1400" b="1">
                <a:solidFill>
                  <a:srgbClr val="0F172A"/>
                </a:solidFill>
                <a:latin typeface="Segoe UI"/>
              </a:rPr>
              <a:t>Phase 0 built the searching and the recording.</a:t>
            </a:r>
            <a:r>
              <a:rPr sz="1400">
                <a:solidFill>
                  <a:srgbClr val="475569"/>
                </a:solidFill>
                <a:latin typeface="Segoe UI"/>
              </a:rPr>
              <a:t>  It finds the right tool, and it knows when none fits. But nothing has ever been run, nobody outside this project has used it, and no gap on the list came from a real need.</a:t>
            </a:r>
          </a:p>
        </p:txBody>
      </p:sp>
      <p:sp>
        <p:nvSpPr>
          <p:cNvPr id="7" name="Rounded Rectangle 6"/>
          <p:cNvSpPr/>
          <p:nvPr/>
        </p:nvSpPr>
        <p:spPr>
          <a:xfrm>
            <a:off x="777240" y="3794760"/>
            <a:ext cx="10515600" cy="86868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3977640"/>
            <a:ext cx="9966960" cy="594359"/>
          </a:xfrm>
          <a:prstGeom prst="rect">
            <a:avLst/>
          </a:prstGeom>
          <a:noFill/>
        </p:spPr>
        <p:txBody>
          <a:bodyPr wrap="square" lIns="0" rIns="0" tIns="0" bIns="0">
            <a:spAutoFit/>
          </a:bodyPr>
          <a:lstStyle/>
          <a:p>
            <a:pPr algn="l">
              <a:lnSpc>
                <a:spcPct val="115000"/>
              </a:lnSpc>
            </a:pPr>
            <a:r>
              <a:rPr sz="1600" b="1">
                <a:solidFill>
                  <a:srgbClr val="7C2D12"/>
                </a:solidFill>
                <a:latin typeface="Segoe UI"/>
              </a:rPr>
              <a:t>Phase 1 is where Endless stops being a catalogue that DESCRIBES tools and becomes a platform that RUNS them.</a:t>
            </a:r>
          </a:p>
        </p:txBody>
      </p:sp>
      <p:sp>
        <p:nvSpPr>
          <p:cNvPr id="9" name="TextBox 8"/>
          <p:cNvSpPr txBox="1"/>
          <p:nvPr/>
        </p:nvSpPr>
        <p:spPr>
          <a:xfrm>
            <a:off x="777240" y="4864608"/>
            <a:ext cx="10515600" cy="1783080"/>
          </a:xfrm>
          <a:prstGeom prst="rect">
            <a:avLst/>
          </a:prstGeom>
          <a:noFill/>
        </p:spPr>
        <p:txBody>
          <a:bodyPr wrap="square" lIns="0" rIns="0" tIns="0" bIns="0">
            <a:spAutoFit/>
          </a:bodyPr>
          <a:lstStyle/>
          <a:p>
            <a:pPr>
              <a:lnSpc>
                <a:spcPct val="115000"/>
              </a:lnSpc>
              <a:spcAft>
                <a:spcPts val="700"/>
              </a:spcAft>
            </a:pPr>
            <a:r>
              <a:rPr sz="1300" b="1">
                <a:solidFill>
                  <a:srgbClr val="0F172A"/>
                </a:solidFill>
                <a:latin typeface="Segoe UI"/>
              </a:rPr>
              <a:t>Three things become real.</a:t>
            </a:r>
            <a:r>
              <a:rPr sz="1300">
                <a:solidFill>
                  <a:srgbClr val="475569"/>
                </a:solidFill>
                <a:latin typeface="Segoe UI"/>
              </a:rPr>
              <a:t>  An agent can call a tool and get a result. Someone who is not you can publish one. The gaps list becomes a public page.</a:t>
            </a:r>
          </a:p>
          <a:p>
            <a:pPr>
              <a:lnSpc>
                <a:spcPct val="115000"/>
              </a:lnSpc>
              <a:spcAft>
                <a:spcPts val="700"/>
              </a:spcAft>
            </a:pPr>
            <a:r>
              <a:rPr sz="1300" b="1">
                <a:solidFill>
                  <a:srgbClr val="0F172A"/>
                </a:solidFill>
                <a:latin typeface="Segoe UI"/>
              </a:rPr>
              <a:t>Which makes it the riskiest phase so far.</a:t>
            </a:r>
            <a:r>
              <a:rPr sz="1300">
                <a:solidFill>
                  <a:srgbClr val="475569"/>
                </a:solidFill>
                <a:latin typeface="Segoe UI"/>
              </a:rPr>
              <a:t>  Each opens a door that was closed: running code you did not write, trusting submissions from strangers, and publishing something people have a reason to manipulate.</a:t>
            </a:r>
          </a:p>
          <a:p>
            <a:pPr>
              <a:lnSpc>
                <a:spcPct val="115000"/>
              </a:lnSpc>
              <a:spcAft>
                <a:spcPts val="700"/>
              </a:spcAft>
            </a:pPr>
            <a:r>
              <a:rPr sz="1300" b="1">
                <a:solidFill>
                  <a:srgbClr val="0F172A"/>
                </a:solidFill>
                <a:latin typeface="Segoe UI"/>
              </a:rPr>
              <a:t>So most of Phase 1 is containment, not features.</a:t>
            </a:r>
            <a:r>
              <a:rPr sz="1300">
                <a:solidFill>
                  <a:srgbClr val="475569"/>
                </a:solidFill>
                <a:latin typeface="Segoe UI"/>
              </a:rPr>
              <a:t>  The sandbox, verified identity and the review gate are all there because of those three doors.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STARTING POINT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Phase 0 leaves behind</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Working machinery, no users, and two findings that change how Phase 1 is built.</a:t>
            </a:r>
          </a:p>
        </p:txBody>
      </p:sp>
      <p:graphicFrame>
        <p:nvGraphicFramePr>
          <p:cNvPr id="6" name="Table 5"/>
          <p:cNvGraphicFramePr>
            <a:graphicFrameLocks noGrp="1"/>
          </p:cNvGraphicFramePr>
          <p:nvPr/>
        </p:nvGraphicFramePr>
        <p:xfrm>
          <a:off x="777240" y="2350008"/>
          <a:ext cx="10515600" cy="2066543"/>
        </p:xfrm>
        <a:graphic>
          <a:graphicData uri="http://schemas.openxmlformats.org/drawingml/2006/table">
            <a:tbl>
              <a:tblPr firstRow="1" bandRow="1">
                <a:tableStyleId>{5C22544A-7EE6-4342-B048-85BDC9FD1C3A}</a:tableStyleId>
              </a:tblPr>
              <a:tblGrid>
                <a:gridCol w="6035040"/>
                <a:gridCol w="4480560"/>
              </a:tblGrid>
              <a:tr h="295220">
                <a:tc>
                  <a:txBody>
                    <a:bodyPr/>
                    <a:lstStyle/>
                    <a:p>
                      <a:r>
                        <a:rPr sz="1200" b="1">
                          <a:solidFill>
                            <a:srgbClr val="FFFFFF"/>
                          </a:solidFill>
                          <a:latin typeface="Segoe UI"/>
                        </a:rPr>
                        <a:t>Already built</a:t>
                      </a:r>
                    </a:p>
                  </a:txBody>
                  <a:tcPr>
                    <a:solidFill>
                      <a:srgbClr val="0F172A"/>
                    </a:solidFill>
                  </a:tcPr>
                </a:tc>
                <a:tc>
                  <a:txBody>
                    <a:bodyPr/>
                    <a:lstStyle/>
                    <a:p>
                      <a:r>
                        <a:rPr sz="1200" b="1">
                          <a:solidFill>
                            <a:srgbClr val="FFFFFF"/>
                          </a:solidFill>
                          <a:latin typeface="Segoe UI"/>
                        </a:rPr>
                        <a:t>State</a:t>
                      </a:r>
                    </a:p>
                  </a:txBody>
                  <a:tcPr>
                    <a:solidFill>
                      <a:srgbClr val="0F172A"/>
                    </a:solidFill>
                  </a:tcPr>
                </a:tc>
              </a:tr>
              <a:tr h="295220">
                <a:tc>
                  <a:txBody>
                    <a:bodyPr/>
                    <a:lstStyle/>
                    <a:p>
                      <a:r>
                        <a:rPr sz="1200">
                          <a:solidFill>
                            <a:srgbClr val="475569"/>
                          </a:solidFill>
                          <a:latin typeface="Segoe UI"/>
                        </a:rPr>
                        <a:t>Registry with immutable versions</a:t>
                      </a:r>
                    </a:p>
                  </a:txBody>
                  <a:tcPr>
                    <a:solidFill>
                      <a:srgbClr val="FFFFFF"/>
                    </a:solidFill>
                  </a:tcPr>
                </a:tc>
                <a:tc>
                  <a:txBody>
                    <a:bodyPr/>
                    <a:lstStyle/>
                    <a:p>
                      <a:r>
                        <a:rPr sz="1200">
                          <a:solidFill>
                            <a:srgbClr val="475569"/>
                          </a:solidFill>
                          <a:latin typeface="Segoe UI"/>
                        </a:rPr>
                        <a:t>live, proven by test</a:t>
                      </a:r>
                    </a:p>
                  </a:txBody>
                  <a:tcPr>
                    <a:solidFill>
                      <a:srgbClr val="FFFFFF"/>
                    </a:solidFill>
                  </a:tcPr>
                </a:tc>
              </a:tr>
              <a:tr h="295220">
                <a:tc>
                  <a:txBody>
                    <a:bodyPr/>
                    <a:lstStyle/>
                    <a:p>
                      <a:r>
                        <a:rPr sz="1200">
                          <a:solidFill>
                            <a:srgbClr val="475569"/>
                          </a:solidFill>
                          <a:latin typeface="Segoe UI"/>
                        </a:rPr>
                        <a:t>Semantic search, hybrid dense + BM25</a:t>
                      </a:r>
                    </a:p>
                  </a:txBody>
                  <a:tcPr>
                    <a:solidFill>
                      <a:srgbClr val="F8FAFC"/>
                    </a:solidFill>
                  </a:tcPr>
                </a:tc>
                <a:tc>
                  <a:txBody>
                    <a:bodyPr/>
                    <a:lstStyle/>
                    <a:p>
                      <a:r>
                        <a:rPr sz="1200">
                          <a:solidFill>
                            <a:srgbClr val="475569"/>
                          </a:solidFill>
                          <a:latin typeface="Segoe UI"/>
                        </a:rPr>
                        <a:t>recall@3 100% on two sets</a:t>
                      </a:r>
                    </a:p>
                  </a:txBody>
                  <a:tcPr>
                    <a:solidFill>
                      <a:srgbClr val="F8FAFC"/>
                    </a:solidFill>
                  </a:tcPr>
                </a:tc>
              </a:tr>
              <a:tr h="295220">
                <a:tc>
                  <a:txBody>
                    <a:bodyPr/>
                    <a:lstStyle/>
                    <a:p>
                      <a:r>
                        <a:rPr sz="1200">
                          <a:solidFill>
                            <a:srgbClr val="475569"/>
                          </a:solidFill>
                          <a:latin typeface="Segoe UI"/>
                        </a:rPr>
                        <a:t>Gap detection via an LLM adjudicator</a:t>
                      </a:r>
                    </a:p>
                  </a:txBody>
                  <a:tcPr>
                    <a:solidFill>
                      <a:srgbClr val="FFFFFF"/>
                    </a:solidFill>
                  </a:tcPr>
                </a:tc>
                <a:tc>
                  <a:txBody>
                    <a:bodyPr/>
                    <a:lstStyle/>
                    <a:p>
                      <a:r>
                        <a:rPr sz="1200">
                          <a:solidFill>
                            <a:srgbClr val="475569"/>
                          </a:solidFill>
                          <a:latin typeface="Segoe UI"/>
                        </a:rPr>
                        <a:t>96.7% detection, 6.7% false</a:t>
                      </a:r>
                    </a:p>
                  </a:txBody>
                  <a:tcPr>
                    <a:solidFill>
                      <a:srgbClr val="FFFFFF"/>
                    </a:solidFill>
                  </a:tcPr>
                </a:tc>
              </a:tr>
              <a:tr h="295220">
                <a:tc>
                  <a:txBody>
                    <a:bodyPr/>
                    <a:lstStyle/>
                    <a:p>
                      <a:r>
                        <a:rPr sz="1200">
                          <a:solidFill>
                            <a:srgbClr val="475569"/>
                          </a:solidFill>
                          <a:latin typeface="Segoe UI"/>
                        </a:rPr>
                        <a:t>Append-only event log</a:t>
                      </a:r>
                    </a:p>
                  </a:txBody>
                  <a:tcPr>
                    <a:solidFill>
                      <a:srgbClr val="F8FAFC"/>
                    </a:solidFill>
                  </a:tcPr>
                </a:tc>
                <a:tc>
                  <a:txBody>
                    <a:bodyPr/>
                    <a:lstStyle/>
                    <a:p>
                      <a:r>
                        <a:rPr sz="1200">
                          <a:solidFill>
                            <a:srgbClr val="475569"/>
                          </a:solidFill>
                          <a:latin typeface="Segoe UI"/>
                        </a:rPr>
                        <a:t>IAM-enforced, replayable</a:t>
                      </a:r>
                    </a:p>
                  </a:txBody>
                  <a:tcPr>
                    <a:solidFill>
                      <a:srgbClr val="F8FAFC"/>
                    </a:solidFill>
                  </a:tcPr>
                </a:tc>
              </a:tr>
              <a:tr h="295220">
                <a:tc>
                  <a:txBody>
                    <a:bodyPr/>
                    <a:lstStyle/>
                    <a:p>
                      <a:r>
                        <a:rPr sz="1200">
                          <a:solidFill>
                            <a:srgbClr val="475569"/>
                          </a:solidFill>
                          <a:latin typeface="Segoe UI"/>
                        </a:rPr>
                        <a:t>Terraform + OIDC CI/CD</a:t>
                      </a:r>
                    </a:p>
                  </a:txBody>
                  <a:tcPr>
                    <a:solidFill>
                      <a:srgbClr val="FFFFFF"/>
                    </a:solidFill>
                  </a:tcPr>
                </a:tc>
                <a:tc>
                  <a:txBody>
                    <a:bodyPr/>
                    <a:lstStyle/>
                    <a:p>
                      <a:r>
                        <a:rPr sz="1200">
                          <a:solidFill>
                            <a:srgbClr val="475569"/>
                          </a:solidFill>
                          <a:latin typeface="Segoe UI"/>
                        </a:rPr>
                        <a:t>full rebuild from zero, three times</a:t>
                      </a:r>
                    </a:p>
                  </a:txBody>
                  <a:tcPr>
                    <a:solidFill>
                      <a:srgbClr val="FFFFFF"/>
                    </a:solidFill>
                  </a:tcPr>
                </a:tc>
              </a:tr>
              <a:tr h="295223">
                <a:tc>
                  <a:txBody>
                    <a:bodyPr/>
                    <a:lstStyle/>
                    <a:p>
                      <a:r>
                        <a:rPr sz="1200">
                          <a:solidFill>
                            <a:srgbClr val="475569"/>
                          </a:solidFill>
                          <a:latin typeface="Segoe UI"/>
                        </a:rPr>
                        <a:t>19 seeded tools, 120 frozen eval queries</a:t>
                      </a:r>
                    </a:p>
                  </a:txBody>
                  <a:tcPr>
                    <a:solidFill>
                      <a:srgbClr val="F8FAFC"/>
                    </a:solidFill>
                  </a:tcPr>
                </a:tc>
                <a:tc>
                  <a:txBody>
                    <a:bodyPr/>
                    <a:lstStyle/>
                    <a:p>
                      <a:r>
                        <a:rPr sz="1200">
                          <a:solidFill>
                            <a:srgbClr val="475569"/>
                          </a:solidFill>
                          <a:latin typeface="Segoe UI"/>
                        </a:rPr>
                        <a:t>committed, checksummed</a:t>
                      </a:r>
                    </a:p>
                  </a:txBody>
                  <a:tcPr>
                    <a:solidFill>
                      <a:srgbClr val="F8FAFC"/>
                    </a:solidFill>
                  </a:tcPr>
                </a:tc>
              </a:tr>
            </a:tbl>
          </a:graphicData>
        </a:graphic>
      </p:graphicFrame>
      <p:sp>
        <p:nvSpPr>
          <p:cNvPr id="7" name="TextBox 6"/>
          <p:cNvSpPr txBox="1"/>
          <p:nvPr/>
        </p:nvSpPr>
        <p:spPr>
          <a:xfrm>
            <a:off x="777240" y="4544568"/>
            <a:ext cx="10515600" cy="18288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Two findings Phase 1 inherits.</a:t>
            </a:r>
            <a:r>
              <a:rPr sz="1400">
                <a:solidFill>
                  <a:srgbClr val="475569"/>
                </a:solidFill>
                <a:latin typeface="Segoe UI"/>
              </a:rPr>
              <a:t>  An adjudicating LLM is not optional — without it the gap log runs at 20% false positives. And descriptions must never say what a tool is NOT: negation makes retrieval worse, measurably.</a:t>
            </a:r>
          </a:p>
          <a:p>
            <a:pPr>
              <a:lnSpc>
                <a:spcPct val="115000"/>
              </a:lnSpc>
              <a:spcAft>
                <a:spcPts val="1000"/>
              </a:spcAft>
            </a:pPr>
            <a:r>
              <a:rPr sz="1400" b="1">
                <a:solidFill>
                  <a:srgbClr val="0F172A"/>
                </a:solidFill>
                <a:latin typeface="Segoe UI"/>
              </a:rPr>
              <a:t>One thing Phase 0 could not do.</a:t>
            </a:r>
            <a:r>
              <a:rPr sz="1400">
                <a:solidFill>
                  <a:srgbClr val="475569"/>
                </a:solidFill>
                <a:latin typeface="Segoe UI"/>
              </a:rPr>
              <a:t>  Prove anyone wants the missing tools. Every gap ever logged came from the test harness.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SCOPE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Phase 1 adds, and what it does not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2359152"/>
        </p:xfrm>
        <a:graphic>
          <a:graphicData uri="http://schemas.openxmlformats.org/drawingml/2006/table">
            <a:tbl>
              <a:tblPr firstRow="1" bandRow="1">
                <a:tableStyleId>{5C22544A-7EE6-4342-B048-85BDC9FD1C3A}</a:tableStyleId>
              </a:tblPr>
              <a:tblGrid>
                <a:gridCol w="5394960"/>
                <a:gridCol w="5120640"/>
              </a:tblGrid>
              <a:tr h="294894">
                <a:tc>
                  <a:txBody>
                    <a:bodyPr/>
                    <a:lstStyle/>
                    <a:p>
                      <a:r>
                        <a:rPr sz="1150" b="1">
                          <a:solidFill>
                            <a:srgbClr val="FFFFFF"/>
                          </a:solidFill>
                          <a:latin typeface="Segoe UI"/>
                        </a:rPr>
                        <a:t>Phase 1 delivers</a:t>
                      </a:r>
                    </a:p>
                  </a:txBody>
                  <a:tcPr>
                    <a:solidFill>
                      <a:srgbClr val="0F172A"/>
                    </a:solidFill>
                  </a:tcPr>
                </a:tc>
                <a:tc>
                  <a:txBody>
                    <a:bodyPr/>
                    <a:lstStyle/>
                    <a:p>
                      <a:r>
                        <a:rPr sz="1150" b="1">
                          <a:solidFill>
                            <a:srgbClr val="FFFFFF"/>
                          </a:solidFill>
                          <a:latin typeface="Segoe UI"/>
                        </a:rPr>
                        <a:t>Still deferred</a:t>
                      </a:r>
                    </a:p>
                  </a:txBody>
                  <a:tcPr>
                    <a:solidFill>
                      <a:srgbClr val="0F172A"/>
                    </a:solidFill>
                  </a:tcPr>
                </a:tc>
              </a:tr>
              <a:tr h="294894">
                <a:tc>
                  <a:txBody>
                    <a:bodyPr/>
                    <a:lstStyle/>
                    <a:p>
                      <a:r>
                        <a:rPr sz="1150">
                          <a:solidFill>
                            <a:srgbClr val="475569"/>
                          </a:solidFill>
                          <a:latin typeface="Segoe UI"/>
                        </a:rPr>
                        <a:t>Sandboxed execution of third-party code</a:t>
                      </a:r>
                    </a:p>
                  </a:txBody>
                  <a:tcPr>
                    <a:solidFill>
                      <a:srgbClr val="FFFFFF"/>
                    </a:solidFill>
                  </a:tcPr>
                </a:tc>
                <a:tc>
                  <a:txBody>
                    <a:bodyPr/>
                    <a:lstStyle/>
                    <a:p>
                      <a:r>
                        <a:rPr sz="1150">
                          <a:solidFill>
                            <a:srgbClr val="475569"/>
                          </a:solidFill>
                          <a:latin typeface="Segoe UI"/>
                        </a:rPr>
                        <a:t>Tool-to-tool calls — Phase 2</a:t>
                      </a:r>
                    </a:p>
                  </a:txBody>
                  <a:tcPr>
                    <a:solidFill>
                      <a:srgbClr val="FFFFFF"/>
                    </a:solidFill>
                  </a:tcPr>
                </a:tc>
              </a:tr>
              <a:tr h="294894">
                <a:tc>
                  <a:txBody>
                    <a:bodyPr/>
                    <a:lstStyle/>
                    <a:p>
                      <a:r>
                        <a:rPr sz="1150">
                          <a:solidFill>
                            <a:srgbClr val="475569"/>
                          </a:solidFill>
                          <a:latin typeface="Segoe UI"/>
                        </a:rPr>
                        <a:t>Caller identity, so provenance is real</a:t>
                      </a:r>
                    </a:p>
                  </a:txBody>
                  <a:tcPr>
                    <a:solidFill>
                      <a:srgbClr val="F8FAFC"/>
                    </a:solidFill>
                  </a:tcPr>
                </a:tc>
                <a:tc>
                  <a:txBody>
                    <a:bodyPr/>
                    <a:lstStyle/>
                    <a:p>
                      <a:r>
                        <a:rPr sz="1150">
                          <a:solidFill>
                            <a:srgbClr val="475569"/>
                          </a:solidFill>
                          <a:latin typeface="Segoe UI"/>
                        </a:rPr>
                        <a:t>Brightness, decay, dependency weight — Phase 2</a:t>
                      </a:r>
                    </a:p>
                  </a:txBody>
                  <a:tcPr>
                    <a:solidFill>
                      <a:srgbClr val="F8FAFC"/>
                    </a:solidFill>
                  </a:tcPr>
                </a:tc>
              </a:tr>
              <a:tr h="294894">
                <a:tc>
                  <a:txBody>
                    <a:bodyPr/>
                    <a:lstStyle/>
                    <a:p>
                      <a:r>
                        <a:rPr sz="1150">
                          <a:solidFill>
                            <a:srgbClr val="475569"/>
                          </a:solidFill>
                          <a:latin typeface="Segoe UI"/>
                        </a:rPr>
                        <a:t>Real MCP endpoints agents can call</a:t>
                      </a:r>
                    </a:p>
                  </a:txBody>
                  <a:tcPr>
                    <a:solidFill>
                      <a:srgbClr val="FFFFFF"/>
                    </a:solidFill>
                  </a:tcPr>
                </a:tc>
                <a:tc>
                  <a:txBody>
                    <a:bodyPr/>
                    <a:lstStyle/>
                    <a:p>
                      <a:r>
                        <a:rPr sz="1150">
                          <a:solidFill>
                            <a:srgbClr val="475569"/>
                          </a:solidFill>
                          <a:latin typeface="Segoe UI"/>
                        </a:rPr>
                        <a:t>Agents building their own tools — Phase 3</a:t>
                      </a:r>
                    </a:p>
                  </a:txBody>
                  <a:tcPr>
                    <a:solidFill>
                      <a:srgbClr val="FFFFFF"/>
                    </a:solidFill>
                  </a:tcPr>
                </a:tc>
              </a:tr>
              <a:tr h="294894">
                <a:tc>
                  <a:txBody>
                    <a:bodyPr/>
                    <a:lstStyle/>
                    <a:p>
                      <a:r>
                        <a:rPr sz="1150">
                          <a:solidFill>
                            <a:srgbClr val="475569"/>
                          </a:solidFill>
                          <a:latin typeface="Segoe UI"/>
                        </a:rPr>
                        <a:t>Gap clustering, so demand repeats visibly</a:t>
                      </a:r>
                    </a:p>
                  </a:txBody>
                  <a:tcPr>
                    <a:solidFill>
                      <a:srgbClr val="F8FAFC"/>
                    </a:solidFill>
                  </a:tcPr>
                </a:tc>
                <a:tc>
                  <a:txBody>
                    <a:bodyPr/>
                    <a:lstStyle/>
                    <a:p>
                      <a:r>
                        <a:rPr sz="1150">
                          <a:solidFill>
                            <a:srgbClr val="475569"/>
                          </a:solidFill>
                          <a:latin typeface="Segoe UI"/>
                        </a:rPr>
                        <a:t>Applications joining from outside — Phase 4</a:t>
                      </a:r>
                    </a:p>
                  </a:txBody>
                  <a:tcPr>
                    <a:solidFill>
                      <a:srgbClr val="F8FAFC"/>
                    </a:solidFill>
                  </a:tcPr>
                </a:tc>
              </a:tr>
              <a:tr h="294894">
                <a:tc>
                  <a:txBody>
                    <a:bodyPr/>
                    <a:lstStyle/>
                    <a:p>
                      <a:r>
                        <a:rPr sz="1150">
                          <a:solidFill>
                            <a:srgbClr val="475569"/>
                          </a:solidFill>
                          <a:latin typeface="Segoe UI"/>
                        </a:rPr>
                        <a:t>Mass-only scoring from the event log</a:t>
                      </a:r>
                    </a:p>
                  </a:txBody>
                  <a:tcPr>
                    <a:solidFill>
                      <a:srgbClr val="FFFFFF"/>
                    </a:solidFill>
                  </a:tcPr>
                </a:tc>
                <a:tc>
                  <a:txBody>
                    <a:bodyPr/>
                    <a:lstStyle/>
                    <a:p>
                      <a:r>
                        <a:rPr sz="1150">
                          <a:solidFill>
                            <a:srgbClr val="475569"/>
                          </a:solidFill>
                          <a:latin typeface="Segoe UI"/>
                        </a:rPr>
                        <a:t>Galaxies and routing mini-LLMs — Phase 5</a:t>
                      </a:r>
                    </a:p>
                  </a:txBody>
                  <a:tcPr>
                    <a:solidFill>
                      <a:srgbClr val="FFFFFF"/>
                    </a:solidFill>
                  </a:tcPr>
                </a:tc>
              </a:tr>
              <a:tr h="294894">
                <a:tc>
                  <a:txBody>
                    <a:bodyPr/>
                    <a:lstStyle/>
                    <a:p>
                      <a:r>
                        <a:rPr sz="1150">
                          <a:solidFill>
                            <a:srgbClr val="475569"/>
                          </a:solidFill>
                          <a:latin typeface="Segoe UI"/>
                        </a:rPr>
                        <a:t>Creator onboarding behind a review gate</a:t>
                      </a:r>
                    </a:p>
                  </a:txBody>
                  <a:tcPr>
                    <a:solidFill>
                      <a:srgbClr val="F8FAFC"/>
                    </a:solidFill>
                  </a:tcPr>
                </a:tc>
                <a:tc>
                  <a:txBody>
                    <a:bodyPr/>
                    <a:lstStyle/>
                    <a:p>
                      <a:r>
                        <a:rPr sz="1150">
                          <a:solidFill>
                            <a:srgbClr val="475569"/>
                          </a:solidFill>
                          <a:latin typeface="Segoe UI"/>
                        </a:rPr>
                        <a:t>The 3D visual layer — Phase 6</a:t>
                      </a:r>
                    </a:p>
                  </a:txBody>
                  <a:tcPr>
                    <a:solidFill>
                      <a:srgbClr val="F8FAFC"/>
                    </a:solidFill>
                  </a:tcPr>
                </a:tc>
              </a:tr>
              <a:tr h="294894">
                <a:tc>
                  <a:txBody>
                    <a:bodyPr/>
                    <a:lstStyle/>
                    <a:p>
                      <a:r>
                        <a:rPr sz="1150">
                          <a:solidFill>
                            <a:srgbClr val="475569"/>
                          </a:solidFill>
                          <a:latin typeface="Segoe UI"/>
                        </a:rPr>
                        <a:t>A public gaps board</a:t>
                      </a:r>
                    </a:p>
                  </a:txBody>
                  <a:tcPr>
                    <a:solidFill>
                      <a:srgbClr val="FFFFFF"/>
                    </a:solidFill>
                  </a:tcPr>
                </a:tc>
                <a:tc>
                  <a:txBody>
                    <a:bodyPr/>
                    <a:lstStyle/>
                    <a:p>
                      <a:r>
                        <a:rPr sz="1150">
                          <a:solidFill>
                            <a:srgbClr val="475569"/>
                          </a:solidFill>
                          <a:latin typeface="Segoe UI"/>
                        </a:rPr>
                        <a:t>Money of any kind — Phase 8</a:t>
                      </a:r>
                    </a:p>
                  </a:txBody>
                  <a:tcPr>
                    <a:solidFill>
                      <a:srgbClr val="FFFFFF"/>
                    </a:solidFill>
                  </a:tcPr>
                </a:tc>
              </a:tr>
            </a:tbl>
          </a:graphicData>
        </a:graphic>
      </p:graphicFrame>
      <p:sp>
        <p:nvSpPr>
          <p:cNvPr id="6" name="Rounded Rectangle 5"/>
          <p:cNvSpPr/>
          <p:nvPr/>
        </p:nvSpPr>
        <p:spPr>
          <a:xfrm>
            <a:off x="777240" y="4297680"/>
            <a:ext cx="10515600" cy="86868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4480560"/>
            <a:ext cx="9966960" cy="594359"/>
          </a:xfrm>
          <a:prstGeom prst="rect">
            <a:avLst/>
          </a:prstGeom>
          <a:noFill/>
        </p:spPr>
        <p:txBody>
          <a:bodyPr wrap="square" lIns="0" rIns="0" tIns="0" bIns="0">
            <a:spAutoFit/>
          </a:bodyPr>
          <a:lstStyle/>
          <a:p>
            <a:pPr algn="l">
              <a:lnSpc>
                <a:spcPct val="115000"/>
              </a:lnSpc>
            </a:pPr>
            <a:r>
              <a:rPr sz="1350" b="1">
                <a:solidFill>
                  <a:srgbClr val="7C2D12"/>
                </a:solidFill>
                <a:latin typeface="Segoe UI"/>
              </a:rPr>
              <a:t>Mass-only is deliberate. Brightness needs call outcomes at volume, and Phase 1 is the phase that first produces them. Scoring on one signal is honest; scoring on two when one has no data is not.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ARCHITECTURE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runs in Phase 1</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Green is new. The full diagram is on the Miro board beneath Phase 0.</a:t>
            </a:r>
          </a:p>
        </p:txBody>
      </p:sp>
      <p:sp>
        <p:nvSpPr>
          <p:cNvPr id="6" name="TextBox 5"/>
          <p:cNvSpPr txBox="1"/>
          <p:nvPr/>
        </p:nvSpPr>
        <p:spPr>
          <a:xfrm>
            <a:off x="822960" y="2258568"/>
            <a:ext cx="2743200" cy="228600"/>
          </a:xfrm>
          <a:prstGeom prst="rect">
            <a:avLst/>
          </a:prstGeom>
          <a:noFill/>
        </p:spPr>
        <p:txBody>
          <a:bodyPr wrap="square" lIns="0" rIns="0" tIns="0" bIns="0">
            <a:spAutoFit/>
          </a:bodyPr>
          <a:lstStyle/>
          <a:p>
            <a:pPr algn="l">
              <a:lnSpc>
                <a:spcPct val="100000"/>
              </a:lnSpc>
            </a:pPr>
            <a:r>
              <a:rPr sz="950" b="1">
                <a:solidFill>
                  <a:srgbClr val="94A3B8"/>
                </a:solidFill>
                <a:latin typeface="Segoe UI"/>
              </a:rPr>
              <a:t>CALLERS</a:t>
            </a:r>
          </a:p>
        </p:txBody>
      </p:sp>
      <p:sp>
        <p:nvSpPr>
          <p:cNvPr id="7" name="Rounded Rectangle 6"/>
          <p:cNvSpPr/>
          <p:nvPr/>
        </p:nvSpPr>
        <p:spPr>
          <a:xfrm>
            <a:off x="777240" y="2505456"/>
            <a:ext cx="2286000" cy="749808"/>
          </a:xfrm>
          <a:prstGeom prst="roundRect">
            <a:avLst/>
          </a:prstGeom>
          <a:solidFill>
            <a:srgbClr val="FFFFFF"/>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lient.png"/>
          <p:cNvPicPr>
            <a:picLocks noChangeAspect="1"/>
          </p:cNvPicPr>
          <p:nvPr/>
        </p:nvPicPr>
        <p:blipFill>
          <a:blip r:embed="rId2"/>
          <a:stretch>
            <a:fillRect/>
          </a:stretch>
        </p:blipFill>
        <p:spPr>
          <a:xfrm>
            <a:off x="886968" y="2624327"/>
            <a:ext cx="384048" cy="384048"/>
          </a:xfrm>
          <a:prstGeom prst="rect">
            <a:avLst/>
          </a:prstGeom>
        </p:spPr>
      </p:pic>
      <p:sp>
        <p:nvSpPr>
          <p:cNvPr id="9" name="TextBox 8"/>
          <p:cNvSpPr txBox="1"/>
          <p:nvPr/>
        </p:nvSpPr>
        <p:spPr>
          <a:xfrm>
            <a:off x="1399032" y="2624327"/>
            <a:ext cx="155448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Agent</a:t>
            </a:r>
          </a:p>
        </p:txBody>
      </p:sp>
      <p:sp>
        <p:nvSpPr>
          <p:cNvPr id="10" name="TextBox 9"/>
          <p:cNvSpPr txBox="1"/>
          <p:nvPr/>
        </p:nvSpPr>
        <p:spPr>
          <a:xfrm>
            <a:off x="1399032" y="2871215"/>
            <a:ext cx="155448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calls tools</a:t>
            </a:r>
          </a:p>
        </p:txBody>
      </p:sp>
      <p:sp>
        <p:nvSpPr>
          <p:cNvPr id="11" name="Rounded Rectangle 10"/>
          <p:cNvSpPr/>
          <p:nvPr/>
        </p:nvSpPr>
        <p:spPr>
          <a:xfrm>
            <a:off x="777240" y="3346703"/>
            <a:ext cx="2286000" cy="749808"/>
          </a:xfrm>
          <a:prstGeom prst="roundRect">
            <a:avLst/>
          </a:prstGeom>
          <a:solidFill>
            <a:srgbClr val="FFFFFF"/>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users.png"/>
          <p:cNvPicPr>
            <a:picLocks noChangeAspect="1"/>
          </p:cNvPicPr>
          <p:nvPr/>
        </p:nvPicPr>
        <p:blipFill>
          <a:blip r:embed="rId3"/>
          <a:stretch>
            <a:fillRect/>
          </a:stretch>
        </p:blipFill>
        <p:spPr>
          <a:xfrm>
            <a:off x="886968" y="3465575"/>
            <a:ext cx="384048" cy="384048"/>
          </a:xfrm>
          <a:prstGeom prst="rect">
            <a:avLst/>
          </a:prstGeom>
        </p:spPr>
      </p:pic>
      <p:sp>
        <p:nvSpPr>
          <p:cNvPr id="13" name="TextBox 12"/>
          <p:cNvSpPr txBox="1"/>
          <p:nvPr/>
        </p:nvSpPr>
        <p:spPr>
          <a:xfrm>
            <a:off x="1399032" y="3465575"/>
            <a:ext cx="155448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Creator</a:t>
            </a:r>
          </a:p>
        </p:txBody>
      </p:sp>
      <p:sp>
        <p:nvSpPr>
          <p:cNvPr id="14" name="TextBox 13"/>
          <p:cNvSpPr txBox="1"/>
          <p:nvPr/>
        </p:nvSpPr>
        <p:spPr>
          <a:xfrm>
            <a:off x="1399032" y="3712463"/>
            <a:ext cx="155448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publishes tools</a:t>
            </a:r>
          </a:p>
        </p:txBody>
      </p:sp>
      <p:sp>
        <p:nvSpPr>
          <p:cNvPr id="15" name="TextBox 14"/>
          <p:cNvSpPr txBox="1"/>
          <p:nvPr/>
        </p:nvSpPr>
        <p:spPr>
          <a:xfrm>
            <a:off x="3291840" y="2258568"/>
            <a:ext cx="2743200" cy="228600"/>
          </a:xfrm>
          <a:prstGeom prst="rect">
            <a:avLst/>
          </a:prstGeom>
          <a:noFill/>
        </p:spPr>
        <p:txBody>
          <a:bodyPr wrap="square" lIns="0" rIns="0" tIns="0" bIns="0">
            <a:spAutoFit/>
          </a:bodyPr>
          <a:lstStyle/>
          <a:p>
            <a:pPr algn="l">
              <a:lnSpc>
                <a:spcPct val="100000"/>
              </a:lnSpc>
            </a:pPr>
            <a:r>
              <a:rPr sz="950" b="1">
                <a:solidFill>
                  <a:srgbClr val="16A34A"/>
                </a:solidFill>
                <a:latin typeface="Segoe UI"/>
              </a:rPr>
              <a:t>EDGE</a:t>
            </a:r>
          </a:p>
        </p:txBody>
      </p:sp>
      <p:sp>
        <p:nvSpPr>
          <p:cNvPr id="16" name="Rounded Rectangle 15"/>
          <p:cNvSpPr/>
          <p:nvPr/>
        </p:nvSpPr>
        <p:spPr>
          <a:xfrm>
            <a:off x="3246120" y="2926079"/>
            <a:ext cx="2468880" cy="749808"/>
          </a:xfrm>
          <a:prstGeom prst="roundRect">
            <a:avLst/>
          </a:prstGeom>
          <a:solidFill>
            <a:srgbClr val="FFFFFF"/>
          </a:solidFill>
          <a:ln w="254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am.png"/>
          <p:cNvPicPr>
            <a:picLocks noChangeAspect="1"/>
          </p:cNvPicPr>
          <p:nvPr/>
        </p:nvPicPr>
        <p:blipFill>
          <a:blip r:embed="rId4"/>
          <a:stretch>
            <a:fillRect/>
          </a:stretch>
        </p:blipFill>
        <p:spPr>
          <a:xfrm>
            <a:off x="3355848" y="3044951"/>
            <a:ext cx="384048" cy="384048"/>
          </a:xfrm>
          <a:prstGeom prst="rect">
            <a:avLst/>
          </a:prstGeom>
        </p:spPr>
      </p:pic>
      <p:sp>
        <p:nvSpPr>
          <p:cNvPr id="18" name="TextBox 17"/>
          <p:cNvSpPr txBox="1"/>
          <p:nvPr/>
        </p:nvSpPr>
        <p:spPr>
          <a:xfrm>
            <a:off x="3867911" y="3044951"/>
            <a:ext cx="173736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auth-fn</a:t>
            </a:r>
          </a:p>
        </p:txBody>
      </p:sp>
      <p:sp>
        <p:nvSpPr>
          <p:cNvPr id="19" name="TextBox 18"/>
          <p:cNvSpPr txBox="1"/>
          <p:nvPr/>
        </p:nvSpPr>
        <p:spPr>
          <a:xfrm>
            <a:off x="3867911" y="3291839"/>
            <a:ext cx="173736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verifies the API key</a:t>
            </a:r>
          </a:p>
        </p:txBody>
      </p:sp>
      <p:sp>
        <p:nvSpPr>
          <p:cNvPr id="20" name="Rounded Rectangle 19"/>
          <p:cNvSpPr/>
          <p:nvPr/>
        </p:nvSpPr>
        <p:spPr>
          <a:xfrm>
            <a:off x="5148072" y="2999232"/>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21" name="TextBox 20"/>
          <p:cNvSpPr txBox="1"/>
          <p:nvPr/>
        </p:nvSpPr>
        <p:spPr>
          <a:xfrm>
            <a:off x="5943600" y="2258568"/>
            <a:ext cx="2926080" cy="228600"/>
          </a:xfrm>
          <a:prstGeom prst="rect">
            <a:avLst/>
          </a:prstGeom>
          <a:noFill/>
        </p:spPr>
        <p:txBody>
          <a:bodyPr wrap="square" lIns="0" rIns="0" tIns="0" bIns="0">
            <a:spAutoFit/>
          </a:bodyPr>
          <a:lstStyle/>
          <a:p>
            <a:pPr algn="l">
              <a:lnSpc>
                <a:spcPct val="100000"/>
              </a:lnSpc>
            </a:pPr>
            <a:r>
              <a:rPr sz="950" b="1">
                <a:solidFill>
                  <a:srgbClr val="ED7100"/>
                </a:solidFill>
                <a:latin typeface="Segoe UI"/>
              </a:rPr>
              <a:t>CONTROL PLANE</a:t>
            </a:r>
          </a:p>
        </p:txBody>
      </p:sp>
      <p:sp>
        <p:nvSpPr>
          <p:cNvPr id="22" name="Rounded Rectangle 21"/>
          <p:cNvSpPr/>
          <p:nvPr/>
        </p:nvSpPr>
        <p:spPr>
          <a:xfrm>
            <a:off x="5897880" y="2505456"/>
            <a:ext cx="2743200" cy="676656"/>
          </a:xfrm>
          <a:prstGeom prst="roundRect">
            <a:avLst/>
          </a:prstGeom>
          <a:solidFill>
            <a:srgbClr val="FFFFFF"/>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ambda.png"/>
          <p:cNvPicPr>
            <a:picLocks noChangeAspect="1"/>
          </p:cNvPicPr>
          <p:nvPr/>
        </p:nvPicPr>
        <p:blipFill>
          <a:blip r:embed="rId5"/>
          <a:stretch>
            <a:fillRect/>
          </a:stretch>
        </p:blipFill>
        <p:spPr>
          <a:xfrm>
            <a:off x="6007608" y="2624327"/>
            <a:ext cx="384048" cy="384048"/>
          </a:xfrm>
          <a:prstGeom prst="rect">
            <a:avLst/>
          </a:prstGeom>
        </p:spPr>
      </p:pic>
      <p:sp>
        <p:nvSpPr>
          <p:cNvPr id="24" name="TextBox 23"/>
          <p:cNvSpPr txBox="1"/>
          <p:nvPr/>
        </p:nvSpPr>
        <p:spPr>
          <a:xfrm>
            <a:off x="6519672" y="2624327"/>
            <a:ext cx="201168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search-fn</a:t>
            </a:r>
          </a:p>
        </p:txBody>
      </p:sp>
      <p:sp>
        <p:nvSpPr>
          <p:cNvPr id="25" name="TextBox 24"/>
          <p:cNvSpPr txBox="1"/>
          <p:nvPr/>
        </p:nvSpPr>
        <p:spPr>
          <a:xfrm>
            <a:off x="6519672" y="2871215"/>
            <a:ext cx="201168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rank + adjudicate</a:t>
            </a:r>
          </a:p>
        </p:txBody>
      </p:sp>
      <p:sp>
        <p:nvSpPr>
          <p:cNvPr id="26" name="Rounded Rectangle 25"/>
          <p:cNvSpPr/>
          <p:nvPr/>
        </p:nvSpPr>
        <p:spPr>
          <a:xfrm>
            <a:off x="5897880" y="3273551"/>
            <a:ext cx="2743200" cy="676656"/>
          </a:xfrm>
          <a:prstGeom prst="roundRect">
            <a:avLst/>
          </a:prstGeom>
          <a:solidFill>
            <a:srgbClr val="FFFFFF"/>
          </a:solidFill>
          <a:ln w="254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lambda.png"/>
          <p:cNvPicPr>
            <a:picLocks noChangeAspect="1"/>
          </p:cNvPicPr>
          <p:nvPr/>
        </p:nvPicPr>
        <p:blipFill>
          <a:blip r:embed="rId5"/>
          <a:stretch>
            <a:fillRect/>
          </a:stretch>
        </p:blipFill>
        <p:spPr>
          <a:xfrm>
            <a:off x="6007608" y="3392423"/>
            <a:ext cx="384048" cy="384048"/>
          </a:xfrm>
          <a:prstGeom prst="rect">
            <a:avLst/>
          </a:prstGeom>
        </p:spPr>
      </p:pic>
      <p:sp>
        <p:nvSpPr>
          <p:cNvPr id="28" name="TextBox 27"/>
          <p:cNvSpPr txBox="1"/>
          <p:nvPr/>
        </p:nvSpPr>
        <p:spPr>
          <a:xfrm>
            <a:off x="6519672" y="3392423"/>
            <a:ext cx="201168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exec-fn</a:t>
            </a:r>
          </a:p>
        </p:txBody>
      </p:sp>
      <p:sp>
        <p:nvSpPr>
          <p:cNvPr id="29" name="TextBox 28"/>
          <p:cNvSpPr txBox="1"/>
          <p:nvPr/>
        </p:nvSpPr>
        <p:spPr>
          <a:xfrm>
            <a:off x="6519672" y="3639311"/>
            <a:ext cx="201168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call a tool</a:t>
            </a:r>
          </a:p>
        </p:txBody>
      </p:sp>
      <p:sp>
        <p:nvSpPr>
          <p:cNvPr id="30" name="Rounded Rectangle 29"/>
          <p:cNvSpPr/>
          <p:nvPr/>
        </p:nvSpPr>
        <p:spPr>
          <a:xfrm>
            <a:off x="8074152" y="3346703"/>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31" name="Rounded Rectangle 30"/>
          <p:cNvSpPr/>
          <p:nvPr/>
        </p:nvSpPr>
        <p:spPr>
          <a:xfrm>
            <a:off x="5897880" y="4041648"/>
            <a:ext cx="2743200" cy="676656"/>
          </a:xfrm>
          <a:prstGeom prst="roundRect">
            <a:avLst/>
          </a:prstGeom>
          <a:solidFill>
            <a:srgbClr val="FFFFFF"/>
          </a:solidFill>
          <a:ln w="254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lambda.png"/>
          <p:cNvPicPr>
            <a:picLocks noChangeAspect="1"/>
          </p:cNvPicPr>
          <p:nvPr/>
        </p:nvPicPr>
        <p:blipFill>
          <a:blip r:embed="rId5"/>
          <a:stretch>
            <a:fillRect/>
          </a:stretch>
        </p:blipFill>
        <p:spPr>
          <a:xfrm>
            <a:off x="6007608" y="4160520"/>
            <a:ext cx="384048" cy="384048"/>
          </a:xfrm>
          <a:prstGeom prst="rect">
            <a:avLst/>
          </a:prstGeom>
        </p:spPr>
      </p:pic>
      <p:sp>
        <p:nvSpPr>
          <p:cNvPr id="33" name="TextBox 32"/>
          <p:cNvSpPr txBox="1"/>
          <p:nvPr/>
        </p:nvSpPr>
        <p:spPr>
          <a:xfrm>
            <a:off x="6519672" y="4160520"/>
            <a:ext cx="201168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submit / review</a:t>
            </a:r>
          </a:p>
        </p:txBody>
      </p:sp>
      <p:sp>
        <p:nvSpPr>
          <p:cNvPr id="34" name="TextBox 33"/>
          <p:cNvSpPr txBox="1"/>
          <p:nvPr/>
        </p:nvSpPr>
        <p:spPr>
          <a:xfrm>
            <a:off x="6519672" y="4407408"/>
            <a:ext cx="201168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the review gate</a:t>
            </a:r>
          </a:p>
        </p:txBody>
      </p:sp>
      <p:sp>
        <p:nvSpPr>
          <p:cNvPr id="35" name="Rounded Rectangle 34"/>
          <p:cNvSpPr/>
          <p:nvPr/>
        </p:nvSpPr>
        <p:spPr>
          <a:xfrm>
            <a:off x="8074152" y="4114800"/>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36" name="TextBox 35"/>
          <p:cNvSpPr txBox="1"/>
          <p:nvPr/>
        </p:nvSpPr>
        <p:spPr>
          <a:xfrm>
            <a:off x="8915400" y="2258568"/>
            <a:ext cx="2926080" cy="228600"/>
          </a:xfrm>
          <a:prstGeom prst="rect">
            <a:avLst/>
          </a:prstGeom>
          <a:noFill/>
        </p:spPr>
        <p:txBody>
          <a:bodyPr wrap="square" lIns="0" rIns="0" tIns="0" bIns="0">
            <a:spAutoFit/>
          </a:bodyPr>
          <a:lstStyle/>
          <a:p>
            <a:pPr algn="l">
              <a:lnSpc>
                <a:spcPct val="100000"/>
              </a:lnSpc>
            </a:pPr>
            <a:r>
              <a:rPr sz="950" b="1">
                <a:solidFill>
                  <a:srgbClr val="DD344C"/>
                </a:solidFill>
                <a:latin typeface="Segoe UI"/>
              </a:rPr>
              <a:t>SANDBOX</a:t>
            </a:r>
          </a:p>
        </p:txBody>
      </p:sp>
      <p:sp>
        <p:nvSpPr>
          <p:cNvPr id="37" name="Rounded Rectangle 36"/>
          <p:cNvSpPr/>
          <p:nvPr/>
        </p:nvSpPr>
        <p:spPr>
          <a:xfrm>
            <a:off x="8869680" y="2505456"/>
            <a:ext cx="2834640" cy="676656"/>
          </a:xfrm>
          <a:prstGeom prst="roundRect">
            <a:avLst/>
          </a:prstGeom>
          <a:solidFill>
            <a:srgbClr val="FFFFFF"/>
          </a:solidFill>
          <a:ln w="25400">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fargate.png"/>
          <p:cNvPicPr>
            <a:picLocks noChangeAspect="1"/>
          </p:cNvPicPr>
          <p:nvPr/>
        </p:nvPicPr>
        <p:blipFill>
          <a:blip r:embed="rId6"/>
          <a:stretch>
            <a:fillRect/>
          </a:stretch>
        </p:blipFill>
        <p:spPr>
          <a:xfrm>
            <a:off x="8979407" y="2624327"/>
            <a:ext cx="384048" cy="384048"/>
          </a:xfrm>
          <a:prstGeom prst="rect">
            <a:avLst/>
          </a:prstGeom>
        </p:spPr>
      </p:pic>
      <p:sp>
        <p:nvSpPr>
          <p:cNvPr id="39" name="TextBox 38"/>
          <p:cNvSpPr txBox="1"/>
          <p:nvPr/>
        </p:nvSpPr>
        <p:spPr>
          <a:xfrm>
            <a:off x="9491472" y="2624327"/>
            <a:ext cx="210312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tool-runtime</a:t>
            </a:r>
          </a:p>
        </p:txBody>
      </p:sp>
      <p:sp>
        <p:nvSpPr>
          <p:cNvPr id="40" name="TextBox 39"/>
          <p:cNvSpPr txBox="1"/>
          <p:nvPr/>
        </p:nvSpPr>
        <p:spPr>
          <a:xfrm>
            <a:off x="9491472" y="2871215"/>
            <a:ext cx="210312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no network, null role</a:t>
            </a:r>
          </a:p>
        </p:txBody>
      </p:sp>
      <p:sp>
        <p:nvSpPr>
          <p:cNvPr id="41" name="Rounded Rectangle 40"/>
          <p:cNvSpPr/>
          <p:nvPr/>
        </p:nvSpPr>
        <p:spPr>
          <a:xfrm>
            <a:off x="11137392" y="2578608"/>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42" name="Rounded Rectangle 41"/>
          <p:cNvSpPr/>
          <p:nvPr/>
        </p:nvSpPr>
        <p:spPr>
          <a:xfrm>
            <a:off x="8869680" y="3273551"/>
            <a:ext cx="2834640" cy="676656"/>
          </a:xfrm>
          <a:prstGeom prst="roundRect">
            <a:avLst/>
          </a:prstGeom>
          <a:solidFill>
            <a:srgbClr val="FFFFFF"/>
          </a:solidFill>
          <a:ln w="25400">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lambda.png"/>
          <p:cNvPicPr>
            <a:picLocks noChangeAspect="1"/>
          </p:cNvPicPr>
          <p:nvPr/>
        </p:nvPicPr>
        <p:blipFill>
          <a:blip r:embed="rId5"/>
          <a:stretch>
            <a:fillRect/>
          </a:stretch>
        </p:blipFill>
        <p:spPr>
          <a:xfrm>
            <a:off x="8979407" y="3392423"/>
            <a:ext cx="384048" cy="384048"/>
          </a:xfrm>
          <a:prstGeom prst="rect">
            <a:avLst/>
          </a:prstGeom>
        </p:spPr>
      </p:pic>
      <p:sp>
        <p:nvSpPr>
          <p:cNvPr id="44" name="TextBox 43"/>
          <p:cNvSpPr txBox="1"/>
          <p:nvPr/>
        </p:nvSpPr>
        <p:spPr>
          <a:xfrm>
            <a:off x="9491472" y="3392423"/>
            <a:ext cx="210312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fetcher-fn</a:t>
            </a:r>
          </a:p>
        </p:txBody>
      </p:sp>
      <p:sp>
        <p:nvSpPr>
          <p:cNvPr id="45" name="TextBox 44"/>
          <p:cNvSpPr txBox="1"/>
          <p:nvPr/>
        </p:nvSpPr>
        <p:spPr>
          <a:xfrm>
            <a:off x="9491472" y="3639311"/>
            <a:ext cx="210312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the only thing online</a:t>
            </a:r>
          </a:p>
        </p:txBody>
      </p:sp>
      <p:sp>
        <p:nvSpPr>
          <p:cNvPr id="46" name="Rounded Rectangle 45"/>
          <p:cNvSpPr/>
          <p:nvPr/>
        </p:nvSpPr>
        <p:spPr>
          <a:xfrm>
            <a:off x="11137392" y="3346703"/>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47" name="Rounded Rectangle 46"/>
          <p:cNvSpPr/>
          <p:nvPr/>
        </p:nvSpPr>
        <p:spPr>
          <a:xfrm>
            <a:off x="8869680" y="4041648"/>
            <a:ext cx="2834640" cy="676656"/>
          </a:xfrm>
          <a:prstGeom prst="roundRect">
            <a:avLst/>
          </a:prstGeom>
          <a:solidFill>
            <a:srgbClr val="FFFFFF"/>
          </a:solidFill>
          <a:ln w="15875">
            <a:solidFill>
              <a:srgbClr val="C925D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8" name="Picture 47" descr="dynamodb.png"/>
          <p:cNvPicPr>
            <a:picLocks noChangeAspect="1"/>
          </p:cNvPicPr>
          <p:nvPr/>
        </p:nvPicPr>
        <p:blipFill>
          <a:blip r:embed="rId7"/>
          <a:stretch>
            <a:fillRect/>
          </a:stretch>
        </p:blipFill>
        <p:spPr>
          <a:xfrm>
            <a:off x="8979407" y="4160520"/>
            <a:ext cx="384048" cy="384048"/>
          </a:xfrm>
          <a:prstGeom prst="rect">
            <a:avLst/>
          </a:prstGeom>
        </p:spPr>
      </p:pic>
      <p:sp>
        <p:nvSpPr>
          <p:cNvPr id="49" name="TextBox 48"/>
          <p:cNvSpPr txBox="1"/>
          <p:nvPr/>
        </p:nvSpPr>
        <p:spPr>
          <a:xfrm>
            <a:off x="9491472" y="4160520"/>
            <a:ext cx="210312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7 tables</a:t>
            </a:r>
          </a:p>
        </p:txBody>
      </p:sp>
      <p:sp>
        <p:nvSpPr>
          <p:cNvPr id="50" name="TextBox 49"/>
          <p:cNvSpPr txBox="1"/>
          <p:nvPr/>
        </p:nvSpPr>
        <p:spPr>
          <a:xfrm>
            <a:off x="9491472" y="4407408"/>
            <a:ext cx="210312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3 existing, 4 new</a:t>
            </a:r>
          </a:p>
        </p:txBody>
      </p:sp>
      <p:sp>
        <p:nvSpPr>
          <p:cNvPr id="51" name="Rounded Rectangle 50"/>
          <p:cNvSpPr/>
          <p:nvPr/>
        </p:nvSpPr>
        <p:spPr>
          <a:xfrm>
            <a:off x="777240" y="4882896"/>
            <a:ext cx="2286000" cy="676656"/>
          </a:xfrm>
          <a:prstGeom prst="roundRect">
            <a:avLst/>
          </a:prstGeom>
          <a:solidFill>
            <a:srgbClr val="FFFFFF"/>
          </a:solidFill>
          <a:ln w="25400">
            <a:solidFill>
              <a:srgbClr val="E7157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2" name="Picture 51" descr="eventbridge.png"/>
          <p:cNvPicPr>
            <a:picLocks noChangeAspect="1"/>
          </p:cNvPicPr>
          <p:nvPr/>
        </p:nvPicPr>
        <p:blipFill>
          <a:blip r:embed="rId8"/>
          <a:stretch>
            <a:fillRect/>
          </a:stretch>
        </p:blipFill>
        <p:spPr>
          <a:xfrm>
            <a:off x="886968" y="5001768"/>
            <a:ext cx="384048" cy="384048"/>
          </a:xfrm>
          <a:prstGeom prst="rect">
            <a:avLst/>
          </a:prstGeom>
        </p:spPr>
      </p:pic>
      <p:sp>
        <p:nvSpPr>
          <p:cNvPr id="53" name="TextBox 52"/>
          <p:cNvSpPr txBox="1"/>
          <p:nvPr/>
        </p:nvSpPr>
        <p:spPr>
          <a:xfrm>
            <a:off x="1399032" y="5001768"/>
            <a:ext cx="155448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EventBridge</a:t>
            </a:r>
          </a:p>
        </p:txBody>
      </p:sp>
      <p:sp>
        <p:nvSpPr>
          <p:cNvPr id="54" name="TextBox 53"/>
          <p:cNvSpPr txBox="1"/>
          <p:nvPr/>
        </p:nvSpPr>
        <p:spPr>
          <a:xfrm>
            <a:off x="1399032" y="5248656"/>
            <a:ext cx="155448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nightly jobs</a:t>
            </a:r>
          </a:p>
        </p:txBody>
      </p:sp>
      <p:sp>
        <p:nvSpPr>
          <p:cNvPr id="55" name="Rounded Rectangle 54"/>
          <p:cNvSpPr/>
          <p:nvPr/>
        </p:nvSpPr>
        <p:spPr>
          <a:xfrm>
            <a:off x="2496312" y="4956048"/>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56" name="Rounded Rectangle 55"/>
          <p:cNvSpPr/>
          <p:nvPr/>
        </p:nvSpPr>
        <p:spPr>
          <a:xfrm>
            <a:off x="3246120" y="4882896"/>
            <a:ext cx="2468880" cy="676656"/>
          </a:xfrm>
          <a:prstGeom prst="roundRect">
            <a:avLst/>
          </a:prstGeom>
          <a:solidFill>
            <a:srgbClr val="FFFFFF"/>
          </a:solidFill>
          <a:ln w="25400">
            <a:solidFill>
              <a:srgbClr val="16A3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7" name="Picture 56" descr="lambda.png"/>
          <p:cNvPicPr>
            <a:picLocks noChangeAspect="1"/>
          </p:cNvPicPr>
          <p:nvPr/>
        </p:nvPicPr>
        <p:blipFill>
          <a:blip r:embed="rId5"/>
          <a:stretch>
            <a:fillRect/>
          </a:stretch>
        </p:blipFill>
        <p:spPr>
          <a:xfrm>
            <a:off x="3355848" y="5001768"/>
            <a:ext cx="384048" cy="384048"/>
          </a:xfrm>
          <a:prstGeom prst="rect">
            <a:avLst/>
          </a:prstGeom>
        </p:spPr>
      </p:pic>
      <p:sp>
        <p:nvSpPr>
          <p:cNvPr id="58" name="TextBox 57"/>
          <p:cNvSpPr txBox="1"/>
          <p:nvPr/>
        </p:nvSpPr>
        <p:spPr>
          <a:xfrm>
            <a:off x="3867911" y="5001768"/>
            <a:ext cx="173736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cluster + score</a:t>
            </a:r>
          </a:p>
        </p:txBody>
      </p:sp>
      <p:sp>
        <p:nvSpPr>
          <p:cNvPr id="59" name="TextBox 58"/>
          <p:cNvSpPr txBox="1"/>
          <p:nvPr/>
        </p:nvSpPr>
        <p:spPr>
          <a:xfrm>
            <a:off x="3867911" y="5248656"/>
            <a:ext cx="173736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replay the log</a:t>
            </a:r>
          </a:p>
        </p:txBody>
      </p:sp>
      <p:sp>
        <p:nvSpPr>
          <p:cNvPr id="60" name="Rounded Rectangle 59"/>
          <p:cNvSpPr/>
          <p:nvPr/>
        </p:nvSpPr>
        <p:spPr>
          <a:xfrm>
            <a:off x="5148072" y="4956048"/>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61" name="Rounded Rectangle 60"/>
          <p:cNvSpPr/>
          <p:nvPr/>
        </p:nvSpPr>
        <p:spPr>
          <a:xfrm>
            <a:off x="5897880" y="4882896"/>
            <a:ext cx="2743200" cy="676656"/>
          </a:xfrm>
          <a:prstGeom prst="roundRect">
            <a:avLst/>
          </a:prstGeom>
          <a:solidFill>
            <a:srgbClr val="FFFFFF"/>
          </a:solidFill>
          <a:ln w="25400">
            <a:solidFill>
              <a:srgbClr val="8C4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2" name="Picture 61" descr="cloudfront.png"/>
          <p:cNvPicPr>
            <a:picLocks noChangeAspect="1"/>
          </p:cNvPicPr>
          <p:nvPr/>
        </p:nvPicPr>
        <p:blipFill>
          <a:blip r:embed="rId9"/>
          <a:stretch>
            <a:fillRect/>
          </a:stretch>
        </p:blipFill>
        <p:spPr>
          <a:xfrm>
            <a:off x="6007608" y="5001768"/>
            <a:ext cx="384048" cy="384048"/>
          </a:xfrm>
          <a:prstGeom prst="rect">
            <a:avLst/>
          </a:prstGeom>
        </p:spPr>
      </p:pic>
      <p:sp>
        <p:nvSpPr>
          <p:cNvPr id="63" name="TextBox 62"/>
          <p:cNvSpPr txBox="1"/>
          <p:nvPr/>
        </p:nvSpPr>
        <p:spPr>
          <a:xfrm>
            <a:off x="6519672" y="5001768"/>
            <a:ext cx="201168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gaps board</a:t>
            </a:r>
          </a:p>
        </p:txBody>
      </p:sp>
      <p:sp>
        <p:nvSpPr>
          <p:cNvPr id="64" name="TextBox 63"/>
          <p:cNvSpPr txBox="1"/>
          <p:nvPr/>
        </p:nvSpPr>
        <p:spPr>
          <a:xfrm>
            <a:off x="6519672" y="5248656"/>
            <a:ext cx="201168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CloudFront + S3</a:t>
            </a:r>
          </a:p>
        </p:txBody>
      </p:sp>
      <p:sp>
        <p:nvSpPr>
          <p:cNvPr id="65" name="Rounded Rectangle 64"/>
          <p:cNvSpPr/>
          <p:nvPr/>
        </p:nvSpPr>
        <p:spPr>
          <a:xfrm>
            <a:off x="8074152" y="4956048"/>
            <a:ext cx="457200" cy="201168"/>
          </a:xfrm>
          <a:prstGeom prst="round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750" b="1">
                <a:solidFill>
                  <a:srgbClr val="FFFFFF"/>
                </a:solidFill>
                <a:latin typeface="Segoe UI"/>
              </a:rPr>
              <a:t>NEW</a:t>
            </a:r>
          </a:p>
        </p:txBody>
      </p:sp>
      <p:sp>
        <p:nvSpPr>
          <p:cNvPr id="66" name="Rounded Rectangle 65"/>
          <p:cNvSpPr/>
          <p:nvPr/>
        </p:nvSpPr>
        <p:spPr>
          <a:xfrm>
            <a:off x="8869680" y="4882896"/>
            <a:ext cx="2834640" cy="676656"/>
          </a:xfrm>
          <a:prstGeom prst="roundRect">
            <a:avLst/>
          </a:prstGeom>
          <a:solidFill>
            <a:srgbClr val="FFFFFF"/>
          </a:solidFill>
          <a:ln w="15875">
            <a:solidFill>
              <a:srgbClr val="01A88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7" name="Picture 66" descr="bedrock.png"/>
          <p:cNvPicPr>
            <a:picLocks noChangeAspect="1"/>
          </p:cNvPicPr>
          <p:nvPr/>
        </p:nvPicPr>
        <p:blipFill>
          <a:blip r:embed="rId10"/>
          <a:stretch>
            <a:fillRect/>
          </a:stretch>
        </p:blipFill>
        <p:spPr>
          <a:xfrm>
            <a:off x="8979407" y="5001768"/>
            <a:ext cx="384048" cy="384048"/>
          </a:xfrm>
          <a:prstGeom prst="rect">
            <a:avLst/>
          </a:prstGeom>
        </p:spPr>
      </p:pic>
      <p:sp>
        <p:nvSpPr>
          <p:cNvPr id="68" name="TextBox 67"/>
          <p:cNvSpPr txBox="1"/>
          <p:nvPr/>
        </p:nvSpPr>
        <p:spPr>
          <a:xfrm>
            <a:off x="9491472" y="5001768"/>
            <a:ext cx="2103120" cy="237744"/>
          </a:xfrm>
          <a:prstGeom prst="rect">
            <a:avLst/>
          </a:prstGeom>
          <a:noFill/>
        </p:spPr>
        <p:txBody>
          <a:bodyPr wrap="square" lIns="0" rIns="0" tIns="0" bIns="0">
            <a:spAutoFit/>
          </a:bodyPr>
          <a:lstStyle/>
          <a:p>
            <a:pPr algn="l">
              <a:lnSpc>
                <a:spcPct val="100000"/>
              </a:lnSpc>
            </a:pPr>
            <a:r>
              <a:rPr sz="1200" b="1">
                <a:solidFill>
                  <a:srgbClr val="0F172A"/>
                </a:solidFill>
                <a:latin typeface="Segoe UI"/>
              </a:rPr>
              <a:t>Bedrock</a:t>
            </a:r>
          </a:p>
        </p:txBody>
      </p:sp>
      <p:sp>
        <p:nvSpPr>
          <p:cNvPr id="69" name="TextBox 68"/>
          <p:cNvSpPr txBox="1"/>
          <p:nvPr/>
        </p:nvSpPr>
        <p:spPr>
          <a:xfrm>
            <a:off x="9491472" y="5248656"/>
            <a:ext cx="2103120" cy="457200"/>
          </a:xfrm>
          <a:prstGeom prst="rect">
            <a:avLst/>
          </a:prstGeom>
          <a:noFill/>
        </p:spPr>
        <p:txBody>
          <a:bodyPr wrap="square" lIns="0" rIns="0" tIns="0" bIns="0">
            <a:spAutoFit/>
          </a:bodyPr>
          <a:lstStyle/>
          <a:p>
            <a:pPr algn="l">
              <a:lnSpc>
                <a:spcPct val="105000"/>
              </a:lnSpc>
            </a:pPr>
            <a:r>
              <a:rPr sz="950" b="0">
                <a:solidFill>
                  <a:srgbClr val="475569"/>
                </a:solidFill>
                <a:latin typeface="Segoe UI"/>
              </a:rPr>
              <a:t>embed + adjudicate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KEY DECISION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The sandbox, and why it is shaped this way</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This is the hardest thing in Phase 1 and the one worth getting right first.</a:t>
            </a:r>
          </a:p>
        </p:txBody>
      </p:sp>
      <p:sp>
        <p:nvSpPr>
          <p:cNvPr id="6" name="TextBox 5"/>
          <p:cNvSpPr txBox="1"/>
          <p:nvPr/>
        </p:nvSpPr>
        <p:spPr>
          <a:xfrm>
            <a:off x="777240" y="2350008"/>
            <a:ext cx="10515600" cy="237744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A tool never opens a network connection.</a:t>
            </a:r>
            <a:r>
              <a:rPr sz="1400">
                <a:solidFill>
                  <a:srgbClr val="475569"/>
                </a:solidFill>
                <a:latin typeface="Segoe UI"/>
              </a:rPr>
              <a:t>  It declares the endpoint it needs. The platform fetches that endpoint against a per-tool allowlist and hands back the response. The tool only transforms data.</a:t>
            </a:r>
          </a:p>
          <a:p>
            <a:pPr>
              <a:lnSpc>
                <a:spcPct val="115000"/>
              </a:lnSpc>
              <a:spcAft>
                <a:spcPts val="1000"/>
              </a:spcAft>
            </a:pPr>
            <a:r>
              <a:rPr sz="1400" b="1">
                <a:solidFill>
                  <a:srgbClr val="0F172A"/>
                </a:solidFill>
                <a:latin typeface="Segoe UI"/>
              </a:rPr>
              <a:t>So the sandbox has nothing to contain.</a:t>
            </a:r>
            <a:r>
              <a:rPr sz="1400">
                <a:solidFill>
                  <a:srgbClr val="475569"/>
                </a:solidFill>
                <a:latin typeface="Segoe UI"/>
              </a:rPr>
              <a:t>  No network, no IAM role, no disk. An escape reaches an empty room — there is no credential to steal and nowhere to send it.</a:t>
            </a:r>
          </a:p>
          <a:p>
            <a:pPr>
              <a:lnSpc>
                <a:spcPct val="115000"/>
              </a:lnSpc>
              <a:spcAft>
                <a:spcPts val="1000"/>
              </a:spcAft>
            </a:pPr>
            <a:r>
              <a:rPr sz="1400" b="1">
                <a:solidFill>
                  <a:srgbClr val="0F172A"/>
                </a:solidFill>
                <a:latin typeface="Segoe UI"/>
              </a:rPr>
              <a:t>The alternative was containing arbitrary code WITH internet access.</a:t>
            </a:r>
            <a:r>
              <a:rPr sz="1400">
                <a:solidFill>
                  <a:srgbClr val="475569"/>
                </a:solidFill>
                <a:latin typeface="Segoe UI"/>
              </a:rPr>
              <a:t>  That is an open-ended problem. Egress filtering, DNS rebinding, exfiltration through a permitted host. This design removes the category instead of defending it.</a:t>
            </a:r>
          </a:p>
        </p:txBody>
      </p:sp>
      <p:sp>
        <p:nvSpPr>
          <p:cNvPr id="7" name="Rounded Rectangle 6"/>
          <p:cNvSpPr/>
          <p:nvPr/>
        </p:nvSpPr>
        <p:spPr>
          <a:xfrm>
            <a:off x="777240" y="4864608"/>
            <a:ext cx="10515600" cy="1005840"/>
          </a:xfrm>
          <a:prstGeom prst="roundRect">
            <a:avLst/>
          </a:prstGeom>
          <a:solidFill>
            <a:srgbClr val="FEF2F2"/>
          </a:solidFill>
          <a:ln w="15875">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5047488"/>
            <a:ext cx="9966960" cy="731520"/>
          </a:xfrm>
          <a:prstGeom prst="rect">
            <a:avLst/>
          </a:prstGeom>
          <a:noFill/>
        </p:spPr>
        <p:txBody>
          <a:bodyPr wrap="square" lIns="0" rIns="0" tIns="0" bIns="0">
            <a:spAutoFit/>
          </a:bodyPr>
          <a:lstStyle/>
          <a:p>
            <a:pPr algn="l">
              <a:lnSpc>
                <a:spcPct val="115000"/>
              </a:lnSpc>
            </a:pPr>
            <a:r>
              <a:rPr sz="1350" b="1">
                <a:solidFill>
                  <a:srgbClr val="991B1B"/>
                </a:solidFill>
                <a:latin typeface="Segoe UI"/>
              </a:rPr>
              <a:t>The cost is real and should be stated up front: a tool needing several chained calls, or an endpoint not known until runtime, does not fit. That limit is the price of a sandbox whose safety can actually be argued about rather than hoped for.</a:t>
            </a:r>
          </a:p>
        </p:txBody>
      </p:sp>
      <p:sp>
        <p:nvSpPr>
          <p:cNvPr id="9" name="TextBox 8"/>
          <p:cNvSpPr txBox="1"/>
          <p:nvPr/>
        </p:nvSpPr>
        <p:spPr>
          <a:xfrm>
            <a:off x="777240" y="6007608"/>
            <a:ext cx="10515600" cy="457200"/>
          </a:xfrm>
          <a:prstGeom prst="rect">
            <a:avLst/>
          </a:prstGeom>
          <a:noFill/>
        </p:spPr>
        <p:txBody>
          <a:bodyPr wrap="square" lIns="0" rIns="0" tIns="0" bIns="0">
            <a:spAutoFit/>
          </a:bodyPr>
          <a:lstStyle/>
          <a:p>
            <a:pPr algn="l">
              <a:lnSpc>
                <a:spcPct val="100000"/>
              </a:lnSpc>
            </a:pPr>
            <a:r>
              <a:rPr sz="1350" b="0">
                <a:solidFill>
                  <a:srgbClr val="475569"/>
                </a:solidFill>
                <a:latin typeface="Segoe UI"/>
              </a:rPr>
              <a:t>Two ways to run it: Fargate tasks, or Lambda in a VPC with no NAT gateway. Both give no egress; the Lambda route stays inside the free tier.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SECOND DECISION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Caller identity — an invariant that is currently broken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0515600" cy="1138428"/>
          </a:xfrm>
          <a:prstGeom prst="round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78408" y="1920240"/>
            <a:ext cx="10149840" cy="219456"/>
          </a:xfrm>
          <a:prstGeom prst="rect">
            <a:avLst/>
          </a:prstGeom>
          <a:noFill/>
        </p:spPr>
        <p:txBody>
          <a:bodyPr wrap="square" lIns="0" rIns="0" tIns="0" bIns="0">
            <a:spAutoFit/>
          </a:bodyPr>
          <a:lstStyle/>
          <a:p>
            <a:pPr algn="l">
              <a:lnSpc>
                <a:spcPct val="100000"/>
              </a:lnSpc>
            </a:pPr>
            <a:r>
              <a:rPr sz="950" b="1">
                <a:solidFill>
                  <a:srgbClr val="94A3B8"/>
                </a:solidFill>
                <a:latin typeface="Segoe UI"/>
              </a:rPr>
              <a:t>THE HOLE</a:t>
            </a:r>
          </a:p>
        </p:txBody>
      </p:sp>
      <p:sp>
        <p:nvSpPr>
          <p:cNvPr id="7" name="TextBox 6"/>
          <p:cNvSpPr txBox="1"/>
          <p:nvPr/>
        </p:nvSpPr>
        <p:spPr>
          <a:xfrm>
            <a:off x="978408" y="2194560"/>
            <a:ext cx="10149840" cy="864108"/>
          </a:xfrm>
          <a:prstGeom prst="rect">
            <a:avLst/>
          </a:prstGeom>
          <a:noFill/>
        </p:spPr>
        <p:txBody>
          <a:bodyPr wrap="square" lIns="0" rIns="0" tIns="0" bIns="0">
            <a:spAutoFit/>
          </a:bodyPr>
          <a:lstStyle/>
          <a:p>
            <a:pPr>
              <a:lnSpc>
                <a:spcPct val="100000"/>
              </a:lnSpc>
              <a:spcAft>
                <a:spcPts val="200"/>
              </a:spcAft>
            </a:pPr>
            <a:r>
              <a:rPr sz="1150">
                <a:solidFill>
                  <a:srgbClr val="E2E8F0"/>
                </a:solidFill>
                <a:latin typeface="Consolas"/>
              </a:rPr>
              <a:t>// today, search-fn trusts what the caller claims about itself</a:t>
            </a:r>
          </a:p>
          <a:p>
            <a:pPr>
              <a:lnSpc>
                <a:spcPct val="100000"/>
              </a:lnSpc>
              <a:spcAft>
                <a:spcPts val="200"/>
              </a:spcAft>
            </a:pPr>
            <a:r>
              <a:rPr sz="1150">
                <a:solidFill>
                  <a:srgbClr val="E2E8F0"/>
                </a:solidFill>
                <a:latin typeface="Consolas"/>
              </a:rPr>
              <a:t>{ "query": "...", "actor": { "agent_id": "anything-i-like",</a:t>
            </a:r>
          </a:p>
          <a:p>
            <a:pPr>
              <a:lnSpc>
                <a:spcPct val="100000"/>
              </a:lnSpc>
              <a:spcAft>
                <a:spcPts val="200"/>
              </a:spcAft>
            </a:pPr>
            <a:r>
              <a:rPr sz="1150">
                <a:solidFill>
                  <a:srgbClr val="E2E8F0"/>
                </a:solidFill>
                <a:latin typeface="Consolas"/>
              </a:rPr>
              <a:t>                             "session_id": "also-anything" } }</a:t>
            </a:r>
          </a:p>
        </p:txBody>
      </p:sp>
      <p:sp>
        <p:nvSpPr>
          <p:cNvPr id="8" name="TextBox 7"/>
          <p:cNvSpPr txBox="1"/>
          <p:nvPr/>
        </p:nvSpPr>
        <p:spPr>
          <a:xfrm>
            <a:off x="777240" y="2834639"/>
            <a:ext cx="10515600" cy="292608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CLAUDE.md invariant #4.</a:t>
            </a:r>
            <a:r>
              <a:rPr sz="1400">
                <a:solidFill>
                  <a:srgbClr val="475569"/>
                </a:solidFill>
                <a:latin typeface="Segoe UI"/>
              </a:rPr>
              <a:t>  A gap record must carry which agent and session produced it, "so manufactured demand can be traced".</a:t>
            </a:r>
          </a:p>
          <a:p>
            <a:pPr>
              <a:lnSpc>
                <a:spcPct val="115000"/>
              </a:lnSpc>
              <a:spcAft>
                <a:spcPts val="1000"/>
              </a:spcAft>
            </a:pPr>
            <a:r>
              <a:rPr sz="1400" b="1">
                <a:solidFill>
                  <a:srgbClr val="0F172A"/>
                </a:solidFill>
                <a:latin typeface="Segoe UI"/>
              </a:rPr>
              <a:t>It cannot be traced today.</a:t>
            </a:r>
            <a:r>
              <a:rPr sz="1400">
                <a:solidFill>
                  <a:srgbClr val="475569"/>
                </a:solidFill>
                <a:latin typeface="Segoe UI"/>
              </a:rPr>
              <a:t>  The actor is self-asserted in the request body. Anyone can log a thousand gaps as a thousand different agents and manufacture a trend on the gaps board.</a:t>
            </a:r>
          </a:p>
          <a:p>
            <a:pPr>
              <a:lnSpc>
                <a:spcPct val="115000"/>
              </a:lnSpc>
              <a:spcAft>
                <a:spcPts val="1000"/>
              </a:spcAft>
            </a:pPr>
            <a:r>
              <a:rPr sz="1400" b="1">
                <a:solidFill>
                  <a:srgbClr val="0F172A"/>
                </a:solidFill>
                <a:latin typeface="Segoe UI"/>
              </a:rPr>
              <a:t>This did not matter in Phase 0.</a:t>
            </a:r>
            <a:r>
              <a:rPr sz="1400">
                <a:solidFill>
                  <a:srgbClr val="475569"/>
                </a:solidFill>
                <a:latin typeface="Segoe UI"/>
              </a:rPr>
              <a:t>  The only caller was the eval harness. It matters the moment the gaps board is public and there is a reason to game it.</a:t>
            </a:r>
          </a:p>
          <a:p>
            <a:pPr>
              <a:lnSpc>
                <a:spcPct val="115000"/>
              </a:lnSpc>
              <a:spcAft>
                <a:spcPts val="1000"/>
              </a:spcAft>
            </a:pPr>
            <a:r>
              <a:rPr sz="1400" b="1">
                <a:solidFill>
                  <a:srgbClr val="0F172A"/>
                </a:solidFill>
                <a:latin typeface="Segoe UI"/>
              </a:rPr>
              <a:t>The fix.</a:t>
            </a:r>
            <a:r>
              <a:rPr sz="1400">
                <a:solidFill>
                  <a:srgbClr val="475569"/>
                </a:solidFill>
                <a:latin typeface="Segoe UI"/>
              </a:rPr>
              <a:t>  Hashed API keys per caller, verified at the edge. Events record the verified caller id and ignore anything the body claims. Gap clustering then counts DISTINCT VERIFIED callers, which is what makes a cluster evidence.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THIRD DECISION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Gap clustering — making "repeated" mean something</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The Done-when says repeated gaps surface automatically. Repetition needs defining.</a:t>
            </a:r>
          </a:p>
        </p:txBody>
      </p:sp>
      <p:sp>
        <p:nvSpPr>
          <p:cNvPr id="6" name="TextBox 5"/>
          <p:cNvSpPr txBox="1"/>
          <p:nvPr/>
        </p:nvSpPr>
        <p:spPr>
          <a:xfrm>
            <a:off x="777240" y="2350008"/>
            <a:ext cx="10515600" cy="274320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Cluster by meaning, not by string.</a:t>
            </a:r>
            <a:r>
              <a:rPr sz="1400">
                <a:solidFill>
                  <a:srgbClr val="475569"/>
                </a:solidFill>
                <a:latin typeface="Segoe UI"/>
              </a:rPr>
              <a:t>  "will it rain tomorrow" and "what is the forecast for Friday" are the same unmet need. Embeddings already exist for this.</a:t>
            </a:r>
          </a:p>
          <a:p>
            <a:pPr>
              <a:lnSpc>
                <a:spcPct val="115000"/>
              </a:lnSpc>
              <a:spcAft>
                <a:spcPts val="1000"/>
              </a:spcAft>
            </a:pPr>
            <a:r>
              <a:rPr sz="1400" b="1">
                <a:solidFill>
                  <a:srgbClr val="0F172A"/>
                </a:solidFill>
                <a:latin typeface="Segoe UI"/>
              </a:rPr>
              <a:t>Count distinct callers, not occurrences.</a:t>
            </a:r>
            <a:r>
              <a:rPr sz="1400">
                <a:solidFill>
                  <a:srgbClr val="475569"/>
                </a:solidFill>
                <a:latin typeface="Segoe UI"/>
              </a:rPr>
              <a:t>  One agent in a retry loop is not demand. Ten callers asking the same thing once each is. This is the entire reason caller identity has to land first.</a:t>
            </a:r>
          </a:p>
          <a:p>
            <a:pPr>
              <a:lnSpc>
                <a:spcPct val="115000"/>
              </a:lnSpc>
              <a:spcAft>
                <a:spcPts val="1000"/>
              </a:spcAft>
            </a:pPr>
            <a:r>
              <a:rPr sz="1400" b="1">
                <a:solidFill>
                  <a:srgbClr val="0F172A"/>
                </a:solidFill>
                <a:latin typeface="Segoe UI"/>
              </a:rPr>
              <a:t>Run it nightly, off the hot path.</a:t>
            </a:r>
            <a:r>
              <a:rPr sz="1400">
                <a:solidFill>
                  <a:srgbClr val="475569"/>
                </a:solidFill>
                <a:latin typeface="Segoe UI"/>
              </a:rPr>
              <a:t>  EventBridge triggers a job that reads the gap log and writes clusters. Nothing about search gets slower.</a:t>
            </a:r>
          </a:p>
          <a:p>
            <a:pPr>
              <a:lnSpc>
                <a:spcPct val="115000"/>
              </a:lnSpc>
              <a:spcAft>
                <a:spcPts val="1000"/>
              </a:spcAft>
            </a:pPr>
            <a:r>
              <a:rPr sz="1400" b="1">
                <a:solidFill>
                  <a:srgbClr val="0F172A"/>
                </a:solidFill>
                <a:latin typeface="Segoe UI"/>
              </a:rPr>
              <a:t>Surface a cluster when distinct callers cross a threshold.</a:t>
            </a:r>
            <a:r>
              <a:rPr sz="1400">
                <a:solidFill>
                  <a:srgbClr val="475569"/>
                </a:solidFill>
                <a:latin typeface="Segoe UI"/>
              </a:rPr>
              <a:t>  That threshold is a Phase 1 output, derived from the data, not a number picked now — the same discipline that Phase 0 applied to T, and for the same reason.</a:t>
            </a:r>
          </a:p>
        </p:txBody>
      </p:sp>
      <p:sp>
        <p:nvSpPr>
          <p:cNvPr id="7" name="Rounded Rectangle 6"/>
          <p:cNvSpPr/>
          <p:nvPr/>
        </p:nvSpPr>
        <p:spPr>
          <a:xfrm>
            <a:off x="777240" y="5276088"/>
            <a:ext cx="10515600" cy="822960"/>
          </a:xfrm>
          <a:prstGeom prst="roundRect">
            <a:avLst/>
          </a:prstGeom>
          <a:solidFill>
            <a:srgbClr val="FFF7ED"/>
          </a:solidFill>
          <a:ln w="15875">
            <a:solidFill>
              <a:srgbClr val="ED7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5458968"/>
            <a:ext cx="9966960" cy="548640"/>
          </a:xfrm>
          <a:prstGeom prst="rect">
            <a:avLst/>
          </a:prstGeom>
          <a:noFill/>
        </p:spPr>
        <p:txBody>
          <a:bodyPr wrap="square" lIns="0" rIns="0" tIns="0" bIns="0">
            <a:spAutoFit/>
          </a:bodyPr>
          <a:lstStyle/>
          <a:p>
            <a:pPr algn="l">
              <a:lnSpc>
                <a:spcPct val="115000"/>
              </a:lnSpc>
            </a:pPr>
            <a:r>
              <a:rPr sz="1350" b="1">
                <a:solidFill>
                  <a:srgbClr val="7C2D12"/>
                </a:solidFill>
                <a:latin typeface="Segoe UI"/>
              </a:rPr>
              <a:t>A cluster of one caller is a curiosity. A cluster of twelve is a product brief. The gaps board only means anything if that distinction is enforced.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PLAN</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Thirteen issues</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Estimates for one developer.</a:t>
            </a:r>
          </a:p>
        </p:txBody>
      </p:sp>
      <p:graphicFrame>
        <p:nvGraphicFramePr>
          <p:cNvPr id="6" name="Table 5"/>
          <p:cNvGraphicFramePr>
            <a:graphicFrameLocks noGrp="1"/>
          </p:cNvGraphicFramePr>
          <p:nvPr/>
        </p:nvGraphicFramePr>
        <p:xfrm>
          <a:off x="777240" y="2258568"/>
          <a:ext cx="10515600" cy="4114800"/>
        </p:xfrm>
        <a:graphic>
          <a:graphicData uri="http://schemas.openxmlformats.org/drawingml/2006/table">
            <a:tbl>
              <a:tblPr firstRow="1" bandRow="1">
                <a:tableStyleId>{5C22544A-7EE6-4342-B048-85BDC9FD1C3A}</a:tableStyleId>
              </a:tblPr>
              <a:tblGrid>
                <a:gridCol w="548640"/>
                <a:gridCol w="6675120"/>
                <a:gridCol w="1005840"/>
                <a:gridCol w="2286000"/>
              </a:tblGrid>
              <a:tr h="293914">
                <a:tc>
                  <a:txBody>
                    <a:bodyPr/>
                    <a:lstStyle/>
                    <a:p>
                      <a:r>
                        <a:rPr sz="1100" b="1">
                          <a:solidFill>
                            <a:srgbClr val="FFFFFF"/>
                          </a:solidFill>
                          <a:latin typeface="Segoe UI"/>
                        </a:rPr>
                        <a:t>#</a:t>
                      </a:r>
                    </a:p>
                  </a:txBody>
                  <a:tcPr>
                    <a:solidFill>
                      <a:srgbClr val="0F172A"/>
                    </a:solidFill>
                  </a:tcPr>
                </a:tc>
                <a:tc>
                  <a:txBody>
                    <a:bodyPr/>
                    <a:lstStyle/>
                    <a:p>
                      <a:r>
                        <a:rPr sz="1100" b="1">
                          <a:solidFill>
                            <a:srgbClr val="FFFFFF"/>
                          </a:solidFill>
                          <a:latin typeface="Segoe UI"/>
                        </a:rPr>
                        <a:t>Issue</a:t>
                      </a:r>
                    </a:p>
                  </a:txBody>
                  <a:tcPr>
                    <a:solidFill>
                      <a:srgbClr val="0F172A"/>
                    </a:solidFill>
                  </a:tcPr>
                </a:tc>
                <a:tc>
                  <a:txBody>
                    <a:bodyPr/>
                    <a:lstStyle/>
                    <a:p>
                      <a:r>
                        <a:rPr sz="1100" b="1">
                          <a:solidFill>
                            <a:srgbClr val="FFFFFF"/>
                          </a:solidFill>
                          <a:latin typeface="Segoe UI"/>
                        </a:rPr>
                        <a:t>Est.</a:t>
                      </a:r>
                    </a:p>
                  </a:txBody>
                  <a:tcPr>
                    <a:solidFill>
                      <a:srgbClr val="0F172A"/>
                    </a:solidFill>
                  </a:tcPr>
                </a:tc>
                <a:tc>
                  <a:txBody>
                    <a:bodyPr/>
                    <a:lstStyle/>
                    <a:p>
                      <a:r>
                        <a:rPr sz="1100" b="1">
                          <a:solidFill>
                            <a:srgbClr val="FFFFFF"/>
                          </a:solidFill>
                          <a:latin typeface="Segoe UI"/>
                        </a:rPr>
                        <a:t>Depends on</a:t>
                      </a:r>
                    </a:p>
                  </a:txBody>
                  <a:tcPr>
                    <a:solidFill>
                      <a:srgbClr val="0F172A"/>
                    </a:solidFill>
                  </a:tcPr>
                </a:tc>
              </a:tr>
              <a:tr h="293914">
                <a:tc>
                  <a:txBody>
                    <a:bodyPr/>
                    <a:lstStyle/>
                    <a:p>
                      <a:r>
                        <a:rPr sz="1100">
                          <a:solidFill>
                            <a:srgbClr val="475569"/>
                          </a:solidFill>
                          <a:latin typeface="Segoe UI"/>
                        </a:rPr>
                        <a:t>1</a:t>
                      </a:r>
                    </a:p>
                  </a:txBody>
                  <a:tcPr>
                    <a:solidFill>
                      <a:srgbClr val="FFFFFF"/>
                    </a:solidFill>
                  </a:tcPr>
                </a:tc>
                <a:tc>
                  <a:txBody>
                    <a:bodyPr/>
                    <a:lstStyle/>
                    <a:p>
                      <a:r>
                        <a:rPr sz="1100">
                          <a:solidFill>
                            <a:srgbClr val="475569"/>
                          </a:solidFill>
                          <a:latin typeface="Segoe UI"/>
                        </a:rPr>
                        <a:t>Caller identity: hashed API keys, verified at the edge</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a:t>
                      </a:r>
                    </a:p>
                  </a:txBody>
                  <a:tcPr>
                    <a:solidFill>
                      <a:srgbClr val="FFFFFF"/>
                    </a:solidFill>
                  </a:tcPr>
                </a:tc>
              </a:tr>
              <a:tr h="293914">
                <a:tc>
                  <a:txBody>
                    <a:bodyPr/>
                    <a:lstStyle/>
                    <a:p>
                      <a:r>
                        <a:rPr sz="1100">
                          <a:solidFill>
                            <a:srgbClr val="475569"/>
                          </a:solidFill>
                          <a:latin typeface="Segoe UI"/>
                        </a:rPr>
                        <a:t>2</a:t>
                      </a:r>
                    </a:p>
                  </a:txBody>
                  <a:tcPr>
                    <a:solidFill>
                      <a:srgbClr val="F8FAFC"/>
                    </a:solidFill>
                  </a:tcPr>
                </a:tc>
                <a:tc>
                  <a:txBody>
                    <a:bodyPr/>
                    <a:lstStyle/>
                    <a:p>
                      <a:r>
                        <a:rPr sz="1100">
                          <a:solidFill>
                            <a:srgbClr val="475569"/>
                          </a:solidFill>
                          <a:latin typeface="Segoe UI"/>
                        </a:rPr>
                        <a:t>Tool package format, S3 upload, bound to a version</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a:t>
                      </a:r>
                    </a:p>
                  </a:txBody>
                  <a:tcPr>
                    <a:solidFill>
                      <a:srgbClr val="F8FAFC"/>
                    </a:solidFill>
                  </a:tcPr>
                </a:tc>
              </a:tr>
              <a:tr h="293914">
                <a:tc>
                  <a:txBody>
                    <a:bodyPr/>
                    <a:lstStyle/>
                    <a:p>
                      <a:r>
                        <a:rPr sz="1100">
                          <a:solidFill>
                            <a:srgbClr val="475569"/>
                          </a:solidFill>
                          <a:latin typeface="Segoe UI"/>
                        </a:rPr>
                        <a:t>3</a:t>
                      </a:r>
                    </a:p>
                  </a:txBody>
                  <a:tcPr>
                    <a:solidFill>
                      <a:srgbClr val="FFFFFF"/>
                    </a:solidFill>
                  </a:tcPr>
                </a:tc>
                <a:tc>
                  <a:txBody>
                    <a:bodyPr/>
                    <a:lstStyle/>
                    <a:p>
                      <a:r>
                        <a:rPr sz="1100">
                          <a:solidFill>
                            <a:srgbClr val="475569"/>
                          </a:solidFill>
                          <a:latin typeface="Segoe UI"/>
                        </a:rPr>
                        <a:t>Sandbox runtime: no network, null role, no disk</a:t>
                      </a:r>
                    </a:p>
                  </a:txBody>
                  <a:tcPr>
                    <a:solidFill>
                      <a:srgbClr val="FFFFFF"/>
                    </a:solidFill>
                  </a:tcPr>
                </a:tc>
                <a:tc>
                  <a:txBody>
                    <a:bodyPr/>
                    <a:lstStyle/>
                    <a:p>
                      <a:r>
                        <a:rPr sz="1100">
                          <a:solidFill>
                            <a:srgbClr val="475569"/>
                          </a:solidFill>
                          <a:latin typeface="Segoe UI"/>
                        </a:rPr>
                        <a:t>L</a:t>
                      </a:r>
                    </a:p>
                  </a:txBody>
                  <a:tcPr>
                    <a:solidFill>
                      <a:srgbClr val="FFFFFF"/>
                    </a:solidFill>
                  </a:tcPr>
                </a:tc>
                <a:tc>
                  <a:txBody>
                    <a:bodyPr/>
                    <a:lstStyle/>
                    <a:p>
                      <a:r>
                        <a:rPr sz="1100">
                          <a:solidFill>
                            <a:srgbClr val="475569"/>
                          </a:solidFill>
                          <a:latin typeface="Segoe UI"/>
                        </a:rPr>
                        <a:t>2</a:t>
                      </a:r>
                    </a:p>
                  </a:txBody>
                  <a:tcPr>
                    <a:solidFill>
                      <a:srgbClr val="FFFFFF"/>
                    </a:solidFill>
                  </a:tcPr>
                </a:tc>
              </a:tr>
              <a:tr h="293914">
                <a:tc>
                  <a:txBody>
                    <a:bodyPr/>
                    <a:lstStyle/>
                    <a:p>
                      <a:r>
                        <a:rPr sz="1100">
                          <a:solidFill>
                            <a:srgbClr val="475569"/>
                          </a:solidFill>
                          <a:latin typeface="Segoe UI"/>
                        </a:rPr>
                        <a:t>4</a:t>
                      </a:r>
                    </a:p>
                  </a:txBody>
                  <a:tcPr>
                    <a:solidFill>
                      <a:srgbClr val="F8FAFC"/>
                    </a:solidFill>
                  </a:tcPr>
                </a:tc>
                <a:tc>
                  <a:txBody>
                    <a:bodyPr/>
                    <a:lstStyle/>
                    <a:p>
                      <a:r>
                        <a:rPr sz="1100">
                          <a:solidFill>
                            <a:srgbClr val="475569"/>
                          </a:solidFill>
                          <a:latin typeface="Segoe UI"/>
                        </a:rPr>
                        <a:t>Platform fetcher with a per-tool allowlist</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3</a:t>
                      </a:r>
                    </a:p>
                  </a:txBody>
                  <a:tcPr>
                    <a:solidFill>
                      <a:srgbClr val="F8FAFC"/>
                    </a:solidFill>
                  </a:tcPr>
                </a:tc>
              </a:tr>
              <a:tr h="293914">
                <a:tc>
                  <a:txBody>
                    <a:bodyPr/>
                    <a:lstStyle/>
                    <a:p>
                      <a:r>
                        <a:rPr sz="1100">
                          <a:solidFill>
                            <a:srgbClr val="475569"/>
                          </a:solidFill>
                          <a:latin typeface="Segoe UI"/>
                        </a:rPr>
                        <a:t>5</a:t>
                      </a:r>
                    </a:p>
                  </a:txBody>
                  <a:tcPr>
                    <a:solidFill>
                      <a:srgbClr val="F0FDF4"/>
                    </a:solidFill>
                  </a:tcPr>
                </a:tc>
                <a:tc>
                  <a:txBody>
                    <a:bodyPr/>
                    <a:lstStyle/>
                    <a:p>
                      <a:r>
                        <a:rPr sz="1100">
                          <a:solidFill>
                            <a:srgbClr val="475569"/>
                          </a:solidFill>
                          <a:latin typeface="Segoe UI"/>
                        </a:rPr>
                        <a:t>Sandbox escape tests</a:t>
                      </a:r>
                    </a:p>
                  </a:txBody>
                  <a:tcPr>
                    <a:solidFill>
                      <a:srgbClr val="F0FDF4"/>
                    </a:solidFill>
                  </a:tcPr>
                </a:tc>
                <a:tc>
                  <a:txBody>
                    <a:bodyPr/>
                    <a:lstStyle/>
                    <a:p>
                      <a:r>
                        <a:rPr sz="1100">
                          <a:solidFill>
                            <a:srgbClr val="475569"/>
                          </a:solidFill>
                          <a:latin typeface="Segoe UI"/>
                        </a:rPr>
                        <a:t>M</a:t>
                      </a:r>
                    </a:p>
                  </a:txBody>
                  <a:tcPr>
                    <a:solidFill>
                      <a:srgbClr val="F0FDF4"/>
                    </a:solidFill>
                  </a:tcPr>
                </a:tc>
                <a:tc>
                  <a:txBody>
                    <a:bodyPr/>
                    <a:lstStyle/>
                    <a:p>
                      <a:r>
                        <a:rPr sz="1100">
                          <a:solidFill>
                            <a:srgbClr val="475569"/>
                          </a:solidFill>
                          <a:latin typeface="Segoe UI"/>
                        </a:rPr>
                        <a:t>3, 4</a:t>
                      </a:r>
                    </a:p>
                  </a:txBody>
                  <a:tcPr>
                    <a:solidFill>
                      <a:srgbClr val="F0FDF4"/>
                    </a:solidFill>
                  </a:tcPr>
                </a:tc>
              </a:tr>
              <a:tr h="293914">
                <a:tc>
                  <a:txBody>
                    <a:bodyPr/>
                    <a:lstStyle/>
                    <a:p>
                      <a:r>
                        <a:rPr sz="1100">
                          <a:solidFill>
                            <a:srgbClr val="475569"/>
                          </a:solidFill>
                          <a:latin typeface="Segoe UI"/>
                        </a:rPr>
                        <a:t>6</a:t>
                      </a:r>
                    </a:p>
                  </a:txBody>
                  <a:tcPr>
                    <a:solidFill>
                      <a:srgbClr val="F8FAFC"/>
                    </a:solidFill>
                  </a:tcPr>
                </a:tc>
                <a:tc>
                  <a:txBody>
                    <a:bodyPr/>
                    <a:lstStyle/>
                    <a:p>
                      <a:r>
                        <a:rPr sz="1100">
                          <a:solidFill>
                            <a:srgbClr val="475569"/>
                          </a:solidFill>
                          <a:latin typeface="Segoe UI"/>
                        </a:rPr>
                        <a:t>exec-fn: call a tool, record the outcome event</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1, 4</a:t>
                      </a:r>
                    </a:p>
                  </a:txBody>
                  <a:tcPr>
                    <a:solidFill>
                      <a:srgbClr val="F8FAFC"/>
                    </a:solidFill>
                  </a:tcPr>
                </a:tc>
              </a:tr>
              <a:tr h="293914">
                <a:tc>
                  <a:txBody>
                    <a:bodyPr/>
                    <a:lstStyle/>
                    <a:p>
                      <a:r>
                        <a:rPr sz="1100">
                          <a:solidFill>
                            <a:srgbClr val="475569"/>
                          </a:solidFill>
                          <a:latin typeface="Segoe UI"/>
                        </a:rPr>
                        <a:t>7</a:t>
                      </a:r>
                    </a:p>
                  </a:txBody>
                  <a:tcPr>
                    <a:solidFill>
                      <a:srgbClr val="FFFFFF"/>
                    </a:solidFill>
                  </a:tcPr>
                </a:tc>
                <a:tc>
                  <a:txBody>
                    <a:bodyPr/>
                    <a:lstStyle/>
                    <a:p>
                      <a:r>
                        <a:rPr sz="1100">
                          <a:solidFill>
                            <a:srgbClr val="475569"/>
                          </a:solidFill>
                          <a:latin typeface="Segoe UI"/>
                        </a:rPr>
                        <a:t>MCP endpoints so agents can actually call tools</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6</a:t>
                      </a:r>
                    </a:p>
                  </a:txBody>
                  <a:tcPr>
                    <a:solidFill>
                      <a:srgbClr val="FFFFFF"/>
                    </a:solidFill>
                  </a:tcPr>
                </a:tc>
              </a:tr>
              <a:tr h="293914">
                <a:tc>
                  <a:txBody>
                    <a:bodyPr/>
                    <a:lstStyle/>
                    <a:p>
                      <a:r>
                        <a:rPr sz="1100">
                          <a:solidFill>
                            <a:srgbClr val="475569"/>
                          </a:solidFill>
                          <a:latin typeface="Segoe UI"/>
                        </a:rPr>
                        <a:t>8</a:t>
                      </a:r>
                    </a:p>
                  </a:txBody>
                  <a:tcPr>
                    <a:solidFill>
                      <a:srgbClr val="F8FAFC"/>
                    </a:solidFill>
                  </a:tcPr>
                </a:tc>
                <a:tc>
                  <a:txBody>
                    <a:bodyPr/>
                    <a:lstStyle/>
                    <a:p>
                      <a:r>
                        <a:rPr sz="1100">
                          <a:solidFill>
                            <a:srgbClr val="475569"/>
                          </a:solidFill>
                          <a:latin typeface="Segoe UI"/>
                        </a:rPr>
                        <a:t>Gap clustering job, nightly</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1</a:t>
                      </a:r>
                    </a:p>
                  </a:txBody>
                  <a:tcPr>
                    <a:solidFill>
                      <a:srgbClr val="F8FAFC"/>
                    </a:solidFill>
                  </a:tcPr>
                </a:tc>
              </a:tr>
              <a:tr h="293914">
                <a:tc>
                  <a:txBody>
                    <a:bodyPr/>
                    <a:lstStyle/>
                    <a:p>
                      <a:r>
                        <a:rPr sz="1100">
                          <a:solidFill>
                            <a:srgbClr val="475569"/>
                          </a:solidFill>
                          <a:latin typeface="Segoe UI"/>
                        </a:rPr>
                        <a:t>9</a:t>
                      </a:r>
                    </a:p>
                  </a:txBody>
                  <a:tcPr>
                    <a:solidFill>
                      <a:srgbClr val="FFFFFF"/>
                    </a:solidFill>
                  </a:tcPr>
                </a:tc>
                <a:tc>
                  <a:txBody>
                    <a:bodyPr/>
                    <a:lstStyle/>
                    <a:p>
                      <a:r>
                        <a:rPr sz="1100">
                          <a:solidFill>
                            <a:srgbClr val="475569"/>
                          </a:solidFill>
                          <a:latin typeface="Segoe UI"/>
                        </a:rPr>
                        <a:t>Repeated-gap rule: distinct-caller threshold, derived</a:t>
                      </a:r>
                    </a:p>
                  </a:txBody>
                  <a:tcPr>
                    <a:solidFill>
                      <a:srgbClr val="FFFFFF"/>
                    </a:solidFill>
                  </a:tcPr>
                </a:tc>
                <a:tc>
                  <a:txBody>
                    <a:bodyPr/>
                    <a:lstStyle/>
                    <a:p>
                      <a:r>
                        <a:rPr sz="1100">
                          <a:solidFill>
                            <a:srgbClr val="475569"/>
                          </a:solidFill>
                          <a:latin typeface="Segoe UI"/>
                        </a:rPr>
                        <a:t>S</a:t>
                      </a:r>
                    </a:p>
                  </a:txBody>
                  <a:tcPr>
                    <a:solidFill>
                      <a:srgbClr val="FFFFFF"/>
                    </a:solidFill>
                  </a:tcPr>
                </a:tc>
                <a:tc>
                  <a:txBody>
                    <a:bodyPr/>
                    <a:lstStyle/>
                    <a:p>
                      <a:r>
                        <a:rPr sz="1100">
                          <a:solidFill>
                            <a:srgbClr val="475569"/>
                          </a:solidFill>
                          <a:latin typeface="Segoe UI"/>
                        </a:rPr>
                        <a:t>8</a:t>
                      </a:r>
                    </a:p>
                  </a:txBody>
                  <a:tcPr>
                    <a:solidFill>
                      <a:srgbClr val="FFFFFF"/>
                    </a:solidFill>
                  </a:tcPr>
                </a:tc>
              </a:tr>
              <a:tr h="293914">
                <a:tc>
                  <a:txBody>
                    <a:bodyPr/>
                    <a:lstStyle/>
                    <a:p>
                      <a:r>
                        <a:rPr sz="1100">
                          <a:solidFill>
                            <a:srgbClr val="475569"/>
                          </a:solidFill>
                          <a:latin typeface="Segoe UI"/>
                        </a:rPr>
                        <a:t>10</a:t>
                      </a:r>
                    </a:p>
                  </a:txBody>
                  <a:tcPr>
                    <a:solidFill>
                      <a:srgbClr val="F8FAFC"/>
                    </a:solidFill>
                  </a:tcPr>
                </a:tc>
                <a:tc>
                  <a:txBody>
                    <a:bodyPr/>
                    <a:lstStyle/>
                    <a:p>
                      <a:r>
                        <a:rPr sz="1100">
                          <a:solidFill>
                            <a:srgbClr val="475569"/>
                          </a:solidFill>
                          <a:latin typeface="Segoe UI"/>
                        </a:rPr>
                        <a:t>Mass-only scoring, recomputed from the event log</a:t>
                      </a:r>
                    </a:p>
                  </a:txBody>
                  <a:tcPr>
                    <a:solidFill>
                      <a:srgbClr val="F8FAFC"/>
                    </a:solidFill>
                  </a:tcPr>
                </a:tc>
                <a:tc>
                  <a:txBody>
                    <a:bodyPr/>
                    <a:lstStyle/>
                    <a:p>
                      <a:r>
                        <a:rPr sz="1100">
                          <a:solidFill>
                            <a:srgbClr val="475569"/>
                          </a:solidFill>
                          <a:latin typeface="Segoe UI"/>
                        </a:rPr>
                        <a:t>M</a:t>
                      </a:r>
                    </a:p>
                  </a:txBody>
                  <a:tcPr>
                    <a:solidFill>
                      <a:srgbClr val="F8FAFC"/>
                    </a:solidFill>
                  </a:tcPr>
                </a:tc>
                <a:tc>
                  <a:txBody>
                    <a:bodyPr/>
                    <a:lstStyle/>
                    <a:p>
                      <a:r>
                        <a:rPr sz="1100">
                          <a:solidFill>
                            <a:srgbClr val="475569"/>
                          </a:solidFill>
                          <a:latin typeface="Segoe UI"/>
                        </a:rPr>
                        <a:t>6</a:t>
                      </a:r>
                    </a:p>
                  </a:txBody>
                  <a:tcPr>
                    <a:solidFill>
                      <a:srgbClr val="F8FAFC"/>
                    </a:solidFill>
                  </a:tcPr>
                </a:tc>
              </a:tr>
              <a:tr h="293914">
                <a:tc>
                  <a:txBody>
                    <a:bodyPr/>
                    <a:lstStyle/>
                    <a:p>
                      <a:r>
                        <a:rPr sz="1100">
                          <a:solidFill>
                            <a:srgbClr val="475569"/>
                          </a:solidFill>
                          <a:latin typeface="Segoe UI"/>
                        </a:rPr>
                        <a:t>11</a:t>
                      </a:r>
                    </a:p>
                  </a:txBody>
                  <a:tcPr>
                    <a:solidFill>
                      <a:srgbClr val="FFFFFF"/>
                    </a:solidFill>
                  </a:tcPr>
                </a:tc>
                <a:tc>
                  <a:txBody>
                    <a:bodyPr/>
                    <a:lstStyle/>
                    <a:p>
                      <a:r>
                        <a:rPr sz="1100">
                          <a:solidFill>
                            <a:srgbClr val="475569"/>
                          </a:solidFill>
                          <a:latin typeface="Segoe UI"/>
                        </a:rPr>
                        <a:t>Creator submission API and review gate</a:t>
                      </a:r>
                    </a:p>
                  </a:txBody>
                  <a:tcPr>
                    <a:solidFill>
                      <a:srgbClr val="FFFFFF"/>
                    </a:solidFill>
                  </a:tcPr>
                </a:tc>
                <a:tc>
                  <a:txBody>
                    <a:bodyPr/>
                    <a:lstStyle/>
                    <a:p>
                      <a:r>
                        <a:rPr sz="1100">
                          <a:solidFill>
                            <a:srgbClr val="475569"/>
                          </a:solidFill>
                          <a:latin typeface="Segoe UI"/>
                        </a:rPr>
                        <a:t>M</a:t>
                      </a:r>
                    </a:p>
                  </a:txBody>
                  <a:tcPr>
                    <a:solidFill>
                      <a:srgbClr val="FFFFFF"/>
                    </a:solidFill>
                  </a:tcPr>
                </a:tc>
                <a:tc>
                  <a:txBody>
                    <a:bodyPr/>
                    <a:lstStyle/>
                    <a:p>
                      <a:r>
                        <a:rPr sz="1100">
                          <a:solidFill>
                            <a:srgbClr val="475569"/>
                          </a:solidFill>
                          <a:latin typeface="Segoe UI"/>
                        </a:rPr>
                        <a:t>1, 2</a:t>
                      </a:r>
                    </a:p>
                  </a:txBody>
                  <a:tcPr>
                    <a:solidFill>
                      <a:srgbClr val="FFFFFF"/>
                    </a:solidFill>
                  </a:tcPr>
                </a:tc>
              </a:tr>
              <a:tr h="293914">
                <a:tc>
                  <a:txBody>
                    <a:bodyPr/>
                    <a:lstStyle/>
                    <a:p>
                      <a:r>
                        <a:rPr sz="1100">
                          <a:solidFill>
                            <a:srgbClr val="475569"/>
                          </a:solidFill>
                          <a:latin typeface="Segoe UI"/>
                        </a:rPr>
                        <a:t>12</a:t>
                      </a:r>
                    </a:p>
                  </a:txBody>
                  <a:tcPr>
                    <a:solidFill>
                      <a:srgbClr val="F8FAFC"/>
                    </a:solidFill>
                  </a:tcPr>
                </a:tc>
                <a:tc>
                  <a:txBody>
                    <a:bodyPr/>
                    <a:lstStyle/>
                    <a:p>
                      <a:r>
                        <a:rPr sz="1100">
                          <a:solidFill>
                            <a:srgbClr val="475569"/>
                          </a:solidFill>
                          <a:latin typeface="Segoe UI"/>
                        </a:rPr>
                        <a:t>Public gaps board: CloudFront, S3, read-only API</a:t>
                      </a:r>
                    </a:p>
                  </a:txBody>
                  <a:tcPr>
                    <a:solidFill>
                      <a:srgbClr val="F8FAFC"/>
                    </a:solidFill>
                  </a:tcPr>
                </a:tc>
                <a:tc>
                  <a:txBody>
                    <a:bodyPr/>
                    <a:lstStyle/>
                    <a:p>
                      <a:r>
                        <a:rPr sz="1100">
                          <a:solidFill>
                            <a:srgbClr val="475569"/>
                          </a:solidFill>
                          <a:latin typeface="Segoe UI"/>
                        </a:rPr>
                        <a:t>L</a:t>
                      </a:r>
                    </a:p>
                  </a:txBody>
                  <a:tcPr>
                    <a:solidFill>
                      <a:srgbClr val="F8FAFC"/>
                    </a:solidFill>
                  </a:tcPr>
                </a:tc>
                <a:tc>
                  <a:txBody>
                    <a:bodyPr/>
                    <a:lstStyle/>
                    <a:p>
                      <a:r>
                        <a:rPr sz="1100">
                          <a:solidFill>
                            <a:srgbClr val="475569"/>
                          </a:solidFill>
                          <a:latin typeface="Segoe UI"/>
                        </a:rPr>
                        <a:t>9</a:t>
                      </a:r>
                    </a:p>
                  </a:txBody>
                  <a:tcPr>
                    <a:solidFill>
                      <a:srgbClr val="F8FAFC"/>
                    </a:solidFill>
                  </a:tcPr>
                </a:tc>
              </a:tr>
              <a:tr h="293918">
                <a:tc>
                  <a:txBody>
                    <a:bodyPr/>
                    <a:lstStyle/>
                    <a:p>
                      <a:r>
                        <a:rPr sz="1100">
                          <a:solidFill>
                            <a:srgbClr val="475569"/>
                          </a:solidFill>
                          <a:latin typeface="Segoe UI"/>
                        </a:rPr>
                        <a:t>13</a:t>
                      </a:r>
                    </a:p>
                  </a:txBody>
                  <a:tcPr>
                    <a:solidFill>
                      <a:srgbClr val="FFFFFF"/>
                    </a:solidFill>
                  </a:tcPr>
                </a:tc>
                <a:tc>
                  <a:txBody>
                    <a:bodyPr/>
                    <a:lstStyle/>
                    <a:p>
                      <a:r>
                        <a:rPr sz="1100">
                          <a:solidFill>
                            <a:srgbClr val="475569"/>
                          </a:solidFill>
                          <a:latin typeface="Segoe UI"/>
                        </a:rPr>
                        <a:t>Phase 1 findings write-up</a:t>
                      </a:r>
                    </a:p>
                  </a:txBody>
                  <a:tcPr>
                    <a:solidFill>
                      <a:srgbClr val="FFFFFF"/>
                    </a:solidFill>
                  </a:tcPr>
                </a:tc>
                <a:tc>
                  <a:txBody>
                    <a:bodyPr/>
                    <a:lstStyle/>
                    <a:p>
                      <a:r>
                        <a:rPr sz="1100">
                          <a:solidFill>
                            <a:srgbClr val="475569"/>
                          </a:solidFill>
                          <a:latin typeface="Segoe UI"/>
                        </a:rPr>
                        <a:t>S</a:t>
                      </a:r>
                    </a:p>
                  </a:txBody>
                  <a:tcPr>
                    <a:solidFill>
                      <a:srgbClr val="FFFFFF"/>
                    </a:solidFill>
                  </a:tcPr>
                </a:tc>
                <a:tc>
                  <a:txBody>
                    <a:bodyPr/>
                    <a:lstStyle/>
                    <a:p>
                      <a:r>
                        <a:rPr sz="1100">
                          <a:solidFill>
                            <a:srgbClr val="475569"/>
                          </a:solidFill>
                          <a:latin typeface="Segoe UI"/>
                        </a:rPr>
                        <a:t>all</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SEQUENCING</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blocks what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77240" y="1783080"/>
            <a:ext cx="1481328"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#1 Identity</a:t>
            </a:r>
          </a:p>
        </p:txBody>
      </p:sp>
      <p:sp>
        <p:nvSpPr>
          <p:cNvPr id="6" name="Right Arrow 5"/>
          <p:cNvSpPr/>
          <p:nvPr/>
        </p:nvSpPr>
        <p:spPr>
          <a:xfrm>
            <a:off x="2295144" y="1993392"/>
            <a:ext cx="219456"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51176" y="1783080"/>
            <a:ext cx="1481328"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#2 Package</a:t>
            </a:r>
          </a:p>
        </p:txBody>
      </p:sp>
      <p:sp>
        <p:nvSpPr>
          <p:cNvPr id="8" name="Right Arrow 7"/>
          <p:cNvSpPr/>
          <p:nvPr/>
        </p:nvSpPr>
        <p:spPr>
          <a:xfrm>
            <a:off x="4069080" y="1993392"/>
            <a:ext cx="219456"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25112" y="1783080"/>
            <a:ext cx="1481328"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#3 Sandbox</a:t>
            </a:r>
          </a:p>
        </p:txBody>
      </p:sp>
      <p:sp>
        <p:nvSpPr>
          <p:cNvPr id="10" name="Right Arrow 9"/>
          <p:cNvSpPr/>
          <p:nvPr/>
        </p:nvSpPr>
        <p:spPr>
          <a:xfrm>
            <a:off x="5843016" y="1993392"/>
            <a:ext cx="219456"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99048" y="1783080"/>
            <a:ext cx="1481328"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#4 Fetcher</a:t>
            </a:r>
          </a:p>
        </p:txBody>
      </p:sp>
      <p:sp>
        <p:nvSpPr>
          <p:cNvPr id="12" name="Right Arrow 11"/>
          <p:cNvSpPr/>
          <p:nvPr/>
        </p:nvSpPr>
        <p:spPr>
          <a:xfrm>
            <a:off x="7616952" y="1993392"/>
            <a:ext cx="219456"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872984" y="1783080"/>
            <a:ext cx="1481328"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#5 Escape tests</a:t>
            </a:r>
          </a:p>
        </p:txBody>
      </p:sp>
      <p:sp>
        <p:nvSpPr>
          <p:cNvPr id="14" name="Right Arrow 13"/>
          <p:cNvSpPr/>
          <p:nvPr/>
        </p:nvSpPr>
        <p:spPr>
          <a:xfrm>
            <a:off x="9390888" y="1993392"/>
            <a:ext cx="219456" cy="219456"/>
          </a:xfrm>
          <a:prstGeom prst="rightArrow">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646920" y="1783080"/>
            <a:ext cx="1481328" cy="6400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Segoe UI"/>
              </a:rPr>
              <a:t>#6 exec-fn</a:t>
            </a:r>
          </a:p>
        </p:txBody>
      </p:sp>
      <p:sp>
        <p:nvSpPr>
          <p:cNvPr id="16" name="TextBox 15"/>
          <p:cNvSpPr txBox="1"/>
          <p:nvPr/>
        </p:nvSpPr>
        <p:spPr>
          <a:xfrm>
            <a:off x="777240" y="2743200"/>
            <a:ext cx="10515600" cy="31089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#5 is a gate, not a task.</a:t>
            </a:r>
            <a:r>
              <a:rPr sz="1400">
                <a:solidFill>
                  <a:srgbClr val="475569"/>
                </a:solidFill>
                <a:latin typeface="Segoe UI"/>
              </a:rPr>
              <a:t>  No third-party code runs until the escape tests pass. CLAUDE.md is explicit that sandboxing is not a later phase — it gates everything.</a:t>
            </a:r>
          </a:p>
          <a:p>
            <a:pPr>
              <a:lnSpc>
                <a:spcPct val="115000"/>
              </a:lnSpc>
              <a:spcAft>
                <a:spcPts val="1000"/>
              </a:spcAft>
            </a:pPr>
            <a:r>
              <a:rPr sz="1400" b="1">
                <a:solidFill>
                  <a:srgbClr val="0F172A"/>
                </a:solidFill>
                <a:latin typeface="Segoe UI"/>
              </a:rPr>
              <a:t>#1 comes first because two things depend on it.</a:t>
            </a:r>
            <a:r>
              <a:rPr sz="1400">
                <a:solidFill>
                  <a:srgbClr val="475569"/>
                </a:solidFill>
                <a:latin typeface="Segoe UI"/>
              </a:rPr>
              <a:t>  Clustering counts distinct verified callers, and the review gate needs to know who submitted. Retro-fitting identity after the gap log has data means the early data cannot be trusted.</a:t>
            </a:r>
          </a:p>
          <a:p>
            <a:pPr>
              <a:lnSpc>
                <a:spcPct val="115000"/>
              </a:lnSpc>
              <a:spcAft>
                <a:spcPts val="1000"/>
              </a:spcAft>
            </a:pPr>
            <a:r>
              <a:rPr sz="1400" b="1">
                <a:solidFill>
                  <a:srgbClr val="0F172A"/>
                </a:solidFill>
                <a:latin typeface="Segoe UI"/>
              </a:rPr>
              <a:t>#12 is the cold-start move, and it can start early.</a:t>
            </a:r>
            <a:r>
              <a:rPr sz="1400">
                <a:solidFill>
                  <a:srgbClr val="475569"/>
                </a:solidFill>
                <a:latin typeface="Segoe UI"/>
              </a:rPr>
              <a:t>  PROJECT.md calls the gaps board a standalone product useful before the ecosystem exists. It only needs #9, so it can run in parallel with the sandbox work.</a:t>
            </a:r>
          </a:p>
          <a:p>
            <a:pPr>
              <a:lnSpc>
                <a:spcPct val="115000"/>
              </a:lnSpc>
              <a:spcAft>
                <a:spcPts val="1000"/>
              </a:spcAft>
            </a:pPr>
            <a:r>
              <a:rPr sz="1400" b="1">
                <a:solidFill>
                  <a:srgbClr val="0F172A"/>
                </a:solidFill>
                <a:latin typeface="Segoe UI"/>
              </a:rPr>
              <a:t>#13 is the exit, as in Phase 0.</a:t>
            </a:r>
            <a:r>
              <a:rPr sz="1400">
                <a:solidFill>
                  <a:srgbClr val="475569"/>
                </a:solidFill>
                <a:latin typeface="Segoe UI"/>
              </a:rPr>
              <a:t>  The gate clears, or a written finding says why not.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COST</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Phase 1 costs to run</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424160" cy="457200"/>
          </a:xfrm>
          <a:prstGeom prst="rect">
            <a:avLst/>
          </a:prstGeom>
          <a:noFill/>
        </p:spPr>
        <p:txBody>
          <a:bodyPr wrap="square" lIns="0" rIns="0" tIns="0" bIns="0">
            <a:spAutoFit/>
          </a:bodyPr>
          <a:lstStyle/>
          <a:p>
            <a:pPr algn="l">
              <a:lnSpc>
                <a:spcPct val="100000"/>
              </a:lnSpc>
            </a:pPr>
            <a:r>
              <a:rPr sz="1500" b="0">
                <a:solidFill>
                  <a:srgbClr val="475569"/>
                </a:solidFill>
                <a:latin typeface="Segoe UI"/>
              </a:rPr>
              <a:t>Phase 0 cost under $5. Phase 1 breaks the always-free pattern in two places.</a:t>
            </a:r>
          </a:p>
        </p:txBody>
      </p:sp>
      <p:graphicFrame>
        <p:nvGraphicFramePr>
          <p:cNvPr id="6" name="Table 5"/>
          <p:cNvGraphicFramePr>
            <a:graphicFrameLocks noGrp="1"/>
          </p:cNvGraphicFramePr>
          <p:nvPr/>
        </p:nvGraphicFramePr>
        <p:xfrm>
          <a:off x="777240" y="2350008"/>
          <a:ext cx="10515600" cy="1773936"/>
        </p:xfrm>
        <a:graphic>
          <a:graphicData uri="http://schemas.openxmlformats.org/drawingml/2006/table">
            <a:tbl>
              <a:tblPr firstRow="1" bandRow="1">
                <a:tableStyleId>{5C22544A-7EE6-4342-B048-85BDC9FD1C3A}</a:tableStyleId>
              </a:tblPr>
              <a:tblGrid>
                <a:gridCol w="3383280"/>
                <a:gridCol w="3291840"/>
                <a:gridCol w="3840480"/>
              </a:tblGrid>
              <a:tr h="295656">
                <a:tc>
                  <a:txBody>
                    <a:bodyPr/>
                    <a:lstStyle/>
                    <a:p>
                      <a:r>
                        <a:rPr sz="1150" b="1">
                          <a:solidFill>
                            <a:srgbClr val="FFFFFF"/>
                          </a:solidFill>
                          <a:latin typeface="Segoe UI"/>
                        </a:rPr>
                        <a:t>Component</a:t>
                      </a:r>
                    </a:p>
                  </a:txBody>
                  <a:tcPr>
                    <a:solidFill>
                      <a:srgbClr val="0F172A"/>
                    </a:solidFill>
                  </a:tcPr>
                </a:tc>
                <a:tc>
                  <a:txBody>
                    <a:bodyPr/>
                    <a:lstStyle/>
                    <a:p>
                      <a:r>
                        <a:rPr sz="1150" b="1">
                          <a:solidFill>
                            <a:srgbClr val="FFFFFF"/>
                          </a:solidFill>
                          <a:latin typeface="Segoe UI"/>
                        </a:rPr>
                        <a:t>Free tier</a:t>
                      </a:r>
                    </a:p>
                  </a:txBody>
                  <a:tcPr>
                    <a:solidFill>
                      <a:srgbClr val="0F172A"/>
                    </a:solidFill>
                  </a:tcPr>
                </a:tc>
                <a:tc>
                  <a:txBody>
                    <a:bodyPr/>
                    <a:lstStyle/>
                    <a:p>
                      <a:r>
                        <a:rPr sz="1150" b="1">
                          <a:solidFill>
                            <a:srgbClr val="FFFFFF"/>
                          </a:solidFill>
                          <a:latin typeface="Segoe UI"/>
                        </a:rPr>
                        <a:t>Phase 1 reality</a:t>
                      </a:r>
                    </a:p>
                  </a:txBody>
                  <a:tcPr>
                    <a:solidFill>
                      <a:srgbClr val="0F172A"/>
                    </a:solidFill>
                  </a:tcPr>
                </a:tc>
              </a:tr>
              <a:tr h="295656">
                <a:tc>
                  <a:txBody>
                    <a:bodyPr/>
                    <a:lstStyle/>
                    <a:p>
                      <a:r>
                        <a:rPr sz="1150">
                          <a:solidFill>
                            <a:srgbClr val="475569"/>
                          </a:solidFill>
                          <a:latin typeface="Segoe UI"/>
                        </a:rPr>
                        <a:t>Lambda, DynamoDB, EventBridge</a:t>
                      </a:r>
                    </a:p>
                  </a:txBody>
                  <a:tcPr>
                    <a:solidFill>
                      <a:srgbClr val="FFFFFF"/>
                    </a:solidFill>
                  </a:tcPr>
                </a:tc>
                <a:tc>
                  <a:txBody>
                    <a:bodyPr/>
                    <a:lstStyle/>
                    <a:p>
                      <a:r>
                        <a:rPr sz="1150">
                          <a:solidFill>
                            <a:srgbClr val="475569"/>
                          </a:solidFill>
                          <a:latin typeface="Segoe UI"/>
                        </a:rPr>
                        <a:t>always free within limits</a:t>
                      </a:r>
                    </a:p>
                  </a:txBody>
                  <a:tcPr>
                    <a:solidFill>
                      <a:srgbClr val="FFFFFF"/>
                    </a:solidFill>
                  </a:tcPr>
                </a:tc>
                <a:tc>
                  <a:txBody>
                    <a:bodyPr/>
                    <a:lstStyle/>
                    <a:p>
                      <a:r>
                        <a:rPr sz="1150">
                          <a:solidFill>
                            <a:srgbClr val="475569"/>
                          </a:solidFill>
                          <a:latin typeface="Segoe UI"/>
                        </a:rPr>
                        <a:t>still free at this volume</a:t>
                      </a:r>
                    </a:p>
                  </a:txBody>
                  <a:tcPr>
                    <a:solidFill>
                      <a:srgbClr val="FFFFFF"/>
                    </a:solidFill>
                  </a:tcPr>
                </a:tc>
              </a:tr>
              <a:tr h="295656">
                <a:tc>
                  <a:txBody>
                    <a:bodyPr/>
                    <a:lstStyle/>
                    <a:p>
                      <a:r>
                        <a:rPr sz="1150">
                          <a:solidFill>
                            <a:srgbClr val="475569"/>
                          </a:solidFill>
                          <a:latin typeface="Segoe UI"/>
                        </a:rPr>
                        <a:t>Bedrock: embeddings + adjudicator</a:t>
                      </a:r>
                    </a:p>
                  </a:txBody>
                  <a:tcPr>
                    <a:solidFill>
                      <a:srgbClr val="F8FAFC"/>
                    </a:solidFill>
                  </a:tcPr>
                </a:tc>
                <a:tc>
                  <a:txBody>
                    <a:bodyPr/>
                    <a:lstStyle/>
                    <a:p>
                      <a:r>
                        <a:rPr sz="1150">
                          <a:solidFill>
                            <a:srgbClr val="475569"/>
                          </a:solidFill>
                          <a:latin typeface="Segoe UI"/>
                        </a:rPr>
                        <a:t>none</a:t>
                      </a:r>
                    </a:p>
                  </a:txBody>
                  <a:tcPr>
                    <a:solidFill>
                      <a:srgbClr val="F8FAFC"/>
                    </a:solidFill>
                  </a:tcPr>
                </a:tc>
                <a:tc>
                  <a:txBody>
                    <a:bodyPr/>
                    <a:lstStyle/>
                    <a:p>
                      <a:r>
                        <a:rPr sz="1150">
                          <a:solidFill>
                            <a:srgbClr val="475569"/>
                          </a:solidFill>
                          <a:latin typeface="Segoe UI"/>
                        </a:rPr>
                        <a:t>per search, grows with traffic</a:t>
                      </a:r>
                    </a:p>
                  </a:txBody>
                  <a:tcPr>
                    <a:solidFill>
                      <a:srgbClr val="F8FAFC"/>
                    </a:solidFill>
                  </a:tcPr>
                </a:tc>
              </a:tr>
              <a:tr h="295656">
                <a:tc>
                  <a:txBody>
                    <a:bodyPr/>
                    <a:lstStyle/>
                    <a:p>
                      <a:r>
                        <a:rPr sz="1150">
                          <a:solidFill>
                            <a:srgbClr val="475569"/>
                          </a:solidFill>
                          <a:latin typeface="Segoe UI"/>
                        </a:rPr>
                        <a:t>Sandbox on Fargate</a:t>
                      </a:r>
                    </a:p>
                  </a:txBody>
                  <a:tcPr>
                    <a:solidFill>
                      <a:srgbClr val="FFFFFF"/>
                    </a:solidFill>
                  </a:tcPr>
                </a:tc>
                <a:tc>
                  <a:txBody>
                    <a:bodyPr/>
                    <a:lstStyle/>
                    <a:p>
                      <a:r>
                        <a:rPr sz="1150">
                          <a:solidFill>
                            <a:srgbClr val="475569"/>
                          </a:solidFill>
                          <a:latin typeface="Segoe UI"/>
                        </a:rPr>
                        <a:t>none</a:t>
                      </a:r>
                    </a:p>
                  </a:txBody>
                  <a:tcPr>
                    <a:solidFill>
                      <a:srgbClr val="FFFFFF"/>
                    </a:solidFill>
                  </a:tcPr>
                </a:tc>
                <a:tc>
                  <a:txBody>
                    <a:bodyPr/>
                    <a:lstStyle/>
                    <a:p>
                      <a:r>
                        <a:rPr sz="1150">
                          <a:solidFill>
                            <a:srgbClr val="475569"/>
                          </a:solidFill>
                          <a:latin typeface="Segoe UI"/>
                        </a:rPr>
                        <a:t>per task-second — the main new cost</a:t>
                      </a:r>
                    </a:p>
                  </a:txBody>
                  <a:tcPr>
                    <a:solidFill>
                      <a:srgbClr val="FFFFFF"/>
                    </a:solidFill>
                  </a:tcPr>
                </a:tc>
              </a:tr>
              <a:tr h="295656">
                <a:tc>
                  <a:txBody>
                    <a:bodyPr/>
                    <a:lstStyle/>
                    <a:p>
                      <a:r>
                        <a:rPr sz="1150">
                          <a:solidFill>
                            <a:srgbClr val="475569"/>
                          </a:solidFill>
                          <a:latin typeface="Segoe UI"/>
                        </a:rPr>
                        <a:t>Sandbox on Lambda in a VPC</a:t>
                      </a:r>
                    </a:p>
                  </a:txBody>
                  <a:tcPr>
                    <a:solidFill>
                      <a:srgbClr val="F8FAFC"/>
                    </a:solidFill>
                  </a:tcPr>
                </a:tc>
                <a:tc>
                  <a:txBody>
                    <a:bodyPr/>
                    <a:lstStyle/>
                    <a:p>
                      <a:r>
                        <a:rPr sz="1150">
                          <a:solidFill>
                            <a:srgbClr val="475569"/>
                          </a:solidFill>
                          <a:latin typeface="Segoe UI"/>
                        </a:rPr>
                        <a:t>always free</a:t>
                      </a:r>
                    </a:p>
                  </a:txBody>
                  <a:tcPr>
                    <a:solidFill>
                      <a:srgbClr val="F8FAFC"/>
                    </a:solidFill>
                  </a:tcPr>
                </a:tc>
                <a:tc>
                  <a:txBody>
                    <a:bodyPr/>
                    <a:lstStyle/>
                    <a:p>
                      <a:r>
                        <a:rPr sz="1150">
                          <a:solidFill>
                            <a:srgbClr val="475569"/>
                          </a:solidFill>
                          <a:latin typeface="Segoe UI"/>
                        </a:rPr>
                        <a:t>free, slightly weaker isolation</a:t>
                      </a:r>
                    </a:p>
                  </a:txBody>
                  <a:tcPr>
                    <a:solidFill>
                      <a:srgbClr val="F8FAFC"/>
                    </a:solidFill>
                  </a:tcPr>
                </a:tc>
              </a:tr>
              <a:tr h="295656">
                <a:tc>
                  <a:txBody>
                    <a:bodyPr/>
                    <a:lstStyle/>
                    <a:p>
                      <a:r>
                        <a:rPr sz="1150">
                          <a:solidFill>
                            <a:srgbClr val="475569"/>
                          </a:solidFill>
                          <a:latin typeface="Segoe UI"/>
                        </a:rPr>
                        <a:t>CloudFront + S3 for the board</a:t>
                      </a:r>
                    </a:p>
                  </a:txBody>
                  <a:tcPr>
                    <a:solidFill>
                      <a:srgbClr val="FFFFFF"/>
                    </a:solidFill>
                  </a:tcPr>
                </a:tc>
                <a:tc>
                  <a:txBody>
                    <a:bodyPr/>
                    <a:lstStyle/>
                    <a:p>
                      <a:r>
                        <a:rPr sz="1150">
                          <a:solidFill>
                            <a:srgbClr val="475569"/>
                          </a:solidFill>
                          <a:latin typeface="Segoe UI"/>
                        </a:rPr>
                        <a:t>1 TB out free for 12 months</a:t>
                      </a:r>
                    </a:p>
                  </a:txBody>
                  <a:tcPr>
                    <a:solidFill>
                      <a:srgbClr val="FFFFFF"/>
                    </a:solidFill>
                  </a:tcPr>
                </a:tc>
                <a:tc>
                  <a:txBody>
                    <a:bodyPr/>
                    <a:lstStyle/>
                    <a:p>
                      <a:r>
                        <a:rPr sz="1150">
                          <a:solidFill>
                            <a:srgbClr val="475569"/>
                          </a:solidFill>
                          <a:latin typeface="Segoe UI"/>
                        </a:rPr>
                        <a:t>free at any plausible volume</a:t>
                      </a:r>
                    </a:p>
                  </a:txBody>
                  <a:tcPr>
                    <a:solidFill>
                      <a:srgbClr val="FFFFFF"/>
                    </a:solidFill>
                  </a:tcPr>
                </a:tc>
              </a:tr>
            </a:tbl>
          </a:graphicData>
        </a:graphic>
      </p:graphicFrame>
      <p:sp>
        <p:nvSpPr>
          <p:cNvPr id="7" name="TextBox 6"/>
          <p:cNvSpPr txBox="1"/>
          <p:nvPr/>
        </p:nvSpPr>
        <p:spPr>
          <a:xfrm>
            <a:off x="777240" y="4453127"/>
            <a:ext cx="10515600" cy="2194560"/>
          </a:xfrm>
          <a:prstGeom prst="rect">
            <a:avLst/>
          </a:prstGeom>
          <a:noFill/>
        </p:spPr>
        <p:txBody>
          <a:bodyPr wrap="square" lIns="0" rIns="0" tIns="0" bIns="0">
            <a:spAutoFit/>
          </a:bodyPr>
          <a:lstStyle/>
          <a:p>
            <a:pPr>
              <a:lnSpc>
                <a:spcPct val="115000"/>
              </a:lnSpc>
              <a:spcAft>
                <a:spcPts val="1000"/>
              </a:spcAft>
            </a:pPr>
            <a:r>
              <a:rPr sz="1400" b="1">
                <a:solidFill>
                  <a:srgbClr val="0F172A"/>
                </a:solidFill>
                <a:latin typeface="Segoe UI"/>
              </a:rPr>
              <a:t>The honest number is unknown until #6.</a:t>
            </a:r>
            <a:r>
              <a:rPr sz="1400">
                <a:solidFill>
                  <a:srgbClr val="475569"/>
                </a:solidFill>
                <a:latin typeface="Segoe UI"/>
              </a:rPr>
              <a:t>  Cost per call depends on how long tools run, and nothing has ever executed. Measure it in #6 and publish it with the findings.</a:t>
            </a:r>
          </a:p>
          <a:p>
            <a:pPr>
              <a:lnSpc>
                <a:spcPct val="115000"/>
              </a:lnSpc>
              <a:spcAft>
                <a:spcPts val="1000"/>
              </a:spcAft>
            </a:pPr>
            <a:r>
              <a:rPr sz="1400" b="1">
                <a:solidFill>
                  <a:srgbClr val="0F172A"/>
                </a:solidFill>
                <a:latin typeface="Segoe UI"/>
              </a:rPr>
              <a:t>PROJECT.md already made this a standing commitment.</a:t>
            </a:r>
            <a:r>
              <a:rPr sz="1400">
                <a:solidFill>
                  <a:srgbClr val="475569"/>
                </a:solidFill>
                <a:latin typeface="Segoe UI"/>
              </a:rPr>
              <a:t>  "Measure per-call cost continuously — compute, embeddings and routing all sit on the path of every call."</a:t>
            </a:r>
          </a:p>
          <a:p>
            <a:pPr>
              <a:lnSpc>
                <a:spcPct val="115000"/>
              </a:lnSpc>
              <a:spcAft>
                <a:spcPts val="1000"/>
              </a:spcAft>
            </a:pPr>
            <a:r>
              <a:rPr sz="1400" b="1">
                <a:solidFill>
                  <a:srgbClr val="0F172A"/>
                </a:solidFill>
                <a:latin typeface="Segoe UI"/>
              </a:rPr>
              <a:t>Decide the runtime on cost, not instinct.</a:t>
            </a:r>
            <a:r>
              <a:rPr sz="1400">
                <a:solidFill>
                  <a:srgbClr val="475569"/>
                </a:solidFill>
                <a:latin typeface="Segoe UI"/>
              </a:rPr>
              <a:t>  Lambda-in-a-VPC is free and gives the same no-egress guarantee. Fargate is stronger isolation and costs per second. Both are defensible; drifting into Fargate without deciding is not.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RISKS</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could go wrong, and what was already logged</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783080"/>
            <a:ext cx="10515600" cy="3931920"/>
          </a:xfrm>
          <a:prstGeom prst="rect">
            <a:avLst/>
          </a:prstGeom>
          <a:noFill/>
        </p:spPr>
        <p:txBody>
          <a:bodyPr wrap="square" lIns="0" rIns="0" tIns="0" bIns="0">
            <a:spAutoFit/>
          </a:bodyPr>
          <a:lstStyle/>
          <a:p>
            <a:pPr>
              <a:lnSpc>
                <a:spcPct val="115000"/>
              </a:lnSpc>
              <a:spcAft>
                <a:spcPts val="1100"/>
              </a:spcAft>
            </a:pPr>
            <a:r>
              <a:rPr sz="1350" b="1">
                <a:solidFill>
                  <a:srgbClr val="0F172A"/>
                </a:solidFill>
                <a:latin typeface="Segoe UI"/>
              </a:rPr>
              <a:t>The sandbox is the whole phase.</a:t>
            </a:r>
            <a:r>
              <a:rPr sz="1350">
                <a:solidFill>
                  <a:srgbClr val="475569"/>
                </a:solidFill>
                <a:latin typeface="Segoe UI"/>
              </a:rPr>
              <a:t>  If it slips, everything after #6 slips with it. It is also the one item with no Phase 0 precedent — nothing has ever been executed.</a:t>
            </a:r>
          </a:p>
          <a:p>
            <a:pPr>
              <a:lnSpc>
                <a:spcPct val="115000"/>
              </a:lnSpc>
              <a:spcAft>
                <a:spcPts val="1100"/>
              </a:spcAft>
            </a:pPr>
            <a:r>
              <a:rPr sz="1350" b="1">
                <a:solidFill>
                  <a:srgbClr val="0F172A"/>
                </a:solidFill>
                <a:latin typeface="Segoe UI"/>
              </a:rPr>
              <a:t>Clustering can manufacture demand.</a:t>
            </a:r>
            <a:r>
              <a:rPr sz="1350">
                <a:solidFill>
                  <a:srgbClr val="475569"/>
                </a:solidFill>
                <a:latin typeface="Segoe UI"/>
              </a:rPr>
              <a:t>  Without verified identity, or with a threshold set too low, the gaps board shows trends that nobody asked for. That would discredit the product more thoroughly than shipping nothing.</a:t>
            </a:r>
          </a:p>
          <a:p>
            <a:pPr>
              <a:lnSpc>
                <a:spcPct val="115000"/>
              </a:lnSpc>
              <a:spcAft>
                <a:spcPts val="1100"/>
              </a:spcAft>
            </a:pPr>
            <a:r>
              <a:rPr sz="1350" b="1">
                <a:solidFill>
                  <a:srgbClr val="0F172A"/>
                </a:solidFill>
                <a:latin typeface="Segoe UI"/>
              </a:rPr>
              <a:t>Mass rewards whoever arrives first.</a:t>
            </a:r>
            <a:r>
              <a:rPr sz="1350">
                <a:solidFill>
                  <a:srgbClr val="475569"/>
                </a:solidFill>
                <a:latin typeface="Segoe UI"/>
              </a:rPr>
              <a:t>  Already filed against Phase 4 in docs/deferred-corrections.md: expedited review buys ranking indirectly, because mass accumulates over time. Worth resolving before mass means money.</a:t>
            </a:r>
          </a:p>
          <a:p>
            <a:pPr>
              <a:lnSpc>
                <a:spcPct val="115000"/>
              </a:lnSpc>
              <a:spcAft>
                <a:spcPts val="1100"/>
              </a:spcAft>
            </a:pPr>
            <a:r>
              <a:rPr sz="1350" b="1">
                <a:solidFill>
                  <a:srgbClr val="0F172A"/>
                </a:solidFill>
                <a:latin typeface="Segoe UI"/>
              </a:rPr>
              <a:t>The eval set must grow with the corpus.</a:t>
            </a:r>
            <a:r>
              <a:rPr sz="1350">
                <a:solidFill>
                  <a:srgbClr val="475569"/>
                </a:solidFill>
                <a:latin typeface="Segoe UI"/>
              </a:rPr>
              <a:t>  Also filed. 120 queries against 19 tools is thin already; against 200 it measures almost nothing.</a:t>
            </a:r>
          </a:p>
          <a:p>
            <a:pPr>
              <a:lnSpc>
                <a:spcPct val="115000"/>
              </a:lnSpc>
              <a:spcAft>
                <a:spcPts val="1100"/>
              </a:spcAft>
            </a:pPr>
            <a:r>
              <a:rPr sz="1350" b="1">
                <a:solidFill>
                  <a:srgbClr val="0F172A"/>
                </a:solidFill>
                <a:latin typeface="Segoe UI"/>
              </a:rPr>
              <a:t>Still no users.</a:t>
            </a:r>
            <a:r>
              <a:rPr sz="1350">
                <a:solidFill>
                  <a:srgbClr val="475569"/>
                </a:solidFill>
                <a:latin typeface="Segoe UI"/>
              </a:rPr>
              <a:t>  Phase 1's Done-when begins "a creator publishes a tool" — a person who is not you. Phase 0 ended with working machinery and nobody using it. Phase 1 will too, unless recruiting the first creator is scheduled as work.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77240" y="502920"/>
            <a:ext cx="10607040" cy="274320"/>
          </a:xfrm>
          <a:prstGeom prst="rect">
            <a:avLst/>
          </a:prstGeom>
          <a:noFill/>
        </p:spPr>
        <p:txBody>
          <a:bodyPr wrap="square" lIns="0" rIns="0" tIns="0" bIns="0">
            <a:spAutoFit/>
          </a:bodyPr>
          <a:lstStyle/>
          <a:p>
            <a:pPr algn="l">
              <a:lnSpc>
                <a:spcPct val="100000"/>
              </a:lnSpc>
            </a:pPr>
            <a:r>
              <a:rPr sz="1100" b="1">
                <a:solidFill>
                  <a:srgbClr val="94A3B8"/>
                </a:solidFill>
                <a:latin typeface="Segoe UI"/>
              </a:rPr>
              <a:t>THE GATE</a:t>
            </a:r>
          </a:p>
        </p:txBody>
      </p:sp>
      <p:sp>
        <p:nvSpPr>
          <p:cNvPr id="3" name="TextBox 2"/>
          <p:cNvSpPr txBox="1"/>
          <p:nvPr/>
        </p:nvSpPr>
        <p:spPr>
          <a:xfrm>
            <a:off x="777240" y="841248"/>
            <a:ext cx="10607040" cy="640080"/>
          </a:xfrm>
          <a:prstGeom prst="rect">
            <a:avLst/>
          </a:prstGeom>
          <a:noFill/>
        </p:spPr>
        <p:txBody>
          <a:bodyPr wrap="square" lIns="0" rIns="0" tIns="0" bIns="0">
            <a:spAutoFit/>
          </a:bodyPr>
          <a:lstStyle/>
          <a:p>
            <a:pPr algn="l">
              <a:lnSpc>
                <a:spcPct val="100000"/>
              </a:lnSpc>
            </a:pPr>
            <a:r>
              <a:rPr sz="3100" b="1">
                <a:solidFill>
                  <a:srgbClr val="0F172A"/>
                </a:solidFill>
                <a:latin typeface="Segoe UI"/>
              </a:rPr>
              <a:t>What would prove Phase 1, and what would falsify it</a:t>
            </a:r>
          </a:p>
        </p:txBody>
      </p:sp>
      <p:sp>
        <p:nvSpPr>
          <p:cNvPr id="4" name="Rectangle 3"/>
          <p:cNvSpPr/>
          <p:nvPr/>
        </p:nvSpPr>
        <p:spPr>
          <a:xfrm>
            <a:off x="777240" y="1572768"/>
            <a:ext cx="1005840" cy="41148"/>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777240" y="1783080"/>
          <a:ext cx="10515600" cy="2066543"/>
        </p:xfrm>
        <a:graphic>
          <a:graphicData uri="http://schemas.openxmlformats.org/drawingml/2006/table">
            <a:tbl>
              <a:tblPr firstRow="1" bandRow="1">
                <a:tableStyleId>{5C22544A-7EE6-4342-B048-85BDC9FD1C3A}</a:tableStyleId>
              </a:tblPr>
              <a:tblGrid>
                <a:gridCol w="4572000"/>
                <a:gridCol w="5943600"/>
              </a:tblGrid>
              <a:tr h="295220">
                <a:tc>
                  <a:txBody>
                    <a:bodyPr/>
                    <a:lstStyle/>
                    <a:p>
                      <a:r>
                        <a:rPr sz="1150" b="1">
                          <a:solidFill>
                            <a:srgbClr val="FFFFFF"/>
                          </a:solidFill>
                          <a:latin typeface="Segoe UI"/>
                        </a:rPr>
                        <a:t>Must be true</a:t>
                      </a:r>
                    </a:p>
                  </a:txBody>
                  <a:tcPr>
                    <a:solidFill>
                      <a:srgbClr val="0F172A"/>
                    </a:solidFill>
                  </a:tcPr>
                </a:tc>
                <a:tc>
                  <a:txBody>
                    <a:bodyPr/>
                    <a:lstStyle/>
                    <a:p>
                      <a:r>
                        <a:rPr sz="1150" b="1">
                          <a:solidFill>
                            <a:srgbClr val="FFFFFF"/>
                          </a:solidFill>
                          <a:latin typeface="Segoe UI"/>
                        </a:rPr>
                        <a:t>How it is checked</a:t>
                      </a:r>
                    </a:p>
                  </a:txBody>
                  <a:tcPr>
                    <a:solidFill>
                      <a:srgbClr val="0F172A"/>
                    </a:solidFill>
                  </a:tcPr>
                </a:tc>
              </a:tr>
              <a:tr h="295220">
                <a:tc>
                  <a:txBody>
                    <a:bodyPr/>
                    <a:lstStyle/>
                    <a:p>
                      <a:r>
                        <a:rPr sz="1150">
                          <a:solidFill>
                            <a:srgbClr val="475569"/>
                          </a:solidFill>
                          <a:latin typeface="Segoe UI"/>
                        </a:rPr>
                        <a:t>A creator who is not you publishes a tool</a:t>
                      </a:r>
                    </a:p>
                  </a:txBody>
                  <a:tcPr>
                    <a:solidFill>
                      <a:srgbClr val="FFFFFF"/>
                    </a:solidFill>
                  </a:tcPr>
                </a:tc>
                <a:tc>
                  <a:txBody>
                    <a:bodyPr/>
                    <a:lstStyle/>
                    <a:p>
                      <a:r>
                        <a:rPr sz="1150">
                          <a:solidFill>
                            <a:srgbClr val="475569"/>
                          </a:solidFill>
                          <a:latin typeface="Segoe UI"/>
                        </a:rPr>
                        <a:t>the submission passes the review gate and appears in the registry</a:t>
                      </a:r>
                    </a:p>
                  </a:txBody>
                  <a:tcPr>
                    <a:solidFill>
                      <a:srgbClr val="FFFFFF"/>
                    </a:solidFill>
                  </a:tcPr>
                </a:tc>
              </a:tr>
              <a:tr h="295220">
                <a:tc>
                  <a:txBody>
                    <a:bodyPr/>
                    <a:lstStyle/>
                    <a:p>
                      <a:r>
                        <a:rPr sz="1150">
                          <a:solidFill>
                            <a:srgbClr val="475569"/>
                          </a:solidFill>
                          <a:latin typeface="Segoe UI"/>
                        </a:rPr>
                        <a:t>An agent finds it and calls it</a:t>
                      </a:r>
                    </a:p>
                  </a:txBody>
                  <a:tcPr>
                    <a:solidFill>
                      <a:srgbClr val="F8FAFC"/>
                    </a:solidFill>
                  </a:tcPr>
                </a:tc>
                <a:tc>
                  <a:txBody>
                    <a:bodyPr/>
                    <a:lstStyle/>
                    <a:p>
                      <a:r>
                        <a:rPr sz="1150">
                          <a:solidFill>
                            <a:srgbClr val="475569"/>
                          </a:solidFill>
                          <a:latin typeface="Segoe UI"/>
                        </a:rPr>
                        <a:t>a call event exists with a verified caller id and a real outcome</a:t>
                      </a:r>
                    </a:p>
                  </a:txBody>
                  <a:tcPr>
                    <a:solidFill>
                      <a:srgbClr val="F8FAFC"/>
                    </a:solidFill>
                  </a:tcPr>
                </a:tc>
              </a:tr>
              <a:tr h="295220">
                <a:tc>
                  <a:txBody>
                    <a:bodyPr/>
                    <a:lstStyle/>
                    <a:p>
                      <a:r>
                        <a:rPr sz="1150">
                          <a:solidFill>
                            <a:srgbClr val="475569"/>
                          </a:solidFill>
                          <a:latin typeface="Segoe UI"/>
                        </a:rPr>
                        <a:t>Untrusted code cannot reach anything</a:t>
                      </a:r>
                    </a:p>
                  </a:txBody>
                  <a:tcPr>
                    <a:solidFill>
                      <a:srgbClr val="FFFFFF"/>
                    </a:solidFill>
                  </a:tcPr>
                </a:tc>
                <a:tc>
                  <a:txBody>
                    <a:bodyPr/>
                    <a:lstStyle/>
                    <a:p>
                      <a:r>
                        <a:rPr sz="1150">
                          <a:solidFill>
                            <a:srgbClr val="475569"/>
                          </a:solidFill>
                          <a:latin typeface="Segoe UI"/>
                        </a:rPr>
                        <a:t>escape tests pass: no network, no IAM, no disk</a:t>
                      </a:r>
                    </a:p>
                  </a:txBody>
                  <a:tcPr>
                    <a:solidFill>
                      <a:srgbClr val="FFFFFF"/>
                    </a:solidFill>
                  </a:tcPr>
                </a:tc>
              </a:tr>
              <a:tr h="295220">
                <a:tc>
                  <a:txBody>
                    <a:bodyPr/>
                    <a:lstStyle/>
                    <a:p>
                      <a:r>
                        <a:rPr sz="1150">
                          <a:solidFill>
                            <a:srgbClr val="475569"/>
                          </a:solidFill>
                          <a:latin typeface="Segoe UI"/>
                        </a:rPr>
                        <a:t>Repeated gaps surface on their own</a:t>
                      </a:r>
                    </a:p>
                  </a:txBody>
                  <a:tcPr>
                    <a:solidFill>
                      <a:srgbClr val="F8FAFC"/>
                    </a:solidFill>
                  </a:tcPr>
                </a:tc>
                <a:tc>
                  <a:txBody>
                    <a:bodyPr/>
                    <a:lstStyle/>
                    <a:p>
                      <a:r>
                        <a:rPr sz="1150">
                          <a:solidFill>
                            <a:srgbClr val="475569"/>
                          </a:solidFill>
                          <a:latin typeface="Segoe UI"/>
                        </a:rPr>
                        <a:t>a cluster crosses the distinct-caller threshold with no manual step</a:t>
                      </a:r>
                    </a:p>
                  </a:txBody>
                  <a:tcPr>
                    <a:solidFill>
                      <a:srgbClr val="F8FAFC"/>
                    </a:solidFill>
                  </a:tcPr>
                </a:tc>
              </a:tr>
              <a:tr h="295220">
                <a:tc>
                  <a:txBody>
                    <a:bodyPr/>
                    <a:lstStyle/>
                    <a:p>
                      <a:r>
                        <a:rPr sz="1150">
                          <a:solidFill>
                            <a:srgbClr val="475569"/>
                          </a:solidFill>
                          <a:latin typeface="Segoe UI"/>
                        </a:rPr>
                        <a:t>Mass is recomputable</a:t>
                      </a:r>
                    </a:p>
                  </a:txBody>
                  <a:tcPr>
                    <a:solidFill>
                      <a:srgbClr val="FFFFFF"/>
                    </a:solidFill>
                  </a:tcPr>
                </a:tc>
                <a:tc>
                  <a:txBody>
                    <a:bodyPr/>
                    <a:lstStyle/>
                    <a:p>
                      <a:r>
                        <a:rPr sz="1150">
                          <a:solidFill>
                            <a:srgbClr val="475569"/>
                          </a:solidFill>
                          <a:latin typeface="Segoe UI"/>
                        </a:rPr>
                        <a:t>scores rebuilt from the event log alone match the stored ones</a:t>
                      </a:r>
                    </a:p>
                  </a:txBody>
                  <a:tcPr>
                    <a:solidFill>
                      <a:srgbClr val="FFFFFF"/>
                    </a:solidFill>
                  </a:tcPr>
                </a:tc>
              </a:tr>
              <a:tr h="295223">
                <a:tc>
                  <a:txBody>
                    <a:bodyPr/>
                    <a:lstStyle/>
                    <a:p>
                      <a:r>
                        <a:rPr sz="1150">
                          <a:solidFill>
                            <a:srgbClr val="475569"/>
                          </a:solidFill>
                          <a:latin typeface="Segoe UI"/>
                        </a:rPr>
                        <a:t>False-gap rate stays bounded</a:t>
                      </a:r>
                    </a:p>
                  </a:txBody>
                  <a:tcPr>
                    <a:solidFill>
                      <a:srgbClr val="F8FAFC"/>
                    </a:solidFill>
                  </a:tcPr>
                </a:tc>
                <a:tc>
                  <a:txBody>
                    <a:bodyPr/>
                    <a:lstStyle/>
                    <a:p>
                      <a:r>
                        <a:rPr sz="1150">
                          <a:solidFill>
                            <a:srgbClr val="475569"/>
                          </a:solidFill>
                          <a:latin typeface="Segoe UI"/>
                        </a:rPr>
                        <a:t>re-run both eval sets; the Phase 0 ceiling still holds</a:t>
                      </a:r>
                    </a:p>
                  </a:txBody>
                  <a:tcPr>
                    <a:solidFill>
                      <a:srgbClr val="F8FAFC"/>
                    </a:solidFill>
                  </a:tcPr>
                </a:tc>
              </a:tr>
            </a:tbl>
          </a:graphicData>
        </a:graphic>
      </p:graphicFrame>
      <p:sp>
        <p:nvSpPr>
          <p:cNvPr id="6" name="Rounded Rectangle 5"/>
          <p:cNvSpPr/>
          <p:nvPr/>
        </p:nvSpPr>
        <p:spPr>
          <a:xfrm>
            <a:off x="777240" y="4160520"/>
            <a:ext cx="10515600" cy="1097280"/>
          </a:xfrm>
          <a:prstGeom prst="roundRect">
            <a:avLst/>
          </a:prstGeom>
          <a:solidFill>
            <a:srgbClr val="FEF2F2"/>
          </a:solidFill>
          <a:ln w="15875">
            <a:solidFill>
              <a:srgbClr val="DD344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4343400"/>
            <a:ext cx="9966960" cy="822959"/>
          </a:xfrm>
          <a:prstGeom prst="rect">
            <a:avLst/>
          </a:prstGeom>
          <a:noFill/>
        </p:spPr>
        <p:txBody>
          <a:bodyPr wrap="square" lIns="0" rIns="0" tIns="0" bIns="0">
            <a:spAutoFit/>
          </a:bodyPr>
          <a:lstStyle/>
          <a:p>
            <a:pPr algn="l">
              <a:lnSpc>
                <a:spcPct val="115000"/>
              </a:lnSpc>
            </a:pPr>
            <a:r>
              <a:rPr sz="1350" b="1">
                <a:solidFill>
                  <a:srgbClr val="991B1B"/>
                </a:solidFill>
                <a:latin typeface="Segoe UI"/>
              </a:rPr>
              <a:t>Add the false-gap ceiling to this gate explicitly. Phase 0's gate passed while a third of answerable queries were being logged as unmet needs, because it never asked that question. Do not repeat a test with a hole the size of the product's core claim.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280160"/>
            <a:ext cx="10058400" cy="320040"/>
          </a:xfrm>
          <a:prstGeom prst="rect">
            <a:avLst/>
          </a:prstGeom>
          <a:noFill/>
        </p:spPr>
        <p:txBody>
          <a:bodyPr wrap="square" lIns="0" rIns="0" tIns="0" bIns="0">
            <a:spAutoFit/>
          </a:bodyPr>
          <a:lstStyle/>
          <a:p>
            <a:pPr algn="l">
              <a:lnSpc>
                <a:spcPct val="100000"/>
              </a:lnSpc>
            </a:pPr>
            <a:r>
              <a:rPr sz="1300" b="1">
                <a:solidFill>
                  <a:srgbClr val="ED7100"/>
                </a:solidFill>
                <a:latin typeface="Segoe UI"/>
              </a:rPr>
              <a:t>START HERE</a:t>
            </a:r>
          </a:p>
        </p:txBody>
      </p:sp>
      <p:sp>
        <p:nvSpPr>
          <p:cNvPr id="4" name="TextBox 3"/>
          <p:cNvSpPr txBox="1"/>
          <p:nvPr/>
        </p:nvSpPr>
        <p:spPr>
          <a:xfrm>
            <a:off x="1005840" y="1691640"/>
            <a:ext cx="10241280" cy="731520"/>
          </a:xfrm>
          <a:prstGeom prst="rect">
            <a:avLst/>
          </a:prstGeom>
          <a:noFill/>
        </p:spPr>
        <p:txBody>
          <a:bodyPr wrap="square" lIns="0" rIns="0" tIns="0" bIns="0">
            <a:spAutoFit/>
          </a:bodyPr>
          <a:lstStyle/>
          <a:p>
            <a:pPr algn="l">
              <a:lnSpc>
                <a:spcPct val="100000"/>
              </a:lnSpc>
            </a:pPr>
            <a:r>
              <a:rPr sz="3800" b="1">
                <a:solidFill>
                  <a:srgbClr val="FFFFFF"/>
                </a:solidFill>
                <a:latin typeface="Segoe UI"/>
              </a:rPr>
              <a:t>The first five moves</a:t>
            </a:r>
          </a:p>
        </p:txBody>
      </p:sp>
      <p:sp>
        <p:nvSpPr>
          <p:cNvPr id="5" name="Oval 4"/>
          <p:cNvSpPr/>
          <p:nvPr/>
        </p:nvSpPr>
        <p:spPr>
          <a:xfrm>
            <a:off x="1005840" y="2852928"/>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1</a:t>
            </a:r>
          </a:p>
        </p:txBody>
      </p:sp>
      <p:sp>
        <p:nvSpPr>
          <p:cNvPr id="6" name="TextBox 5"/>
          <p:cNvSpPr txBox="1"/>
          <p:nvPr/>
        </p:nvSpPr>
        <p:spPr>
          <a:xfrm>
            <a:off x="1536192" y="2898648"/>
            <a:ext cx="9692640" cy="365760"/>
          </a:xfrm>
          <a:prstGeom prst="rect">
            <a:avLst/>
          </a:prstGeom>
          <a:noFill/>
        </p:spPr>
        <p:txBody>
          <a:bodyPr wrap="square" lIns="0" rIns="0" tIns="0" bIns="0">
            <a:spAutoFit/>
          </a:bodyPr>
          <a:lstStyle/>
          <a:p>
            <a:pPr algn="l">
              <a:lnSpc>
                <a:spcPct val="100000"/>
              </a:lnSpc>
            </a:pPr>
            <a:r>
              <a:rPr sz="1500" b="0">
                <a:solidFill>
                  <a:srgbClr val="FFFFFF"/>
                </a:solidFill>
                <a:latin typeface="Segoe UI"/>
              </a:rPr>
              <a:t>Decide the sandbox runtime — Fargate or Lambda in a VPC — on cost, before writing it</a:t>
            </a:r>
          </a:p>
        </p:txBody>
      </p:sp>
      <p:sp>
        <p:nvSpPr>
          <p:cNvPr id="7" name="Oval 6"/>
          <p:cNvSpPr/>
          <p:nvPr/>
        </p:nvSpPr>
        <p:spPr>
          <a:xfrm>
            <a:off x="1005840" y="3419856"/>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2</a:t>
            </a:r>
          </a:p>
        </p:txBody>
      </p:sp>
      <p:sp>
        <p:nvSpPr>
          <p:cNvPr id="8" name="TextBox 7"/>
          <p:cNvSpPr txBox="1"/>
          <p:nvPr/>
        </p:nvSpPr>
        <p:spPr>
          <a:xfrm>
            <a:off x="1536192" y="3465576"/>
            <a:ext cx="9692640" cy="365760"/>
          </a:xfrm>
          <a:prstGeom prst="rect">
            <a:avLst/>
          </a:prstGeom>
          <a:noFill/>
        </p:spPr>
        <p:txBody>
          <a:bodyPr wrap="square" lIns="0" rIns="0" tIns="0" bIns="0">
            <a:spAutoFit/>
          </a:bodyPr>
          <a:lstStyle/>
          <a:p>
            <a:pPr algn="l">
              <a:lnSpc>
                <a:spcPct val="100000"/>
              </a:lnSpc>
            </a:pPr>
            <a:r>
              <a:rPr sz="1500" b="0">
                <a:solidFill>
                  <a:srgbClr val="FFFFFF"/>
                </a:solidFill>
                <a:latin typeface="Segoe UI"/>
              </a:rPr>
              <a:t>Build caller identity first; everything that counts demand depends on it</a:t>
            </a:r>
          </a:p>
        </p:txBody>
      </p:sp>
      <p:sp>
        <p:nvSpPr>
          <p:cNvPr id="9" name="Oval 8"/>
          <p:cNvSpPr/>
          <p:nvPr/>
        </p:nvSpPr>
        <p:spPr>
          <a:xfrm>
            <a:off x="1005840" y="3986783"/>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3</a:t>
            </a:r>
          </a:p>
        </p:txBody>
      </p:sp>
      <p:sp>
        <p:nvSpPr>
          <p:cNvPr id="10" name="TextBox 9"/>
          <p:cNvSpPr txBox="1"/>
          <p:nvPr/>
        </p:nvSpPr>
        <p:spPr>
          <a:xfrm>
            <a:off x="1536192" y="4032503"/>
            <a:ext cx="9692640" cy="365760"/>
          </a:xfrm>
          <a:prstGeom prst="rect">
            <a:avLst/>
          </a:prstGeom>
          <a:noFill/>
        </p:spPr>
        <p:txBody>
          <a:bodyPr wrap="square" lIns="0" rIns="0" tIns="0" bIns="0">
            <a:spAutoFit/>
          </a:bodyPr>
          <a:lstStyle/>
          <a:p>
            <a:pPr algn="l">
              <a:lnSpc>
                <a:spcPct val="100000"/>
              </a:lnSpc>
            </a:pPr>
            <a:r>
              <a:rPr sz="1500" b="0">
                <a:solidFill>
                  <a:srgbClr val="FFFFFF"/>
                </a:solidFill>
                <a:latin typeface="Segoe UI"/>
              </a:rPr>
              <a:t>Write the sandbox escape tests before the sandbox, so they cannot be shaped to pass</a:t>
            </a:r>
          </a:p>
        </p:txBody>
      </p:sp>
      <p:sp>
        <p:nvSpPr>
          <p:cNvPr id="11" name="Oval 10"/>
          <p:cNvSpPr/>
          <p:nvPr/>
        </p:nvSpPr>
        <p:spPr>
          <a:xfrm>
            <a:off x="1005840" y="4553712"/>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4</a:t>
            </a:r>
          </a:p>
        </p:txBody>
      </p:sp>
      <p:sp>
        <p:nvSpPr>
          <p:cNvPr id="12" name="TextBox 11"/>
          <p:cNvSpPr txBox="1"/>
          <p:nvPr/>
        </p:nvSpPr>
        <p:spPr>
          <a:xfrm>
            <a:off x="1536192" y="4599431"/>
            <a:ext cx="9692640" cy="365760"/>
          </a:xfrm>
          <a:prstGeom prst="rect">
            <a:avLst/>
          </a:prstGeom>
          <a:noFill/>
        </p:spPr>
        <p:txBody>
          <a:bodyPr wrap="square" lIns="0" rIns="0" tIns="0" bIns="0">
            <a:spAutoFit/>
          </a:bodyPr>
          <a:lstStyle/>
          <a:p>
            <a:pPr algn="l">
              <a:lnSpc>
                <a:spcPct val="100000"/>
              </a:lnSpc>
            </a:pPr>
            <a:r>
              <a:rPr sz="1500" b="0">
                <a:solidFill>
                  <a:srgbClr val="FFFFFF"/>
                </a:solidFill>
                <a:latin typeface="Segoe UI"/>
              </a:rPr>
              <a:t>Start the gaps board early — it is the only item that gives an outsider a reason to arrive</a:t>
            </a:r>
          </a:p>
        </p:txBody>
      </p:sp>
      <p:sp>
        <p:nvSpPr>
          <p:cNvPr id="13" name="Oval 12"/>
          <p:cNvSpPr/>
          <p:nvPr/>
        </p:nvSpPr>
        <p:spPr>
          <a:xfrm>
            <a:off x="1005840" y="5120640"/>
            <a:ext cx="329184" cy="329184"/>
          </a:xfrm>
          <a:prstGeom prst="ellipse">
            <a:avLst/>
          </a:prstGeom>
          <a:solidFill>
            <a:srgbClr val="ED7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Segoe UI"/>
              </a:rPr>
              <a:t>5</a:t>
            </a:r>
          </a:p>
        </p:txBody>
      </p:sp>
      <p:sp>
        <p:nvSpPr>
          <p:cNvPr id="14" name="TextBox 13"/>
          <p:cNvSpPr txBox="1"/>
          <p:nvPr/>
        </p:nvSpPr>
        <p:spPr>
          <a:xfrm>
            <a:off x="1536192" y="5166359"/>
            <a:ext cx="9692640" cy="365760"/>
          </a:xfrm>
          <a:prstGeom prst="rect">
            <a:avLst/>
          </a:prstGeom>
          <a:noFill/>
        </p:spPr>
        <p:txBody>
          <a:bodyPr wrap="square" lIns="0" rIns="0" tIns="0" bIns="0">
            <a:spAutoFit/>
          </a:bodyPr>
          <a:lstStyle/>
          <a:p>
            <a:pPr algn="l">
              <a:lnSpc>
                <a:spcPct val="100000"/>
              </a:lnSpc>
            </a:pPr>
            <a:r>
              <a:rPr sz="1500" b="0">
                <a:solidFill>
                  <a:srgbClr val="FFFFFF"/>
                </a:solidFill>
                <a:latin typeface="Segoe UI"/>
              </a:rPr>
              <a:t>Find one creator who is not you, and treat that as work in the phase, not a hope at the end</a:t>
            </a:r>
          </a:p>
        </p:txBody>
      </p:sp>
      <p:sp>
        <p:nvSpPr>
          <p:cNvPr id="15" name="TextBox 14"/>
          <p:cNvSpPr txBox="1"/>
          <p:nvPr/>
        </p:nvSpPr>
        <p:spPr>
          <a:xfrm>
            <a:off x="1005840" y="5943600"/>
            <a:ext cx="10515600" cy="274320"/>
          </a:xfrm>
          <a:prstGeom prst="rect">
            <a:avLst/>
          </a:prstGeom>
          <a:noFill/>
        </p:spPr>
        <p:txBody>
          <a:bodyPr wrap="square" lIns="0" rIns="0" tIns="0" bIns="0">
            <a:spAutoFit/>
          </a:bodyPr>
          <a:lstStyle/>
          <a:p>
            <a:pPr algn="l">
              <a:lnSpc>
                <a:spcPct val="100000"/>
              </a:lnSpc>
            </a:pPr>
            <a:r>
              <a:rPr sz="1100" b="0">
                <a:solidFill>
                  <a:srgbClr val="64748B"/>
                </a:solidFill>
                <a:latin typeface="Segoe UI"/>
              </a:rPr>
              <a:t>Architecture: miro.com/app/board/uXjVHpGFCos=  ·  Phase 0 findings: docs/phase-0-findings.md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